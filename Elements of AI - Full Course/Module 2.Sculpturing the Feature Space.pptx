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257" r:id="rId3"/>
    <p:sldId id="780" r:id="rId4"/>
    <p:sldId id="258" r:id="rId5"/>
    <p:sldId id="447" r:id="rId6"/>
    <p:sldId id="817" r:id="rId7"/>
    <p:sldId id="769" r:id="rId8"/>
    <p:sldId id="788" r:id="rId9"/>
    <p:sldId id="791" r:id="rId10"/>
    <p:sldId id="801" r:id="rId11"/>
    <p:sldId id="789" r:id="rId12"/>
    <p:sldId id="748" r:id="rId13"/>
    <p:sldId id="792" r:id="rId14"/>
    <p:sldId id="821" r:id="rId15"/>
    <p:sldId id="820" r:id="rId16"/>
    <p:sldId id="832" r:id="rId17"/>
    <p:sldId id="761" r:id="rId18"/>
    <p:sldId id="806" r:id="rId19"/>
    <p:sldId id="807" r:id="rId20"/>
    <p:sldId id="819" r:id="rId21"/>
    <p:sldId id="812" r:id="rId22"/>
    <p:sldId id="786" r:id="rId23"/>
    <p:sldId id="808" r:id="rId24"/>
    <p:sldId id="796" r:id="rId25"/>
    <p:sldId id="813" r:id="rId26"/>
    <p:sldId id="823" r:id="rId27"/>
    <p:sldId id="826" r:id="rId28"/>
    <p:sldId id="828" r:id="rId29"/>
    <p:sldId id="815" r:id="rId30"/>
    <p:sldId id="830" r:id="rId31"/>
    <p:sldId id="824" r:id="rId32"/>
    <p:sldId id="797" r:id="rId3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DECF"/>
    <a:srgbClr val="F8DBDB"/>
    <a:srgbClr val="264444"/>
    <a:srgbClr val="DAC1AB"/>
    <a:srgbClr val="694523"/>
    <a:srgbClr val="CC0000"/>
    <a:srgbClr val="A5D7B4"/>
    <a:srgbClr val="BDDCE1"/>
    <a:srgbClr val="F9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97"/>
    <p:restoredTop sz="96280"/>
  </p:normalViewPr>
  <p:slideViewPr>
    <p:cSldViewPr snapToGrid="0">
      <p:cViewPr varScale="1">
        <p:scale>
          <a:sx n="170" d="100"/>
          <a:sy n="170" d="100"/>
        </p:scale>
        <p:origin x="208" y="32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l Kováč" userId="c866dcdddd639799" providerId="LiveId" clId="{6EAB46B2-D66C-59B2-ACD4-E17369A2435F}"/>
    <pc:docChg chg="undo redo custSel addSld delSld modSld sldOrd">
      <pc:chgData name="Michal Kováč" userId="c866dcdddd639799" providerId="LiveId" clId="{6EAB46B2-D66C-59B2-ACD4-E17369A2435F}" dt="2026-02-24T20:47:21.686" v="15823" actId="2696"/>
      <pc:docMkLst>
        <pc:docMk/>
      </pc:docMkLst>
      <pc:sldChg chg="del">
        <pc:chgData name="Michal Kováč" userId="c866dcdddd639799" providerId="LiveId" clId="{6EAB46B2-D66C-59B2-ACD4-E17369A2435F}" dt="2026-02-24T20:47:21.686" v="15823" actId="2696"/>
        <pc:sldMkLst>
          <pc:docMk/>
          <pc:sldMk cId="2060952437" sldId="829"/>
        </pc:sldMkLst>
      </pc:sldChg>
      <pc:sldChg chg="delSp add del mod">
        <pc:chgData name="Michal Kováč" userId="c866dcdddd639799" providerId="LiveId" clId="{6EAB46B2-D66C-59B2-ACD4-E17369A2435F}" dt="2026-02-24T20:46:10.437" v="15822" actId="2696"/>
        <pc:sldMkLst>
          <pc:docMk/>
          <pc:sldMk cId="3780354230" sldId="83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21834168809609061"/>
          <c:y val="0.11626821153856717"/>
          <c:w val="0.55298208066143684"/>
          <c:h val="0.82947328974343482"/>
        </c:manualLayout>
      </c:layout>
      <c:doughnutChart>
        <c:varyColors val="1"/>
        <c:ser>
          <c:idx val="0"/>
          <c:order val="0"/>
          <c:tx>
            <c:strRef>
              <c:f>Sheet1!$B$1</c:f>
              <c:strCache>
                <c:ptCount val="1"/>
                <c:pt idx="0">
                  <c:v>Sales</c:v>
                </c:pt>
              </c:strCache>
            </c:strRef>
          </c:tx>
          <c:spPr>
            <a:ln>
              <a:noFill/>
            </a:ln>
            <a:effectLst>
              <a:outerShdw blurRad="50800" dist="38100" dir="2700000" algn="tl" rotWithShape="0">
                <a:prstClr val="black">
                  <a:alpha val="40000"/>
                </a:prstClr>
              </a:outerShdw>
            </a:effectLst>
          </c:spPr>
          <c:dPt>
            <c:idx val="0"/>
            <c:bubble3D val="0"/>
            <c:spPr>
              <a:gradFill rotWithShape="1">
                <a:gsLst>
                  <a:gs pos="0">
                    <a:schemeClr val="accent1">
                      <a:shade val="58000"/>
                      <a:lumMod val="110000"/>
                      <a:satMod val="105000"/>
                      <a:tint val="67000"/>
                    </a:schemeClr>
                  </a:gs>
                  <a:gs pos="50000">
                    <a:schemeClr val="accent1">
                      <a:shade val="58000"/>
                      <a:lumMod val="105000"/>
                      <a:satMod val="103000"/>
                      <a:tint val="73000"/>
                    </a:schemeClr>
                  </a:gs>
                  <a:gs pos="100000">
                    <a:schemeClr val="accent1">
                      <a:shade val="58000"/>
                      <a:lumMod val="105000"/>
                      <a:satMod val="109000"/>
                      <a:tint val="81000"/>
                    </a:schemeClr>
                  </a:gs>
                </a:gsLst>
                <a:lin ang="5400000" scaled="0"/>
              </a:gradFill>
              <a:ln w="9525" cap="flat" cmpd="sng" algn="ctr">
                <a:noFill/>
                <a:round/>
              </a:ln>
              <a:effectLst>
                <a:outerShdw blurRad="50800" dist="38100" dir="2700000" algn="tl" rotWithShape="0">
                  <a:prstClr val="black">
                    <a:alpha val="40000"/>
                  </a:prstClr>
                </a:outerShdw>
              </a:effectLst>
            </c:spPr>
            <c:extLst>
              <c:ext xmlns:c16="http://schemas.microsoft.com/office/drawing/2014/chart" uri="{C3380CC4-5D6E-409C-BE32-E72D297353CC}">
                <c16:uniqueId val="{00000001-1C03-AD48-A6D8-FF6060607F1D}"/>
              </c:ext>
            </c:extLst>
          </c:dPt>
          <c:dPt>
            <c:idx val="1"/>
            <c:bubble3D val="0"/>
            <c:spPr>
              <a:gradFill rotWithShape="1">
                <a:gsLst>
                  <a:gs pos="0">
                    <a:schemeClr val="accent1">
                      <a:shade val="86000"/>
                      <a:lumMod val="110000"/>
                      <a:satMod val="105000"/>
                      <a:tint val="67000"/>
                    </a:schemeClr>
                  </a:gs>
                  <a:gs pos="50000">
                    <a:schemeClr val="accent1">
                      <a:shade val="86000"/>
                      <a:lumMod val="105000"/>
                      <a:satMod val="103000"/>
                      <a:tint val="73000"/>
                    </a:schemeClr>
                  </a:gs>
                  <a:gs pos="100000">
                    <a:schemeClr val="accent1">
                      <a:shade val="86000"/>
                      <a:lumMod val="105000"/>
                      <a:satMod val="109000"/>
                      <a:tint val="81000"/>
                    </a:schemeClr>
                  </a:gs>
                </a:gsLst>
                <a:lin ang="5400000" scaled="0"/>
              </a:gradFill>
              <a:ln w="9525" cap="flat" cmpd="sng" algn="ctr">
                <a:noFill/>
                <a:round/>
              </a:ln>
              <a:effectLst>
                <a:outerShdw blurRad="50800" dist="38100" dir="2700000" algn="tl" rotWithShape="0">
                  <a:prstClr val="black">
                    <a:alpha val="40000"/>
                  </a:prstClr>
                </a:outerShdw>
              </a:effectLst>
            </c:spPr>
            <c:extLst>
              <c:ext xmlns:c16="http://schemas.microsoft.com/office/drawing/2014/chart" uri="{C3380CC4-5D6E-409C-BE32-E72D297353CC}">
                <c16:uniqueId val="{00000003-1C03-AD48-A6D8-FF6060607F1D}"/>
              </c:ext>
            </c:extLst>
          </c:dPt>
          <c:dPt>
            <c:idx val="2"/>
            <c:bubble3D val="0"/>
            <c:spPr>
              <a:gradFill rotWithShape="1">
                <a:gsLst>
                  <a:gs pos="0">
                    <a:schemeClr val="accent1">
                      <a:tint val="86000"/>
                      <a:lumMod val="110000"/>
                      <a:satMod val="105000"/>
                      <a:tint val="67000"/>
                    </a:schemeClr>
                  </a:gs>
                  <a:gs pos="50000">
                    <a:schemeClr val="accent1">
                      <a:tint val="86000"/>
                      <a:lumMod val="105000"/>
                      <a:satMod val="103000"/>
                      <a:tint val="73000"/>
                    </a:schemeClr>
                  </a:gs>
                  <a:gs pos="100000">
                    <a:schemeClr val="accent1">
                      <a:tint val="86000"/>
                      <a:lumMod val="105000"/>
                      <a:satMod val="109000"/>
                      <a:tint val="81000"/>
                    </a:schemeClr>
                  </a:gs>
                </a:gsLst>
                <a:lin ang="5400000" scaled="0"/>
              </a:gradFill>
              <a:ln w="9525" cap="flat" cmpd="sng" algn="ctr">
                <a:noFill/>
                <a:round/>
              </a:ln>
              <a:effectLst>
                <a:outerShdw blurRad="50800" dist="38100" dir="2700000" algn="tl" rotWithShape="0">
                  <a:prstClr val="black">
                    <a:alpha val="40000"/>
                  </a:prstClr>
                </a:outerShdw>
              </a:effectLst>
            </c:spPr>
            <c:extLst>
              <c:ext xmlns:c16="http://schemas.microsoft.com/office/drawing/2014/chart" uri="{C3380CC4-5D6E-409C-BE32-E72D297353CC}">
                <c16:uniqueId val="{00000005-1C03-AD48-A6D8-FF6060607F1D}"/>
              </c:ext>
            </c:extLst>
          </c:dPt>
          <c:dPt>
            <c:idx val="3"/>
            <c:bubble3D val="0"/>
            <c:spPr>
              <a:gradFill rotWithShape="1">
                <a:gsLst>
                  <a:gs pos="0">
                    <a:schemeClr val="accent1">
                      <a:tint val="58000"/>
                      <a:lumMod val="110000"/>
                      <a:satMod val="105000"/>
                      <a:tint val="67000"/>
                    </a:schemeClr>
                  </a:gs>
                  <a:gs pos="50000">
                    <a:schemeClr val="accent1">
                      <a:tint val="58000"/>
                      <a:lumMod val="105000"/>
                      <a:satMod val="103000"/>
                      <a:tint val="73000"/>
                    </a:schemeClr>
                  </a:gs>
                  <a:gs pos="100000">
                    <a:schemeClr val="accent1">
                      <a:tint val="58000"/>
                      <a:lumMod val="105000"/>
                      <a:satMod val="109000"/>
                      <a:tint val="81000"/>
                    </a:schemeClr>
                  </a:gs>
                </a:gsLst>
                <a:lin ang="5400000" scaled="0"/>
              </a:gradFill>
              <a:ln w="9525" cap="flat" cmpd="sng" algn="ctr">
                <a:noFill/>
                <a:round/>
              </a:ln>
              <a:effectLst>
                <a:outerShdw blurRad="50800" dist="38100" dir="2700000" algn="tl" rotWithShape="0">
                  <a:prstClr val="black">
                    <a:alpha val="40000"/>
                  </a:prstClr>
                </a:outerShdw>
              </a:effectLst>
            </c:spPr>
            <c:extLst>
              <c:ext xmlns:c16="http://schemas.microsoft.com/office/drawing/2014/chart" uri="{C3380CC4-5D6E-409C-BE32-E72D297353CC}">
                <c16:uniqueId val="{00000007-1C03-AD48-A6D8-FF6060607F1D}"/>
              </c:ext>
            </c:extLst>
          </c:dPt>
          <c:cat>
            <c:strRef>
              <c:f>Sheet1!$A$2:$A$5</c:f>
              <c:strCache>
                <c:ptCount val="4"/>
                <c:pt idx="0">
                  <c:v>Parametric</c:v>
                </c:pt>
                <c:pt idx="1">
                  <c:v>Semi-parametric</c:v>
                </c:pt>
                <c:pt idx="2">
                  <c:v>Non-parametric</c:v>
                </c:pt>
                <c:pt idx="3">
                  <c:v>Hybrid</c:v>
                </c:pt>
              </c:strCache>
            </c:strRef>
          </c:cat>
          <c:val>
            <c:numRef>
              <c:f>Sheet1!$B$2:$B$5</c:f>
              <c:numCache>
                <c:formatCode>General</c:formatCode>
                <c:ptCount val="4"/>
                <c:pt idx="0">
                  <c:v>12</c:v>
                </c:pt>
                <c:pt idx="1">
                  <c:v>15</c:v>
                </c:pt>
                <c:pt idx="2">
                  <c:v>25</c:v>
                </c:pt>
                <c:pt idx="3">
                  <c:v>12</c:v>
                </c:pt>
              </c:numCache>
            </c:numRef>
          </c:val>
          <c:extLst>
            <c:ext xmlns:c16="http://schemas.microsoft.com/office/drawing/2014/chart" uri="{C3380CC4-5D6E-409C-BE32-E72D297353CC}">
              <c16:uniqueId val="{00000000-CD0C-5442-A6CB-85D7735F4E3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GB"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AB7DE85-DBBB-4D9A-93E3-C41E8EEC4DE1}" type="datetimeFigureOut">
              <a:rPr lang="en-GB" smtClean="0"/>
              <a:t>24/02/2026</a:t>
            </a:fld>
            <a:endParaRPr lang="en-GB"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GB"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GB"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5E3AF3D5-DA21-4255-BB21-BCCC411D83CA}" type="slidenum">
              <a:rPr lang="en-GB" smtClean="0"/>
              <a:t>‹#›</a:t>
            </a:fld>
            <a:endParaRPr lang="en-GB" dirty="0"/>
          </a:p>
        </p:txBody>
      </p:sp>
    </p:spTree>
    <p:extLst>
      <p:ext uri="{BB962C8B-B14F-4D97-AF65-F5344CB8AC3E}">
        <p14:creationId xmlns:p14="http://schemas.microsoft.com/office/powerpoint/2010/main" val="2825875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4888-91D8-F43E-CBEE-931F27B258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054DA-95FC-CE16-39C3-143E6522BC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E557A31-9462-7F72-F1A8-50D3DD510F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9BDB82-BFE0-BAC6-94F7-CA8174B1709A}"/>
              </a:ext>
            </a:extLst>
          </p:cNvPr>
          <p:cNvSpPr>
            <a:spLocks noGrp="1"/>
          </p:cNvSpPr>
          <p:nvPr>
            <p:ph type="sldNum" sz="quarter" idx="5"/>
          </p:nvPr>
        </p:nvSpPr>
        <p:spPr/>
        <p:txBody>
          <a:bodyPr/>
          <a:lstStyle/>
          <a:p>
            <a:fld id="{5E3AF3D5-DA21-4255-BB21-BCCC411D83CA}" type="slidenum">
              <a:rPr lang="en-GB" smtClean="0"/>
              <a:t>8</a:t>
            </a:fld>
            <a:endParaRPr lang="en-GB" dirty="0"/>
          </a:p>
        </p:txBody>
      </p:sp>
    </p:spTree>
    <p:extLst>
      <p:ext uri="{BB962C8B-B14F-4D97-AF65-F5344CB8AC3E}">
        <p14:creationId xmlns:p14="http://schemas.microsoft.com/office/powerpoint/2010/main" val="1413862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30715-1161-EB55-2AFD-1D90F6B9A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EF642-B106-4531-094B-C09D928CAF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7B9AA3-E58B-FE49-025B-7D99B5439F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F1BFE-332F-7F45-B04E-D0EBCE74E4E1}"/>
              </a:ext>
            </a:extLst>
          </p:cNvPr>
          <p:cNvSpPr>
            <a:spLocks noGrp="1"/>
          </p:cNvSpPr>
          <p:nvPr>
            <p:ph type="sldNum" sz="quarter" idx="5"/>
          </p:nvPr>
        </p:nvSpPr>
        <p:spPr/>
        <p:txBody>
          <a:bodyPr/>
          <a:lstStyle/>
          <a:p>
            <a:fld id="{5E3AF3D5-DA21-4255-BB21-BCCC411D83CA}" type="slidenum">
              <a:rPr lang="en-GB" smtClean="0"/>
              <a:t>10</a:t>
            </a:fld>
            <a:endParaRPr lang="en-GB" dirty="0"/>
          </a:p>
        </p:txBody>
      </p:sp>
    </p:spTree>
    <p:extLst>
      <p:ext uri="{BB962C8B-B14F-4D97-AF65-F5344CB8AC3E}">
        <p14:creationId xmlns:p14="http://schemas.microsoft.com/office/powerpoint/2010/main" val="4165381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D8CE7-B388-AF04-0ED0-295E0951C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420FC-C6D1-6927-9D33-E822BD0BE4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6C1C77-CD57-BCC6-00D6-D15765617E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D8D5A8-4147-24C3-BBD2-130F4F386ED9}"/>
              </a:ext>
            </a:extLst>
          </p:cNvPr>
          <p:cNvSpPr>
            <a:spLocks noGrp="1"/>
          </p:cNvSpPr>
          <p:nvPr>
            <p:ph type="sldNum" sz="quarter" idx="5"/>
          </p:nvPr>
        </p:nvSpPr>
        <p:spPr/>
        <p:txBody>
          <a:bodyPr/>
          <a:lstStyle/>
          <a:p>
            <a:fld id="{5E3AF3D5-DA21-4255-BB21-BCCC411D83CA}" type="slidenum">
              <a:rPr lang="en-GB" smtClean="0"/>
              <a:t>11</a:t>
            </a:fld>
            <a:endParaRPr lang="en-GB" dirty="0"/>
          </a:p>
        </p:txBody>
      </p:sp>
    </p:spTree>
    <p:extLst>
      <p:ext uri="{BB962C8B-B14F-4D97-AF65-F5344CB8AC3E}">
        <p14:creationId xmlns:p14="http://schemas.microsoft.com/office/powerpoint/2010/main" val="42762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6:notes"/>
          <p:cNvSpPr txBox="1">
            <a:spLocks noGrp="1"/>
          </p:cNvSpPr>
          <p:nvPr>
            <p:ph type="body" idx="1"/>
          </p:nvPr>
        </p:nvSpPr>
        <p:spPr>
          <a:xfrm>
            <a:off x="723561" y="5016054"/>
            <a:ext cx="5788491" cy="4104045"/>
          </a:xfrm>
          <a:prstGeom prst="rect">
            <a:avLst/>
          </a:prstGeom>
        </p:spPr>
        <p:txBody>
          <a:bodyPr spcFirstLastPara="1" wrap="square" lIns="96645" tIns="48309" rIns="96645" bIns="48309" anchor="t" anchorCtr="0">
            <a:noAutofit/>
          </a:bodyPr>
          <a:lstStyle/>
          <a:p>
            <a:r>
              <a:rPr lang="en-US"/>
              <a:t>Explore https://cran.r-project.org/web/packages/tidyverse/index.html</a:t>
            </a:r>
          </a:p>
          <a:p>
            <a:endParaRPr lang="en-US"/>
          </a:p>
          <a:p>
            <a:endParaRPr lang="en-US"/>
          </a:p>
        </p:txBody>
      </p:sp>
      <p:sp>
        <p:nvSpPr>
          <p:cNvPr id="169" name="Google Shape;169;p6:notes"/>
          <p:cNvSpPr>
            <a:spLocks noGrp="1" noRot="1" noChangeAspect="1"/>
          </p:cNvSpPr>
          <p:nvPr>
            <p:ph type="sldImg" idx="2"/>
          </p:nvPr>
        </p:nvSpPr>
        <p:spPr>
          <a:xfrm>
            <a:off x="490538" y="1303338"/>
            <a:ext cx="6253162" cy="35179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163871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AF3D5-DA21-4255-BB21-BCCC411D83CA}" type="slidenum">
              <a:rPr lang="en-GB" smtClean="0"/>
              <a:t>13</a:t>
            </a:fld>
            <a:endParaRPr lang="en-GB" dirty="0"/>
          </a:p>
        </p:txBody>
      </p:sp>
    </p:spTree>
    <p:extLst>
      <p:ext uri="{BB962C8B-B14F-4D97-AF65-F5344CB8AC3E}">
        <p14:creationId xmlns:p14="http://schemas.microsoft.com/office/powerpoint/2010/main" val="3308438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45C71-12F5-A2C0-3214-6F2A7DB88C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CE0E69E-E945-3CC4-CE23-DFC1CC5EAD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844866F-9C61-A257-0C53-52671FCCFA3C}"/>
              </a:ext>
            </a:extLst>
          </p:cNvPr>
          <p:cNvSpPr>
            <a:spLocks noGrp="1"/>
          </p:cNvSpPr>
          <p:nvPr>
            <p:ph type="dt" sz="half" idx="10"/>
          </p:nvPr>
        </p:nvSpPr>
        <p:spPr/>
        <p:txBody>
          <a:bodyPr/>
          <a:lstStyle/>
          <a:p>
            <a:fld id="{0A60A023-88B6-A246-8F29-D5F3313A4DA6}" type="datetime1">
              <a:rPr lang="en-US" smtClean="0"/>
              <a:t>2/24/26</a:t>
            </a:fld>
            <a:endParaRPr lang="en-GB" dirty="0"/>
          </a:p>
        </p:txBody>
      </p:sp>
      <p:sp>
        <p:nvSpPr>
          <p:cNvPr id="5" name="Footer Placeholder 4">
            <a:extLst>
              <a:ext uri="{FF2B5EF4-FFF2-40B4-BE49-F238E27FC236}">
                <a16:creationId xmlns:a16="http://schemas.microsoft.com/office/drawing/2014/main" id="{EC8ED1C8-57D9-0D8E-5628-9B4ABD5BE2E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FBAD6ED-770A-FC76-D21C-D0B96C633D3A}"/>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3390439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F481-1548-7202-D13D-D6C6DB37047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F243873-62E4-6C46-7212-67848CBF36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88BA5D-6A20-66C0-9EF0-6F2F1F1C2BA0}"/>
              </a:ext>
            </a:extLst>
          </p:cNvPr>
          <p:cNvSpPr>
            <a:spLocks noGrp="1"/>
          </p:cNvSpPr>
          <p:nvPr>
            <p:ph type="dt" sz="half" idx="10"/>
          </p:nvPr>
        </p:nvSpPr>
        <p:spPr/>
        <p:txBody>
          <a:bodyPr/>
          <a:lstStyle/>
          <a:p>
            <a:fld id="{6CDBBD38-7CAF-8A4A-8684-06C57E36C3EA}" type="datetime1">
              <a:rPr lang="en-US" smtClean="0"/>
              <a:t>2/24/26</a:t>
            </a:fld>
            <a:endParaRPr lang="en-GB" dirty="0"/>
          </a:p>
        </p:txBody>
      </p:sp>
      <p:sp>
        <p:nvSpPr>
          <p:cNvPr id="5" name="Footer Placeholder 4">
            <a:extLst>
              <a:ext uri="{FF2B5EF4-FFF2-40B4-BE49-F238E27FC236}">
                <a16:creationId xmlns:a16="http://schemas.microsoft.com/office/drawing/2014/main" id="{FEFF814F-1BF9-C18A-AD12-8FA8D371890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6A0BEA2-49F0-7B8E-A76E-043B0108D8B6}"/>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2093467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32F9-DC4D-24FA-AB0B-CDE85FC99B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5ED43D0-1A24-9A92-F48E-BA2071CD77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1909E2-8C26-10C0-0047-21A232E1B854}"/>
              </a:ext>
            </a:extLst>
          </p:cNvPr>
          <p:cNvSpPr>
            <a:spLocks noGrp="1"/>
          </p:cNvSpPr>
          <p:nvPr>
            <p:ph type="dt" sz="half" idx="10"/>
          </p:nvPr>
        </p:nvSpPr>
        <p:spPr/>
        <p:txBody>
          <a:bodyPr/>
          <a:lstStyle/>
          <a:p>
            <a:fld id="{4440EC25-7A0B-0C47-8F36-FC6A2543EBED}" type="datetime1">
              <a:rPr lang="en-US" smtClean="0"/>
              <a:t>2/24/26</a:t>
            </a:fld>
            <a:endParaRPr lang="en-GB" dirty="0"/>
          </a:p>
        </p:txBody>
      </p:sp>
      <p:sp>
        <p:nvSpPr>
          <p:cNvPr id="5" name="Footer Placeholder 4">
            <a:extLst>
              <a:ext uri="{FF2B5EF4-FFF2-40B4-BE49-F238E27FC236}">
                <a16:creationId xmlns:a16="http://schemas.microsoft.com/office/drawing/2014/main" id="{08B9EE01-776E-1455-9374-004C20A3719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4F196E3-194C-9108-72D7-76721E9807A6}"/>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1820079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C8C53-5127-88C6-E63F-A802565CA7C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78B8727-7D5E-6BCD-309F-73B15C96C8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7EC75C4-85F6-1B68-AABC-8391CC3B4F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9B5030B-D0C0-7E64-7244-76DB15010FE0}"/>
              </a:ext>
            </a:extLst>
          </p:cNvPr>
          <p:cNvSpPr>
            <a:spLocks noGrp="1"/>
          </p:cNvSpPr>
          <p:nvPr>
            <p:ph type="dt" sz="half" idx="10"/>
          </p:nvPr>
        </p:nvSpPr>
        <p:spPr/>
        <p:txBody>
          <a:bodyPr/>
          <a:lstStyle/>
          <a:p>
            <a:fld id="{0C4AC0EB-8D1B-534B-9300-BD49B806EE87}" type="datetime1">
              <a:rPr lang="en-US" smtClean="0"/>
              <a:t>2/24/26</a:t>
            </a:fld>
            <a:endParaRPr lang="en-GB" dirty="0"/>
          </a:p>
        </p:txBody>
      </p:sp>
      <p:sp>
        <p:nvSpPr>
          <p:cNvPr id="6" name="Footer Placeholder 5">
            <a:extLst>
              <a:ext uri="{FF2B5EF4-FFF2-40B4-BE49-F238E27FC236}">
                <a16:creationId xmlns:a16="http://schemas.microsoft.com/office/drawing/2014/main" id="{09FA19EE-8BA3-F47F-9BB3-33E1DFCD7117}"/>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54A213F-A5C9-27F1-A531-433C0133F8E1}"/>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1167201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A9462-F549-C518-E904-F7E3F59834F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C7BDCA6-A748-1362-0A15-CE0EA5871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A6D7D8-BFF8-F43B-7D3A-4094E1E30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FB69B48-6106-830C-8FD9-03874A913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EEFC3-C3DF-A240-B469-BBB6516BA2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2DB63E1-151E-AA9C-0AB6-4E89ED5F2EA8}"/>
              </a:ext>
            </a:extLst>
          </p:cNvPr>
          <p:cNvSpPr>
            <a:spLocks noGrp="1"/>
          </p:cNvSpPr>
          <p:nvPr>
            <p:ph type="dt" sz="half" idx="10"/>
          </p:nvPr>
        </p:nvSpPr>
        <p:spPr/>
        <p:txBody>
          <a:bodyPr/>
          <a:lstStyle/>
          <a:p>
            <a:fld id="{93F2D5C7-2C28-FC4A-9372-F235EB83E4EB}" type="datetime1">
              <a:rPr lang="en-US" smtClean="0"/>
              <a:t>2/24/26</a:t>
            </a:fld>
            <a:endParaRPr lang="en-GB" dirty="0"/>
          </a:p>
        </p:txBody>
      </p:sp>
      <p:sp>
        <p:nvSpPr>
          <p:cNvPr id="8" name="Footer Placeholder 7">
            <a:extLst>
              <a:ext uri="{FF2B5EF4-FFF2-40B4-BE49-F238E27FC236}">
                <a16:creationId xmlns:a16="http://schemas.microsoft.com/office/drawing/2014/main" id="{6FC8B603-522A-4742-85E0-4AE6F7D3E84A}"/>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2862AAD-E55D-ADCF-7121-49539EC3F96D}"/>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1861924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BBB6-184A-90E3-A305-9139716E09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72208DE-DCFF-072C-4F2F-69776AEA9227}"/>
              </a:ext>
            </a:extLst>
          </p:cNvPr>
          <p:cNvSpPr>
            <a:spLocks noGrp="1"/>
          </p:cNvSpPr>
          <p:nvPr>
            <p:ph type="dt" sz="half" idx="10"/>
          </p:nvPr>
        </p:nvSpPr>
        <p:spPr/>
        <p:txBody>
          <a:bodyPr/>
          <a:lstStyle/>
          <a:p>
            <a:fld id="{01A0C4A9-F4CC-FF46-904C-A13A9A97F1A7}" type="datetime1">
              <a:rPr lang="en-US" smtClean="0"/>
              <a:t>2/24/26</a:t>
            </a:fld>
            <a:endParaRPr lang="en-GB" dirty="0"/>
          </a:p>
        </p:txBody>
      </p:sp>
      <p:sp>
        <p:nvSpPr>
          <p:cNvPr id="4" name="Footer Placeholder 3">
            <a:extLst>
              <a:ext uri="{FF2B5EF4-FFF2-40B4-BE49-F238E27FC236}">
                <a16:creationId xmlns:a16="http://schemas.microsoft.com/office/drawing/2014/main" id="{571E3785-042A-52D4-1748-C9CEB86C704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1A7F60C-0906-0CD7-1837-6B09639B1529}"/>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148355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523CC6-4278-442B-FEFE-52C02B4AA5F6}"/>
              </a:ext>
            </a:extLst>
          </p:cNvPr>
          <p:cNvSpPr>
            <a:spLocks noGrp="1"/>
          </p:cNvSpPr>
          <p:nvPr>
            <p:ph type="dt" sz="half" idx="10"/>
          </p:nvPr>
        </p:nvSpPr>
        <p:spPr/>
        <p:txBody>
          <a:bodyPr/>
          <a:lstStyle/>
          <a:p>
            <a:fld id="{FB278F6A-BA5F-8245-876A-F4FEE280039A}" type="datetime1">
              <a:rPr lang="en-US" smtClean="0"/>
              <a:t>2/24/26</a:t>
            </a:fld>
            <a:endParaRPr lang="en-GB" dirty="0"/>
          </a:p>
        </p:txBody>
      </p:sp>
      <p:sp>
        <p:nvSpPr>
          <p:cNvPr id="3" name="Footer Placeholder 2">
            <a:extLst>
              <a:ext uri="{FF2B5EF4-FFF2-40B4-BE49-F238E27FC236}">
                <a16:creationId xmlns:a16="http://schemas.microsoft.com/office/drawing/2014/main" id="{29C21513-841D-B59B-AF7A-97322D1CCAFF}"/>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F2A9B297-C2A7-08F0-DA09-4E026B5922A5}"/>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1842231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FC67-49DD-C835-2699-1FFAC3FCF5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24BCBF9-0521-0519-2C8A-F19DFA67C5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BDE3323-812B-F34F-065D-07EDD3A9E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08500F-EE0B-ED7B-23B5-8278FE89BDAB}"/>
              </a:ext>
            </a:extLst>
          </p:cNvPr>
          <p:cNvSpPr>
            <a:spLocks noGrp="1"/>
          </p:cNvSpPr>
          <p:nvPr>
            <p:ph type="dt" sz="half" idx="10"/>
          </p:nvPr>
        </p:nvSpPr>
        <p:spPr/>
        <p:txBody>
          <a:bodyPr/>
          <a:lstStyle/>
          <a:p>
            <a:fld id="{1D937AE9-E192-E041-85C0-1B6E17A7BF1D}" type="datetime1">
              <a:rPr lang="en-US" smtClean="0"/>
              <a:t>2/24/26</a:t>
            </a:fld>
            <a:endParaRPr lang="en-GB" dirty="0"/>
          </a:p>
        </p:txBody>
      </p:sp>
      <p:sp>
        <p:nvSpPr>
          <p:cNvPr id="6" name="Footer Placeholder 5">
            <a:extLst>
              <a:ext uri="{FF2B5EF4-FFF2-40B4-BE49-F238E27FC236}">
                <a16:creationId xmlns:a16="http://schemas.microsoft.com/office/drawing/2014/main" id="{E7052CB5-E803-F5DE-FE6A-C6CC16B85F25}"/>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FDAD60B-375B-5B1F-B878-A27B4C03BC08}"/>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3750662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F904-B284-2393-C5C3-755295EC44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98B1409-EE68-1AE8-CBD7-C52C80D42F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91499DA4-49DD-8811-DD41-6DC5BCF64E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11AD59-BE32-DADE-8162-087811921758}"/>
              </a:ext>
            </a:extLst>
          </p:cNvPr>
          <p:cNvSpPr>
            <a:spLocks noGrp="1"/>
          </p:cNvSpPr>
          <p:nvPr>
            <p:ph type="dt" sz="half" idx="10"/>
          </p:nvPr>
        </p:nvSpPr>
        <p:spPr/>
        <p:txBody>
          <a:bodyPr/>
          <a:lstStyle/>
          <a:p>
            <a:fld id="{1DE39DF2-57C4-664F-8B60-49B2B113C7E8}" type="datetime1">
              <a:rPr lang="en-US" smtClean="0"/>
              <a:t>2/24/26</a:t>
            </a:fld>
            <a:endParaRPr lang="en-GB" dirty="0"/>
          </a:p>
        </p:txBody>
      </p:sp>
      <p:sp>
        <p:nvSpPr>
          <p:cNvPr id="6" name="Footer Placeholder 5">
            <a:extLst>
              <a:ext uri="{FF2B5EF4-FFF2-40B4-BE49-F238E27FC236}">
                <a16:creationId xmlns:a16="http://schemas.microsoft.com/office/drawing/2014/main" id="{6BEB4034-4097-2658-7EE3-2BDBC8D416E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74710A-3F2C-0849-A803-2A4BEFC771F5}"/>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733575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C95DE-E68B-E264-2541-2D925787F81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32CD35C-28EF-D376-041B-BA1D865E41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67742D-37C3-4198-FD3B-6F4A50B2A115}"/>
              </a:ext>
            </a:extLst>
          </p:cNvPr>
          <p:cNvSpPr>
            <a:spLocks noGrp="1"/>
          </p:cNvSpPr>
          <p:nvPr>
            <p:ph type="dt" sz="half" idx="10"/>
          </p:nvPr>
        </p:nvSpPr>
        <p:spPr/>
        <p:txBody>
          <a:bodyPr/>
          <a:lstStyle/>
          <a:p>
            <a:fld id="{00A16B79-ACB9-5840-8D71-2674568BF288}" type="datetime1">
              <a:rPr lang="en-US" smtClean="0"/>
              <a:t>2/24/26</a:t>
            </a:fld>
            <a:endParaRPr lang="en-GB" dirty="0"/>
          </a:p>
        </p:txBody>
      </p:sp>
      <p:sp>
        <p:nvSpPr>
          <p:cNvPr id="5" name="Footer Placeholder 4">
            <a:extLst>
              <a:ext uri="{FF2B5EF4-FFF2-40B4-BE49-F238E27FC236}">
                <a16:creationId xmlns:a16="http://schemas.microsoft.com/office/drawing/2014/main" id="{93A59A21-9C70-F932-286A-353977FD1C3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5C939D1-5D23-67A7-306F-F7CDFA281894}"/>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188985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78BB17-5F3D-11E8-DB26-1D7E102A3A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B259CF8-F255-488C-4849-1763335E9E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AACA9B3-0BF8-B4B9-2AA3-E68045130D13}"/>
              </a:ext>
            </a:extLst>
          </p:cNvPr>
          <p:cNvSpPr>
            <a:spLocks noGrp="1"/>
          </p:cNvSpPr>
          <p:nvPr>
            <p:ph type="dt" sz="half" idx="10"/>
          </p:nvPr>
        </p:nvSpPr>
        <p:spPr/>
        <p:txBody>
          <a:bodyPr/>
          <a:lstStyle/>
          <a:p>
            <a:fld id="{1C6E913C-8C4D-3C45-97D8-B80804D0B66B}" type="datetime1">
              <a:rPr lang="en-US" smtClean="0"/>
              <a:t>2/24/26</a:t>
            </a:fld>
            <a:endParaRPr lang="en-GB" dirty="0"/>
          </a:p>
        </p:txBody>
      </p:sp>
      <p:sp>
        <p:nvSpPr>
          <p:cNvPr id="5" name="Footer Placeholder 4">
            <a:extLst>
              <a:ext uri="{FF2B5EF4-FFF2-40B4-BE49-F238E27FC236}">
                <a16:creationId xmlns:a16="http://schemas.microsoft.com/office/drawing/2014/main" id="{1122F692-D892-06D9-E6EF-E74D7225B5F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476816A-0ED8-1E39-03AA-C59B71389477}"/>
              </a:ext>
            </a:extLst>
          </p:cNvPr>
          <p:cNvSpPr>
            <a:spLocks noGrp="1"/>
          </p:cNvSpPr>
          <p:nvPr>
            <p:ph type="sldNum" sz="quarter" idx="12"/>
          </p:nvPr>
        </p:nvSpPr>
        <p:spPr/>
        <p:txBody>
          <a:bodyPr/>
          <a:lstStyle/>
          <a:p>
            <a:fld id="{78DA67B8-EF86-438E-A4A1-BDB808EF1140}" type="slidenum">
              <a:rPr lang="en-GB" smtClean="0"/>
              <a:t>‹#›</a:t>
            </a:fld>
            <a:endParaRPr lang="en-GB" dirty="0"/>
          </a:p>
        </p:txBody>
      </p:sp>
    </p:spTree>
    <p:extLst>
      <p:ext uri="{BB962C8B-B14F-4D97-AF65-F5344CB8AC3E}">
        <p14:creationId xmlns:p14="http://schemas.microsoft.com/office/powerpoint/2010/main" val="1474444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1B82F2-384C-95A3-21DF-17F4EA70D4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17279AE-EFB4-D574-2533-1199FF744D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2E7CDC-88E8-F4BE-F4D7-3304188EA6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C98DA-211B-A248-8AA2-23CC7AA3EFCF}" type="datetime1">
              <a:rPr lang="en-US" smtClean="0"/>
              <a:t>2/24/26</a:t>
            </a:fld>
            <a:endParaRPr lang="en-GB" dirty="0"/>
          </a:p>
        </p:txBody>
      </p:sp>
      <p:sp>
        <p:nvSpPr>
          <p:cNvPr id="5" name="Footer Placeholder 4">
            <a:extLst>
              <a:ext uri="{FF2B5EF4-FFF2-40B4-BE49-F238E27FC236}">
                <a16:creationId xmlns:a16="http://schemas.microsoft.com/office/drawing/2014/main" id="{A0C73814-A7A0-FE40-73D8-B9768163F9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93FD292E-92ED-76B1-1FF9-90AE51405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DA67B8-EF86-438E-A4A1-BDB808EF1140}" type="slidenum">
              <a:rPr lang="en-GB" smtClean="0"/>
              <a:t>‹#›</a:t>
            </a:fld>
            <a:endParaRPr lang="en-GB" dirty="0"/>
          </a:p>
        </p:txBody>
      </p:sp>
    </p:spTree>
    <p:extLst>
      <p:ext uri="{BB962C8B-B14F-4D97-AF65-F5344CB8AC3E}">
        <p14:creationId xmlns:p14="http://schemas.microsoft.com/office/powerpoint/2010/main" val="2560214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chart" Target="../charts/chart1.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microsoft.com/office/2007/relationships/hdphoto" Target="../media/hdphoto1.wdp"/><Relationship Id="rId9"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0B18112-2F04-DDFE-CAE0-6EACD55ED8E7}"/>
              </a:ext>
            </a:extLst>
          </p:cNvPr>
          <p:cNvSpPr txBox="1">
            <a:spLocks/>
          </p:cNvSpPr>
          <p:nvPr/>
        </p:nvSpPr>
        <p:spPr>
          <a:xfrm>
            <a:off x="3107051" y="3063998"/>
            <a:ext cx="6206241" cy="554300"/>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noProof="0" dirty="0">
                <a:solidFill>
                  <a:schemeClr val="accent1">
                    <a:lumMod val="75000"/>
                  </a:schemeClr>
                </a:solidFill>
                <a:latin typeface="Aptos" panose="020B0004020202020204" pitchFamily="34" charset="0"/>
              </a:rPr>
              <a:t>Sculpturing the Feature Space</a:t>
            </a:r>
            <a:endParaRPr lang="en-US" sz="2800" noProof="0" dirty="0">
              <a:latin typeface="Aptos" panose="020B0004020202020204" pitchFamily="34" charset="0"/>
            </a:endParaRPr>
          </a:p>
        </p:txBody>
      </p:sp>
      <p:grpSp>
        <p:nvGrpSpPr>
          <p:cNvPr id="5" name="Group 4">
            <a:extLst>
              <a:ext uri="{FF2B5EF4-FFF2-40B4-BE49-F238E27FC236}">
                <a16:creationId xmlns:a16="http://schemas.microsoft.com/office/drawing/2014/main" id="{19257169-F0AF-2273-E7B4-B90146EBCEAC}"/>
              </a:ext>
            </a:extLst>
          </p:cNvPr>
          <p:cNvGrpSpPr/>
          <p:nvPr/>
        </p:nvGrpSpPr>
        <p:grpSpPr>
          <a:xfrm>
            <a:off x="3285014" y="790823"/>
            <a:ext cx="5850319" cy="1814145"/>
            <a:chOff x="3285014" y="790823"/>
            <a:chExt cx="5850319" cy="1814145"/>
          </a:xfrm>
        </p:grpSpPr>
        <p:sp>
          <p:nvSpPr>
            <p:cNvPr id="2" name="Rectangle 1">
              <a:extLst>
                <a:ext uri="{FF2B5EF4-FFF2-40B4-BE49-F238E27FC236}">
                  <a16:creationId xmlns:a16="http://schemas.microsoft.com/office/drawing/2014/main" id="{06EB39B7-ECCD-C9F7-14F7-602487F51EDB}"/>
                </a:ext>
              </a:extLst>
            </p:cNvPr>
            <p:cNvSpPr/>
            <p:nvPr/>
          </p:nvSpPr>
          <p:spPr>
            <a:xfrm>
              <a:off x="5087907" y="790823"/>
              <a:ext cx="1811010" cy="125865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46FF473-86E3-E7C7-0BCE-D1F9C440B358}"/>
                </a:ext>
              </a:extLst>
            </p:cNvPr>
            <p:cNvSpPr txBox="1">
              <a:spLocks/>
            </p:cNvSpPr>
            <p:nvPr/>
          </p:nvSpPr>
          <p:spPr>
            <a:xfrm>
              <a:off x="3285014" y="1041665"/>
              <a:ext cx="5850319" cy="1563303"/>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0000" noProof="0" dirty="0">
                  <a:solidFill>
                    <a:schemeClr val="bg1"/>
                  </a:solidFill>
                  <a:latin typeface="Aptos" panose="020B0004020202020204" pitchFamily="34" charset="0"/>
                </a:rPr>
                <a:t>ESL</a:t>
              </a:r>
              <a:r>
                <a:rPr lang="en-US" sz="10000" baseline="30000" noProof="0" dirty="0">
                  <a:solidFill>
                    <a:schemeClr val="accent1">
                      <a:lumMod val="75000"/>
                    </a:schemeClr>
                  </a:solidFill>
                  <a:latin typeface="Aptos" panose="020B0004020202020204" pitchFamily="34" charset="0"/>
                </a:rPr>
                <a:t>2</a:t>
              </a:r>
            </a:p>
            <a:p>
              <a:pPr algn="ctr"/>
              <a:r>
                <a:rPr lang="en-US" sz="2800" noProof="0" dirty="0">
                  <a:solidFill>
                    <a:schemeClr val="accent1">
                      <a:lumMod val="75000"/>
                    </a:schemeClr>
                  </a:solidFill>
                  <a:latin typeface="Aptos" panose="020B0004020202020204" pitchFamily="34" charset="0"/>
                </a:rPr>
                <a:t> </a:t>
              </a:r>
              <a:endParaRPr lang="en-US" sz="2800" noProof="0" dirty="0">
                <a:latin typeface="Aptos" panose="020B0004020202020204" pitchFamily="34" charset="0"/>
              </a:endParaRPr>
            </a:p>
          </p:txBody>
        </p:sp>
      </p:grpSp>
      <p:sp>
        <p:nvSpPr>
          <p:cNvPr id="7" name="Subtitle 2">
            <a:extLst>
              <a:ext uri="{FF2B5EF4-FFF2-40B4-BE49-F238E27FC236}">
                <a16:creationId xmlns:a16="http://schemas.microsoft.com/office/drawing/2014/main" id="{DC6D4A80-0CEB-229F-87C2-544601575955}"/>
              </a:ext>
            </a:extLst>
          </p:cNvPr>
          <p:cNvSpPr txBox="1">
            <a:spLocks/>
          </p:cNvSpPr>
          <p:nvPr/>
        </p:nvSpPr>
        <p:spPr>
          <a:xfrm>
            <a:off x="3285013" y="3830863"/>
            <a:ext cx="5850319" cy="11007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3600" noProof="0" dirty="0">
                <a:latin typeface="Aptos" panose="020B0004020202020204" pitchFamily="34" charset="0"/>
              </a:rPr>
              <a:t>Michal Kováč</a:t>
            </a:r>
          </a:p>
          <a:p>
            <a:pPr marL="0" indent="0" algn="ctr">
              <a:spcBef>
                <a:spcPts val="0"/>
              </a:spcBef>
              <a:buNone/>
            </a:pPr>
            <a:r>
              <a:rPr lang="en-US" sz="1600" noProof="0" dirty="0">
                <a:solidFill>
                  <a:schemeClr val="bg2">
                    <a:lumMod val="25000"/>
                  </a:schemeClr>
                </a:solidFill>
                <a:latin typeface="Aptos" panose="020B0004020202020204" pitchFamily="34" charset="0"/>
              </a:rPr>
              <a:t>Laboratories Brainworks</a:t>
            </a:r>
          </a:p>
          <a:p>
            <a:pPr marL="0" indent="0" algn="ctr">
              <a:spcBef>
                <a:spcPts val="0"/>
              </a:spcBef>
              <a:buNone/>
            </a:pPr>
            <a:r>
              <a:rPr lang="en-US" sz="1600" noProof="0" dirty="0">
                <a:solidFill>
                  <a:schemeClr val="bg2">
                    <a:lumMod val="25000"/>
                  </a:schemeClr>
                </a:solidFill>
                <a:latin typeface="Aptos" panose="020B0004020202020204" pitchFamily="34" charset="0"/>
              </a:rPr>
              <a:t>Faculty of Informatics and Information Technologies STU</a:t>
            </a:r>
          </a:p>
        </p:txBody>
      </p:sp>
      <p:cxnSp>
        <p:nvCxnSpPr>
          <p:cNvPr id="18" name="Straight Connector 17">
            <a:extLst>
              <a:ext uri="{FF2B5EF4-FFF2-40B4-BE49-F238E27FC236}">
                <a16:creationId xmlns:a16="http://schemas.microsoft.com/office/drawing/2014/main" id="{FD53A26A-818B-77B4-84D6-D0A4BDE52171}"/>
              </a:ext>
            </a:extLst>
          </p:cNvPr>
          <p:cNvCxnSpPr>
            <a:cxnSpLocks/>
          </p:cNvCxnSpPr>
          <p:nvPr/>
        </p:nvCxnSpPr>
        <p:spPr>
          <a:xfrm>
            <a:off x="4746684" y="2908325"/>
            <a:ext cx="2539518" cy="0"/>
          </a:xfrm>
          <a:prstGeom prst="line">
            <a:avLst/>
          </a:prstGeom>
        </p:spPr>
        <p:style>
          <a:lnRef idx="1">
            <a:schemeClr val="dk1"/>
          </a:lnRef>
          <a:fillRef idx="0">
            <a:schemeClr val="dk1"/>
          </a:fillRef>
          <a:effectRef idx="0">
            <a:schemeClr val="dk1"/>
          </a:effectRef>
          <a:fontRef idx="minor">
            <a:schemeClr val="tx1"/>
          </a:fontRef>
        </p:style>
      </p:cxnSp>
      <p:grpSp>
        <p:nvGrpSpPr>
          <p:cNvPr id="13" name="Group 12">
            <a:extLst>
              <a:ext uri="{FF2B5EF4-FFF2-40B4-BE49-F238E27FC236}">
                <a16:creationId xmlns:a16="http://schemas.microsoft.com/office/drawing/2014/main" id="{7DA5F6A0-3085-F705-0856-463654C9815E}"/>
              </a:ext>
            </a:extLst>
          </p:cNvPr>
          <p:cNvGrpSpPr/>
          <p:nvPr/>
        </p:nvGrpSpPr>
        <p:grpSpPr>
          <a:xfrm>
            <a:off x="4647182" y="5029719"/>
            <a:ext cx="2897637" cy="786616"/>
            <a:chOff x="4574942" y="5240804"/>
            <a:chExt cx="2897637" cy="786616"/>
          </a:xfrm>
        </p:grpSpPr>
        <p:pic>
          <p:nvPicPr>
            <p:cNvPr id="1026" name="Picture 2">
              <a:extLst>
                <a:ext uri="{FF2B5EF4-FFF2-40B4-BE49-F238E27FC236}">
                  <a16:creationId xmlns:a16="http://schemas.microsoft.com/office/drawing/2014/main" id="{0C435945-16B2-DE88-8F79-7EF8B5E21C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6096000" y="5240804"/>
              <a:ext cx="1376579" cy="78661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close up of a logo&#10;&#10;AI-generated content may be incorrect.">
              <a:extLst>
                <a:ext uri="{FF2B5EF4-FFF2-40B4-BE49-F238E27FC236}">
                  <a16:creationId xmlns:a16="http://schemas.microsoft.com/office/drawing/2014/main" id="{CCC66C01-8135-B89B-F790-887485CE1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4942" y="5452849"/>
              <a:ext cx="1368259" cy="574571"/>
            </a:xfrm>
            <a:prstGeom prst="rect">
              <a:avLst/>
            </a:prstGeom>
          </p:spPr>
        </p:pic>
      </p:grpSp>
      <p:sp>
        <p:nvSpPr>
          <p:cNvPr id="3" name="Title 1">
            <a:extLst>
              <a:ext uri="{FF2B5EF4-FFF2-40B4-BE49-F238E27FC236}">
                <a16:creationId xmlns:a16="http://schemas.microsoft.com/office/drawing/2014/main" id="{FC550100-2AAC-E738-6A74-6004C47BAA4C}"/>
              </a:ext>
            </a:extLst>
          </p:cNvPr>
          <p:cNvSpPr txBox="1">
            <a:spLocks/>
          </p:cNvSpPr>
          <p:nvPr/>
        </p:nvSpPr>
        <p:spPr>
          <a:xfrm>
            <a:off x="3243080" y="2219720"/>
            <a:ext cx="5850319" cy="554300"/>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noProof="0" dirty="0">
                <a:solidFill>
                  <a:schemeClr val="bg2">
                    <a:lumMod val="25000"/>
                  </a:schemeClr>
                </a:solidFill>
                <a:latin typeface="Aptos" panose="020B0004020202020204" pitchFamily="34" charset="0"/>
              </a:rPr>
              <a:t>The Elements of Statistical Learning</a:t>
            </a:r>
          </a:p>
        </p:txBody>
      </p:sp>
    </p:spTree>
    <p:extLst>
      <p:ext uri="{BB962C8B-B14F-4D97-AF65-F5344CB8AC3E}">
        <p14:creationId xmlns:p14="http://schemas.microsoft.com/office/powerpoint/2010/main" val="1750968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blue and white logo&#10;&#10;AI-generated content may be incorrect.">
            <a:extLst>
              <a:ext uri="{FF2B5EF4-FFF2-40B4-BE49-F238E27FC236}">
                <a16:creationId xmlns:a16="http://schemas.microsoft.com/office/drawing/2014/main" id="{2EAE7764-83F6-3D52-A0CB-B8969E3F0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8478" y="552438"/>
            <a:ext cx="1270291" cy="711835"/>
          </a:xfrm>
          <a:prstGeom prst="rect">
            <a:avLst/>
          </a:prstGeom>
        </p:spPr>
      </p:pic>
      <p:graphicFrame>
        <p:nvGraphicFramePr>
          <p:cNvPr id="10" name="Table 9">
            <a:extLst>
              <a:ext uri="{FF2B5EF4-FFF2-40B4-BE49-F238E27FC236}">
                <a16:creationId xmlns:a16="http://schemas.microsoft.com/office/drawing/2014/main" id="{1D6A3625-1118-648D-7423-9F66703AE8EF}"/>
              </a:ext>
            </a:extLst>
          </p:cNvPr>
          <p:cNvGraphicFramePr>
            <a:graphicFrameLocks noGrp="1"/>
          </p:cNvGraphicFramePr>
          <p:nvPr>
            <p:extLst>
              <p:ext uri="{D42A27DB-BD31-4B8C-83A1-F6EECF244321}">
                <p14:modId xmlns:p14="http://schemas.microsoft.com/office/powerpoint/2010/main" val="3727947232"/>
              </p:ext>
            </p:extLst>
          </p:nvPr>
        </p:nvGraphicFramePr>
        <p:xfrm>
          <a:off x="898142" y="1417151"/>
          <a:ext cx="9618980" cy="3962400"/>
        </p:xfrm>
        <a:graphic>
          <a:graphicData uri="http://schemas.openxmlformats.org/drawingml/2006/table">
            <a:tbl>
              <a:tblPr firstRow="1" bandRow="1"/>
              <a:tblGrid>
                <a:gridCol w="2446828">
                  <a:extLst>
                    <a:ext uri="{9D8B030D-6E8A-4147-A177-3AD203B41FA5}">
                      <a16:colId xmlns:a16="http://schemas.microsoft.com/office/drawing/2014/main" val="4172398280"/>
                    </a:ext>
                  </a:extLst>
                </a:gridCol>
                <a:gridCol w="7172152">
                  <a:extLst>
                    <a:ext uri="{9D8B030D-6E8A-4147-A177-3AD203B41FA5}">
                      <a16:colId xmlns:a16="http://schemas.microsoft.com/office/drawing/2014/main" val="3292533103"/>
                    </a:ext>
                  </a:extLst>
                </a:gridCol>
              </a:tblGrid>
              <a:tr h="293794">
                <a:tc>
                  <a:txBody>
                    <a:bodyPr/>
                    <a:lstStyle/>
                    <a:p>
                      <a:pPr algn="r"/>
                      <a:r>
                        <a:rPr lang="en-US" sz="1400" noProof="0" dirty="0">
                          <a:solidFill>
                            <a:schemeClr val="accent1">
                              <a:lumMod val="75000"/>
                            </a:schemeClr>
                          </a:solidFill>
                          <a:latin typeface="Aptos" panose="020B0004020202020204" pitchFamily="34" charset="0"/>
                        </a:rPr>
                        <a:t>ISL Book Chapters: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400" noProof="0" dirty="0">
                          <a:solidFill>
                            <a:schemeClr val="bg2">
                              <a:lumMod val="25000"/>
                            </a:schemeClr>
                          </a:solidFill>
                          <a:latin typeface="Aptos" panose="020B0004020202020204" pitchFamily="34" charset="0"/>
                        </a:rPr>
                        <a:t>None for this module.</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66023109"/>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Synopsis: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00" noProof="0" dirty="0">
                          <a:solidFill>
                            <a:schemeClr val="bg2">
                              <a:lumMod val="25000"/>
                            </a:schemeClr>
                          </a:solidFill>
                          <a:effectLst/>
                          <a:latin typeface="Aptos" panose="020B0004020202020204" pitchFamily="34" charset="0"/>
                          <a:ea typeface="Aptos" panose="020B0004020202020204" pitchFamily="34" charset="0"/>
                          <a:cs typeface="Times New Roman" panose="02020603050405020304" pitchFamily="18" charset="0"/>
                        </a:rPr>
                        <a:t>Second module of the ESL course explores standard processes how large data can be distilled into a small number of well-designed features suitable for statistical learning. Unlike general machine learning, statistical learning relies on both predictors (features) and target variables to meet specific criteria. This process, known as requirement analysis, forms the core of learning material of this module.</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639417425"/>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Competencies: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00" noProof="0" dirty="0">
                          <a:solidFill>
                            <a:schemeClr val="bg2">
                              <a:lumMod val="25000"/>
                            </a:schemeClr>
                          </a:solidFill>
                          <a:effectLst/>
                          <a:latin typeface="Aptos" panose="020B0004020202020204" pitchFamily="34" charset="0"/>
                        </a:rPr>
                        <a:t>Learn how to transform raw, high-dimensional data into concise, informative features tailored for statistical learning models. Understand what tidy data means.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00" noProof="0" dirty="0">
                          <a:solidFill>
                            <a:schemeClr val="bg2">
                              <a:lumMod val="25000"/>
                            </a:schemeClr>
                          </a:solidFill>
                          <a:effectLst/>
                          <a:latin typeface="Aptos" panose="020B0004020202020204" pitchFamily="34" charset="0"/>
                        </a:rPr>
                        <a:t>Develop the ability to assess whether predictors and target variables meet the assumptions of specific statistical learning techniques.</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026122658"/>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Prerequisites: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rPr>
                        <a:t>Understanding of probability and statistics is needed at the basic level. Further, limited working proficiency in Tidyverse dialect of R programming language is needed </a:t>
                      </a:r>
                      <a:r>
                        <a:rPr lang="en-US" sz="1400" kern="100" noProof="0">
                          <a:solidFill>
                            <a:schemeClr val="bg2">
                              <a:lumMod val="25000"/>
                            </a:schemeClr>
                          </a:solidFill>
                          <a:effectLst/>
                          <a:latin typeface="Aptos" panose="020B0004020202020204" pitchFamily="34" charset="0"/>
                        </a:rPr>
                        <a:t>to complete practical exercises. </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46512167"/>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Tutorials: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kern="100" noProof="0" dirty="0">
                        <a:solidFill>
                          <a:schemeClr val="bg2">
                            <a:lumMod val="25000"/>
                          </a:schemeClr>
                        </a:solidFill>
                        <a:effectLst/>
                        <a:latin typeface="Aptos" panose="020B0004020202020204" pitchFamily="34" charset="0"/>
                      </a:endParaRP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956996457"/>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Data:</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rPr>
                        <a:t>FIFA22 dataset from Kaggle (https://</a:t>
                      </a:r>
                      <a:r>
                        <a:rPr lang="en-US" sz="1400" kern="100" noProof="0" dirty="0" err="1">
                          <a:solidFill>
                            <a:schemeClr val="bg2">
                              <a:lumMod val="25000"/>
                            </a:schemeClr>
                          </a:solidFill>
                          <a:effectLst/>
                          <a:latin typeface="Aptos" panose="020B0004020202020204" pitchFamily="34" charset="0"/>
                        </a:rPr>
                        <a:t>www.kaggle.com</a:t>
                      </a:r>
                      <a:r>
                        <a:rPr lang="en-US" sz="1400" kern="100" noProof="0" dirty="0">
                          <a:solidFill>
                            <a:schemeClr val="bg2">
                              <a:lumMod val="25000"/>
                            </a:schemeClr>
                          </a:solidFill>
                          <a:effectLst/>
                          <a:latin typeface="Aptos" panose="020B0004020202020204" pitchFamily="34" charset="0"/>
                        </a:rPr>
                        <a:t>/datasets/stefanoleone992/fifa-22-complete-player-dataset)</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758503459"/>
                  </a:ext>
                </a:extLst>
              </a:tr>
            </a:tbl>
          </a:graphicData>
        </a:graphic>
      </p:graphicFrame>
      <p:grpSp>
        <p:nvGrpSpPr>
          <p:cNvPr id="6" name="Group 5">
            <a:extLst>
              <a:ext uri="{FF2B5EF4-FFF2-40B4-BE49-F238E27FC236}">
                <a16:creationId xmlns:a16="http://schemas.microsoft.com/office/drawing/2014/main" id="{126215B5-47D6-F4A5-13CC-F9325B252BFF}"/>
              </a:ext>
            </a:extLst>
          </p:cNvPr>
          <p:cNvGrpSpPr/>
          <p:nvPr/>
        </p:nvGrpSpPr>
        <p:grpSpPr>
          <a:xfrm>
            <a:off x="898142" y="6203580"/>
            <a:ext cx="1863495" cy="517895"/>
            <a:chOff x="2808222" y="6127115"/>
            <a:chExt cx="1863495" cy="517895"/>
          </a:xfrm>
        </p:grpSpPr>
        <p:pic>
          <p:nvPicPr>
            <p:cNvPr id="2" name="Picture 2">
              <a:extLst>
                <a:ext uri="{FF2B5EF4-FFF2-40B4-BE49-F238E27FC236}">
                  <a16:creationId xmlns:a16="http://schemas.microsoft.com/office/drawing/2014/main" id="{D74C2050-9218-583A-CE2A-0B759B4F93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close up of a logo&#10;&#10;AI-generated content may be incorrect.">
              <a:extLst>
                <a:ext uri="{FF2B5EF4-FFF2-40B4-BE49-F238E27FC236}">
                  <a16:creationId xmlns:a16="http://schemas.microsoft.com/office/drawing/2014/main" id="{75DD7FD3-5AF8-BFC0-6525-88C2A52C0514}"/>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2" name="Slide Number Placeholder 8">
            <a:extLst>
              <a:ext uri="{FF2B5EF4-FFF2-40B4-BE49-F238E27FC236}">
                <a16:creationId xmlns:a16="http://schemas.microsoft.com/office/drawing/2014/main" id="{D5E7841A-24A8-FE53-54AF-7AF997AF1AF6}"/>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a:t>
            </a:fld>
            <a:endParaRPr lang="en-US" noProof="0" dirty="0"/>
          </a:p>
        </p:txBody>
      </p:sp>
      <p:sp>
        <p:nvSpPr>
          <p:cNvPr id="5" name="Google Shape;158;p6">
            <a:extLst>
              <a:ext uri="{FF2B5EF4-FFF2-40B4-BE49-F238E27FC236}">
                <a16:creationId xmlns:a16="http://schemas.microsoft.com/office/drawing/2014/main" id="{07C004E6-8944-A581-FDDC-22BEB3432973}"/>
              </a:ext>
            </a:extLst>
          </p:cNvPr>
          <p:cNvSpPr txBox="1"/>
          <p:nvPr/>
        </p:nvSpPr>
        <p:spPr>
          <a:xfrm>
            <a:off x="3478308" y="531213"/>
            <a:ext cx="5844988" cy="769401"/>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4400" dirty="0">
                <a:solidFill>
                  <a:srgbClr val="2F5496"/>
                </a:solidFill>
                <a:latin typeface="Aptos" panose="020B0004020202020204" pitchFamily="34" charset="0"/>
                <a:ea typeface="Calibri"/>
                <a:cs typeface="Calibri"/>
                <a:sym typeface="Calibri"/>
              </a:rPr>
              <a:t>: Overview</a:t>
            </a:r>
            <a:endParaRPr lang="en-US" sz="4400" noProof="0" dirty="0">
              <a:solidFill>
                <a:srgbClr val="2F5496"/>
              </a:solidFill>
              <a:latin typeface="Aptos" panose="020B0004020202020204" pitchFamily="34" charset="0"/>
              <a:ea typeface="Calibri"/>
              <a:cs typeface="Calibri"/>
              <a:sym typeface="Calibri"/>
            </a:endParaRPr>
          </a:p>
        </p:txBody>
      </p:sp>
    </p:spTree>
    <p:extLst>
      <p:ext uri="{BB962C8B-B14F-4D97-AF65-F5344CB8AC3E}">
        <p14:creationId xmlns:p14="http://schemas.microsoft.com/office/powerpoint/2010/main" val="1253754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BE168-36A5-1C25-64C6-1F18BA410D96}"/>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D09B344C-2714-E1E6-361C-745398AC702E}"/>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3</a:t>
            </a:fld>
            <a:endParaRPr lang="en-US" noProof="0" dirty="0"/>
          </a:p>
        </p:txBody>
      </p:sp>
      <p:grpSp>
        <p:nvGrpSpPr>
          <p:cNvPr id="34" name="Group 33">
            <a:extLst>
              <a:ext uri="{FF2B5EF4-FFF2-40B4-BE49-F238E27FC236}">
                <a16:creationId xmlns:a16="http://schemas.microsoft.com/office/drawing/2014/main" id="{B5EC38E8-75AE-E26A-530A-F60EAD832975}"/>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D7E93953-8B32-A3B0-EDA0-58104BF9DE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BA14D2CF-1D29-1B37-3B61-8BCDD002FF7E}"/>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pSp>
        <p:nvGrpSpPr>
          <p:cNvPr id="5" name="Group 4">
            <a:extLst>
              <a:ext uri="{FF2B5EF4-FFF2-40B4-BE49-F238E27FC236}">
                <a16:creationId xmlns:a16="http://schemas.microsoft.com/office/drawing/2014/main" id="{DEE6C908-EB2F-607D-AB85-4266BF40773F}"/>
              </a:ext>
            </a:extLst>
          </p:cNvPr>
          <p:cNvGrpSpPr/>
          <p:nvPr/>
        </p:nvGrpSpPr>
        <p:grpSpPr>
          <a:xfrm>
            <a:off x="1524000" y="2207522"/>
            <a:ext cx="9144000" cy="1856100"/>
            <a:chOff x="1524000" y="1371219"/>
            <a:chExt cx="9144000" cy="1856100"/>
          </a:xfrm>
        </p:grpSpPr>
        <p:sp>
          <p:nvSpPr>
            <p:cNvPr id="2" name="Google Shape;158;p6">
              <a:extLst>
                <a:ext uri="{FF2B5EF4-FFF2-40B4-BE49-F238E27FC236}">
                  <a16:creationId xmlns:a16="http://schemas.microsoft.com/office/drawing/2014/main" id="{6DDD2FB4-F4AC-37D8-4A4E-7F458A50C1C4}"/>
                </a:ext>
              </a:extLst>
            </p:cNvPr>
            <p:cNvSpPr txBox="1"/>
            <p:nvPr/>
          </p:nvSpPr>
          <p:spPr>
            <a:xfrm>
              <a:off x="1524000" y="1371219"/>
              <a:ext cx="5388410" cy="769401"/>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4400" dirty="0">
                  <a:solidFill>
                    <a:srgbClr val="2F5496"/>
                  </a:solidFill>
                  <a:latin typeface="Aptos" panose="020B0004020202020204" pitchFamily="34" charset="0"/>
                  <a:ea typeface="Calibri"/>
                  <a:cs typeface="Calibri"/>
                  <a:sym typeface="Calibri"/>
                </a:rPr>
                <a:t>Quote of the Day</a:t>
              </a:r>
              <a:endParaRPr lang="en-US" sz="4400" noProof="0" dirty="0">
                <a:solidFill>
                  <a:srgbClr val="2F5496"/>
                </a:solidFill>
                <a:latin typeface="Aptos" panose="020B0004020202020204" pitchFamily="34" charset="0"/>
                <a:ea typeface="Calibri"/>
                <a:cs typeface="Calibri"/>
                <a:sym typeface="Calibri"/>
              </a:endParaRPr>
            </a:p>
          </p:txBody>
        </p:sp>
        <p:sp>
          <p:nvSpPr>
            <p:cNvPr id="4" name="Subtitle 2">
              <a:extLst>
                <a:ext uri="{FF2B5EF4-FFF2-40B4-BE49-F238E27FC236}">
                  <a16:creationId xmlns:a16="http://schemas.microsoft.com/office/drawing/2014/main" id="{58437FBD-05CB-A06B-F8C2-28E6477F7E3D}"/>
                </a:ext>
              </a:extLst>
            </p:cNvPr>
            <p:cNvSpPr txBox="1">
              <a:spLocks/>
            </p:cNvSpPr>
            <p:nvPr/>
          </p:nvSpPr>
          <p:spPr>
            <a:xfrm>
              <a:off x="1524000" y="2442253"/>
              <a:ext cx="9144000" cy="7850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i="1" dirty="0">
                  <a:solidFill>
                    <a:schemeClr val="bg2">
                      <a:lumMod val="25000"/>
                    </a:schemeClr>
                  </a:solidFill>
                  <a:latin typeface="Aptos" panose="020B0004020202020204" pitchFamily="34" charset="0"/>
                </a:rPr>
                <a:t>To understand what AI can do for you requires understanding what AI needs to get things done.</a:t>
              </a:r>
            </a:p>
            <a:p>
              <a:pPr marL="0" indent="0">
                <a:buNone/>
              </a:pPr>
              <a:r>
                <a:rPr lang="en-US" sz="1800" i="1" dirty="0">
                  <a:solidFill>
                    <a:schemeClr val="bg2">
                      <a:lumMod val="25000"/>
                    </a:schemeClr>
                  </a:solidFill>
                  <a:latin typeface="Aptos" panose="020B0004020202020204" pitchFamily="34" charset="0"/>
                </a:rPr>
                <a:t> </a:t>
              </a:r>
            </a:p>
            <a:p>
              <a:pPr marL="0" indent="0">
                <a:buNone/>
              </a:pPr>
              <a:endParaRPr lang="en-GB" sz="1800" i="1" dirty="0">
                <a:solidFill>
                  <a:schemeClr val="bg2">
                    <a:lumMod val="25000"/>
                  </a:schemeClr>
                </a:solidFill>
                <a:latin typeface="Aptos" panose="020B0004020202020204" pitchFamily="34" charset="0"/>
              </a:endParaRPr>
            </a:p>
            <a:p>
              <a:pPr marL="0" indent="0">
                <a:buNone/>
              </a:pPr>
              <a:r>
                <a:rPr lang="en-GB" sz="1800" dirty="0">
                  <a:solidFill>
                    <a:schemeClr val="bg2">
                      <a:lumMod val="25000"/>
                    </a:schemeClr>
                  </a:solidFill>
                  <a:latin typeface="Aptos" panose="020B0004020202020204" pitchFamily="34" charset="0"/>
                </a:rPr>
                <a:t>Unknown shady character.</a:t>
              </a:r>
            </a:p>
          </p:txBody>
        </p:sp>
      </p:grpSp>
      <p:cxnSp>
        <p:nvCxnSpPr>
          <p:cNvPr id="7" name="Straight Connector 6">
            <a:extLst>
              <a:ext uri="{FF2B5EF4-FFF2-40B4-BE49-F238E27FC236}">
                <a16:creationId xmlns:a16="http://schemas.microsoft.com/office/drawing/2014/main" id="{62CBA177-1B04-365B-F1F2-27316520A2DA}"/>
              </a:ext>
            </a:extLst>
          </p:cNvPr>
          <p:cNvCxnSpPr/>
          <p:nvPr/>
        </p:nvCxnSpPr>
        <p:spPr>
          <a:xfrm>
            <a:off x="1440493" y="3187874"/>
            <a:ext cx="0" cy="73903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0597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4C97E-3A58-2D05-1E20-0DBA39EF4863}"/>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C0417856-FEA3-CC12-6067-0D4031FD7317}"/>
              </a:ext>
            </a:extLst>
          </p:cNvPr>
          <p:cNvGrpSpPr/>
          <p:nvPr/>
        </p:nvGrpSpPr>
        <p:grpSpPr>
          <a:xfrm>
            <a:off x="2112579" y="733425"/>
            <a:ext cx="7752392" cy="5391150"/>
            <a:chOff x="615321" y="733425"/>
            <a:chExt cx="7752392" cy="5391150"/>
          </a:xfrm>
        </p:grpSpPr>
        <p:pic>
          <p:nvPicPr>
            <p:cNvPr id="1026" name="Picture 2" descr="(#191) AN ARCHAIC BRONZE BELL (BO) EASTERN ZHOU DYNASTY">
              <a:extLst>
                <a:ext uri="{FF2B5EF4-FFF2-40B4-BE49-F238E27FC236}">
                  <a16:creationId xmlns:a16="http://schemas.microsoft.com/office/drawing/2014/main" id="{32F1E7E9-DC1C-6FD0-4FFE-CA9F07CC1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4288" y="733425"/>
              <a:ext cx="4543425" cy="5391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50CD780-CBB5-C663-8031-455F9E78FD84}"/>
                </a:ext>
              </a:extLst>
            </p:cNvPr>
            <p:cNvSpPr txBox="1"/>
            <p:nvPr/>
          </p:nvSpPr>
          <p:spPr>
            <a:xfrm>
              <a:off x="615321" y="3167390"/>
              <a:ext cx="3208967" cy="1754326"/>
            </a:xfrm>
            <a:prstGeom prst="rect">
              <a:avLst/>
            </a:prstGeom>
            <a:noFill/>
          </p:spPr>
          <p:txBody>
            <a:bodyPr wrap="square">
              <a:spAutoFit/>
            </a:bodyPr>
            <a:lstStyle/>
            <a:p>
              <a:pPr algn="r"/>
              <a:r>
                <a:rPr lang="en-US" sz="4400" noProof="0" dirty="0">
                  <a:solidFill>
                    <a:schemeClr val="accent1">
                      <a:lumMod val="75000"/>
                    </a:schemeClr>
                  </a:solidFill>
                  <a:latin typeface="Aptos" panose="020B0004020202020204" pitchFamily="34" charset="0"/>
                </a:rPr>
                <a:t>Chinese Bronze Bell</a:t>
              </a:r>
            </a:p>
            <a:p>
              <a:pPr algn="r"/>
              <a:r>
                <a:rPr lang="en-US" sz="1000" dirty="0">
                  <a:solidFill>
                    <a:schemeClr val="bg2">
                      <a:lumMod val="25000"/>
                    </a:schemeClr>
                  </a:solidFill>
                  <a:latin typeface="Aptos" panose="020B0004020202020204" pitchFamily="34" charset="0"/>
                </a:rPr>
                <a:t>Birth of probabilistic thinking and normal distribution.</a:t>
              </a:r>
            </a:p>
            <a:p>
              <a:pPr algn="r"/>
              <a:r>
                <a:rPr lang="en-US" sz="1000" noProof="0" dirty="0">
                  <a:solidFill>
                    <a:schemeClr val="bg2">
                      <a:lumMod val="25000"/>
                    </a:schemeClr>
                  </a:solidFill>
                  <a:latin typeface="Aptos" panose="020B0004020202020204" pitchFamily="34" charset="0"/>
                </a:rPr>
                <a:t>500 - 300 BC </a:t>
              </a:r>
              <a:endParaRPr lang="en-US" sz="1000" noProof="0" dirty="0">
                <a:solidFill>
                  <a:schemeClr val="bg2">
                    <a:lumMod val="25000"/>
                  </a:schemeClr>
                </a:solidFill>
              </a:endParaRPr>
            </a:p>
          </p:txBody>
        </p:sp>
      </p:grpSp>
      <p:sp>
        <p:nvSpPr>
          <p:cNvPr id="13" name="Slide Number Placeholder 8">
            <a:extLst>
              <a:ext uri="{FF2B5EF4-FFF2-40B4-BE49-F238E27FC236}">
                <a16:creationId xmlns:a16="http://schemas.microsoft.com/office/drawing/2014/main" id="{CD7761AC-D92B-A0B6-7F2A-67A0327DFDA3}"/>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4</a:t>
            </a:fld>
            <a:endParaRPr lang="en-US" noProof="0" dirty="0"/>
          </a:p>
        </p:txBody>
      </p:sp>
      <p:grpSp>
        <p:nvGrpSpPr>
          <p:cNvPr id="14" name="Group 13">
            <a:extLst>
              <a:ext uri="{FF2B5EF4-FFF2-40B4-BE49-F238E27FC236}">
                <a16:creationId xmlns:a16="http://schemas.microsoft.com/office/drawing/2014/main" id="{9A6604F9-0EDC-DF5F-7A5E-4E9E0903AB2D}"/>
              </a:ext>
            </a:extLst>
          </p:cNvPr>
          <p:cNvGrpSpPr/>
          <p:nvPr/>
        </p:nvGrpSpPr>
        <p:grpSpPr>
          <a:xfrm>
            <a:off x="898142" y="6203580"/>
            <a:ext cx="1863495" cy="517895"/>
            <a:chOff x="2808222" y="6127115"/>
            <a:chExt cx="1863495" cy="517895"/>
          </a:xfrm>
        </p:grpSpPr>
        <p:pic>
          <p:nvPicPr>
            <p:cNvPr id="15" name="Picture 2">
              <a:extLst>
                <a:ext uri="{FF2B5EF4-FFF2-40B4-BE49-F238E27FC236}">
                  <a16:creationId xmlns:a16="http://schemas.microsoft.com/office/drawing/2014/main" id="{EFAD6CB2-AA5E-71CE-69BB-5AFECEDD2C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 up of a logo&#10;&#10;AI-generated content may be incorrect.">
              <a:extLst>
                <a:ext uri="{FF2B5EF4-FFF2-40B4-BE49-F238E27FC236}">
                  <a16:creationId xmlns:a16="http://schemas.microsoft.com/office/drawing/2014/main" id="{6213938D-E749-AF8C-1E85-66E8459A0B33}"/>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Tree>
    <p:extLst>
      <p:ext uri="{BB962C8B-B14F-4D97-AF65-F5344CB8AC3E}">
        <p14:creationId xmlns:p14="http://schemas.microsoft.com/office/powerpoint/2010/main" val="2137710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D0B607F-C67C-410B-8CED-45EE801EBF67}"/>
              </a:ext>
            </a:extLst>
          </p:cNvPr>
          <p:cNvGrpSpPr/>
          <p:nvPr/>
        </p:nvGrpSpPr>
        <p:grpSpPr>
          <a:xfrm>
            <a:off x="1524000" y="2385196"/>
            <a:ext cx="9144000" cy="2328318"/>
            <a:chOff x="1524000" y="2106808"/>
            <a:chExt cx="9144000" cy="2328318"/>
          </a:xfrm>
        </p:grpSpPr>
        <p:sp>
          <p:nvSpPr>
            <p:cNvPr id="3" name="Title 1">
              <a:extLst>
                <a:ext uri="{FF2B5EF4-FFF2-40B4-BE49-F238E27FC236}">
                  <a16:creationId xmlns:a16="http://schemas.microsoft.com/office/drawing/2014/main" id="{0AAA310D-0C73-4D0A-8F5C-7E1ADAB21262}"/>
                </a:ext>
              </a:extLst>
            </p:cNvPr>
            <p:cNvSpPr txBox="1">
              <a:spLocks/>
            </p:cNvSpPr>
            <p:nvPr/>
          </p:nvSpPr>
          <p:spPr>
            <a:xfrm>
              <a:off x="1524000" y="2106808"/>
              <a:ext cx="9144000" cy="46545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noProof="0" dirty="0">
                  <a:solidFill>
                    <a:schemeClr val="accent1">
                      <a:lumMod val="75000"/>
                    </a:schemeClr>
                  </a:solidFill>
                  <a:latin typeface="Aptos" panose="020B0004020202020204" pitchFamily="34" charset="0"/>
                </a:rPr>
                <a:t>Before talking about ML, we should talk about data…</a:t>
              </a:r>
            </a:p>
          </p:txBody>
        </p:sp>
        <p:sp>
          <p:nvSpPr>
            <p:cNvPr id="4" name="Subtitle 2">
              <a:extLst>
                <a:ext uri="{FF2B5EF4-FFF2-40B4-BE49-F238E27FC236}">
                  <a16:creationId xmlns:a16="http://schemas.microsoft.com/office/drawing/2014/main" id="{773FB60E-1E30-463A-BD7A-E61632762D89}"/>
                </a:ext>
              </a:extLst>
            </p:cNvPr>
            <p:cNvSpPr txBox="1">
              <a:spLocks/>
            </p:cNvSpPr>
            <p:nvPr/>
          </p:nvSpPr>
          <p:spPr>
            <a:xfrm>
              <a:off x="1524000" y="2788242"/>
              <a:ext cx="9144000" cy="16468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noProof="0" dirty="0">
                  <a:solidFill>
                    <a:schemeClr val="bg2">
                      <a:lumMod val="25000"/>
                    </a:schemeClr>
                  </a:solidFill>
                  <a:latin typeface="Aptos" panose="020B0004020202020204" pitchFamily="34" charset="0"/>
                </a:rPr>
                <a:t>The shape of the Chinese bronze bell elegantly mirrors the Gaussian distribution, with its balanced symmetry and central peak. </a:t>
              </a:r>
            </a:p>
            <a:p>
              <a:pPr marL="0" indent="0">
                <a:lnSpc>
                  <a:spcPct val="100000"/>
                </a:lnSpc>
                <a:buNone/>
              </a:pPr>
              <a:r>
                <a:rPr lang="en-US" sz="1800" noProof="0" dirty="0">
                  <a:solidFill>
                    <a:schemeClr val="bg2">
                      <a:lumMod val="25000"/>
                    </a:schemeClr>
                  </a:solidFill>
                  <a:latin typeface="Aptos" panose="020B0004020202020204" pitchFamily="34" charset="0"/>
                </a:rPr>
                <a:t>This iconic form serves as a powerful analogy for statistical learning, where normally distributed predictor data provides a natural foundation for many modeling techniques.</a:t>
              </a:r>
            </a:p>
          </p:txBody>
        </p:sp>
      </p:grpSp>
      <p:grpSp>
        <p:nvGrpSpPr>
          <p:cNvPr id="15" name="Group 14">
            <a:extLst>
              <a:ext uri="{FF2B5EF4-FFF2-40B4-BE49-F238E27FC236}">
                <a16:creationId xmlns:a16="http://schemas.microsoft.com/office/drawing/2014/main" id="{71CE129F-7E2F-09F1-1327-2CC99E176A67}"/>
              </a:ext>
            </a:extLst>
          </p:cNvPr>
          <p:cNvGrpSpPr/>
          <p:nvPr/>
        </p:nvGrpSpPr>
        <p:grpSpPr>
          <a:xfrm>
            <a:off x="898142" y="6203580"/>
            <a:ext cx="1863495" cy="517895"/>
            <a:chOff x="2808222" y="6127115"/>
            <a:chExt cx="1863495" cy="517895"/>
          </a:xfrm>
        </p:grpSpPr>
        <p:pic>
          <p:nvPicPr>
            <p:cNvPr id="16" name="Picture 2">
              <a:extLst>
                <a:ext uri="{FF2B5EF4-FFF2-40B4-BE49-F238E27FC236}">
                  <a16:creationId xmlns:a16="http://schemas.microsoft.com/office/drawing/2014/main" id="{E76E926C-DC47-54DA-0E49-E709634B3A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close up of a logo&#10;&#10;AI-generated content may be incorrect.">
              <a:extLst>
                <a:ext uri="{FF2B5EF4-FFF2-40B4-BE49-F238E27FC236}">
                  <a16:creationId xmlns:a16="http://schemas.microsoft.com/office/drawing/2014/main" id="{8C8F9B28-8399-250A-E029-FC2AAEE05A8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8" name="Slide Number Placeholder 8">
            <a:extLst>
              <a:ext uri="{FF2B5EF4-FFF2-40B4-BE49-F238E27FC236}">
                <a16:creationId xmlns:a16="http://schemas.microsoft.com/office/drawing/2014/main" id="{E641F44F-648E-15E3-A11F-41BFEE106CE8}"/>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5</a:t>
            </a:fld>
            <a:endParaRPr lang="en-US" noProof="0" dirty="0"/>
          </a:p>
        </p:txBody>
      </p:sp>
    </p:spTree>
    <p:extLst>
      <p:ext uri="{BB962C8B-B14F-4D97-AF65-F5344CB8AC3E}">
        <p14:creationId xmlns:p14="http://schemas.microsoft.com/office/powerpoint/2010/main" val="297050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13FE-9811-0CD0-E23D-EC6B81AB78FF}"/>
            </a:ext>
          </a:extLst>
        </p:cNvPr>
        <p:cNvGrpSpPr/>
        <p:nvPr/>
      </p:nvGrpSpPr>
      <p:grpSpPr>
        <a:xfrm>
          <a:off x="0" y="0"/>
          <a:ext cx="0" cy="0"/>
          <a:chOff x="0" y="0"/>
          <a:chExt cx="0" cy="0"/>
        </a:xfrm>
      </p:grpSpPr>
      <p:grpSp>
        <p:nvGrpSpPr>
          <p:cNvPr id="36" name="Group 35">
            <a:extLst>
              <a:ext uri="{FF2B5EF4-FFF2-40B4-BE49-F238E27FC236}">
                <a16:creationId xmlns:a16="http://schemas.microsoft.com/office/drawing/2014/main" id="{30898F31-4348-EB7F-5A9F-E5DFD196B940}"/>
              </a:ext>
            </a:extLst>
          </p:cNvPr>
          <p:cNvGrpSpPr/>
          <p:nvPr/>
        </p:nvGrpSpPr>
        <p:grpSpPr>
          <a:xfrm>
            <a:off x="2204658" y="1937816"/>
            <a:ext cx="8498949" cy="3659569"/>
            <a:chOff x="2204658" y="1744778"/>
            <a:chExt cx="8498949" cy="3659569"/>
          </a:xfrm>
        </p:grpSpPr>
        <p:pic>
          <p:nvPicPr>
            <p:cNvPr id="13" name="Picture 12">
              <a:extLst>
                <a:ext uri="{FF2B5EF4-FFF2-40B4-BE49-F238E27FC236}">
                  <a16:creationId xmlns:a16="http://schemas.microsoft.com/office/drawing/2014/main" id="{8EF77F57-045A-53DE-98EB-58F1D1A51AB0}"/>
                </a:ext>
              </a:extLst>
            </p:cNvPr>
            <p:cNvPicPr>
              <a:picLocks noChangeAspect="1"/>
            </p:cNvPicPr>
            <p:nvPr/>
          </p:nvPicPr>
          <p:blipFill>
            <a:blip r:embed="rId2"/>
            <a:stretch>
              <a:fillRect/>
            </a:stretch>
          </p:blipFill>
          <p:spPr>
            <a:xfrm>
              <a:off x="2204658" y="2363747"/>
              <a:ext cx="5915723" cy="2971960"/>
            </a:xfrm>
            <a:prstGeom prst="rect">
              <a:avLst/>
            </a:prstGeom>
          </p:spPr>
        </p:pic>
        <p:sp>
          <p:nvSpPr>
            <p:cNvPr id="14" name="TextBox 13">
              <a:extLst>
                <a:ext uri="{FF2B5EF4-FFF2-40B4-BE49-F238E27FC236}">
                  <a16:creationId xmlns:a16="http://schemas.microsoft.com/office/drawing/2014/main" id="{71D7F1E2-8767-60DE-C274-D94C94F92AD6}"/>
                </a:ext>
              </a:extLst>
            </p:cNvPr>
            <p:cNvSpPr txBox="1"/>
            <p:nvPr/>
          </p:nvSpPr>
          <p:spPr>
            <a:xfrm>
              <a:off x="3929056" y="1744778"/>
              <a:ext cx="4156391" cy="646331"/>
            </a:xfrm>
            <a:prstGeom prst="rect">
              <a:avLst/>
            </a:prstGeom>
            <a:noFill/>
          </p:spPr>
          <p:txBody>
            <a:bodyPr wrap="square">
              <a:spAutoFit/>
            </a:bodyPr>
            <a:lstStyle/>
            <a:p>
              <a:r>
                <a:rPr lang="en-US" sz="1800" noProof="0" dirty="0">
                  <a:solidFill>
                    <a:schemeClr val="accent1">
                      <a:lumMod val="75000"/>
                    </a:schemeClr>
                  </a:solidFill>
                  <a:latin typeface="Aptos" panose="020B0004020202020204" pitchFamily="34" charset="0"/>
                </a:rPr>
                <a:t>Attributes or Features</a:t>
              </a:r>
              <a:br>
                <a:rPr lang="en-US" sz="1800" noProof="0" dirty="0">
                  <a:solidFill>
                    <a:schemeClr val="accent1">
                      <a:lumMod val="75000"/>
                    </a:schemeClr>
                  </a:solidFill>
                  <a:latin typeface="Aptos" panose="020B0004020202020204" pitchFamily="34" charset="0"/>
                </a:rPr>
              </a:br>
              <a:r>
                <a:rPr lang="en-US" noProof="0" dirty="0">
                  <a:solidFill>
                    <a:schemeClr val="bg2">
                      <a:lumMod val="25000"/>
                    </a:schemeClr>
                  </a:solidFill>
                  <a:latin typeface="Aptos" panose="020B0004020202020204" pitchFamily="34" charset="0"/>
                </a:rPr>
                <a:t>(age, gender, year …</a:t>
              </a:r>
              <a:r>
                <a:rPr lang="en-US" sz="1800" noProof="0" dirty="0">
                  <a:solidFill>
                    <a:schemeClr val="bg2">
                      <a:lumMod val="25000"/>
                    </a:schemeClr>
                  </a:solidFill>
                  <a:latin typeface="Aptos" panose="020B0004020202020204" pitchFamily="34" charset="0"/>
                </a:rPr>
                <a:t>)</a:t>
              </a:r>
              <a:endParaRPr lang="en-US" noProof="0" dirty="0">
                <a:solidFill>
                  <a:schemeClr val="bg2">
                    <a:lumMod val="25000"/>
                  </a:schemeClr>
                </a:solidFill>
                <a:latin typeface="Aptos" panose="020B0004020202020204" pitchFamily="34" charset="0"/>
              </a:endParaRPr>
            </a:p>
          </p:txBody>
        </p:sp>
        <p:sp>
          <p:nvSpPr>
            <p:cNvPr id="15" name="TextBox 14">
              <a:extLst>
                <a:ext uri="{FF2B5EF4-FFF2-40B4-BE49-F238E27FC236}">
                  <a16:creationId xmlns:a16="http://schemas.microsoft.com/office/drawing/2014/main" id="{231F523D-AC9B-8D0C-3956-C6895B797CED}"/>
                </a:ext>
              </a:extLst>
            </p:cNvPr>
            <p:cNvSpPr txBox="1"/>
            <p:nvPr/>
          </p:nvSpPr>
          <p:spPr>
            <a:xfrm>
              <a:off x="8198754" y="2581731"/>
              <a:ext cx="2504853" cy="1200329"/>
            </a:xfrm>
            <a:prstGeom prst="rect">
              <a:avLst/>
            </a:prstGeom>
            <a:noFill/>
          </p:spPr>
          <p:txBody>
            <a:bodyPr wrap="square">
              <a:spAutoFit/>
            </a:bodyPr>
            <a:lstStyle/>
            <a:p>
              <a:r>
                <a:rPr lang="en-US" sz="1800" noProof="0" dirty="0">
                  <a:solidFill>
                    <a:schemeClr val="accent1">
                      <a:lumMod val="75000"/>
                    </a:schemeClr>
                  </a:solidFill>
                  <a:latin typeface="Aptos" panose="020B0004020202020204" pitchFamily="34" charset="0"/>
                </a:rPr>
                <a:t>Observations</a:t>
              </a:r>
            </a:p>
            <a:p>
              <a:r>
                <a:rPr lang="en-US" noProof="0" dirty="0">
                  <a:solidFill>
                    <a:schemeClr val="bg2">
                      <a:lumMod val="25000"/>
                    </a:schemeClr>
                  </a:solidFill>
                  <a:latin typeface="Aptos" panose="020B0004020202020204" pitchFamily="34" charset="0"/>
                </a:rPr>
                <a:t>(patient 1</a:t>
              </a:r>
            </a:p>
            <a:p>
              <a:r>
                <a:rPr lang="en-US" sz="1800" noProof="0" dirty="0">
                  <a:solidFill>
                    <a:schemeClr val="bg2">
                      <a:lumMod val="25000"/>
                    </a:schemeClr>
                  </a:solidFill>
                  <a:latin typeface="Aptos" panose="020B0004020202020204" pitchFamily="34" charset="0"/>
                </a:rPr>
                <a:t> patient 2 </a:t>
              </a:r>
            </a:p>
            <a:p>
              <a:r>
                <a:rPr lang="en-US" sz="1800" noProof="0" dirty="0">
                  <a:solidFill>
                    <a:schemeClr val="bg2">
                      <a:lumMod val="25000"/>
                    </a:schemeClr>
                  </a:solidFill>
                  <a:latin typeface="Aptos" panose="020B0004020202020204" pitchFamily="34" charset="0"/>
                </a:rPr>
                <a:t>… )</a:t>
              </a:r>
              <a:endParaRPr lang="en-US" noProof="0" dirty="0">
                <a:solidFill>
                  <a:schemeClr val="bg2">
                    <a:lumMod val="25000"/>
                  </a:schemeClr>
                </a:solidFill>
                <a:latin typeface="Aptos" panose="020B0004020202020204" pitchFamily="34" charset="0"/>
              </a:endParaRPr>
            </a:p>
          </p:txBody>
        </p:sp>
        <p:sp>
          <p:nvSpPr>
            <p:cNvPr id="16" name="TextBox 15">
              <a:extLst>
                <a:ext uri="{FF2B5EF4-FFF2-40B4-BE49-F238E27FC236}">
                  <a16:creationId xmlns:a16="http://schemas.microsoft.com/office/drawing/2014/main" id="{4068EB05-645D-A361-0701-8FEE85AE3205}"/>
                </a:ext>
              </a:extLst>
            </p:cNvPr>
            <p:cNvSpPr txBox="1"/>
            <p:nvPr/>
          </p:nvSpPr>
          <p:spPr>
            <a:xfrm rot="16200000">
              <a:off x="2667922" y="2793611"/>
              <a:ext cx="1499728" cy="307777"/>
            </a:xfrm>
            <a:prstGeom prst="rect">
              <a:avLst/>
            </a:prstGeom>
            <a:noFill/>
          </p:spPr>
          <p:txBody>
            <a:bodyPr wrap="square">
              <a:spAutoFit/>
            </a:bodyPr>
            <a:lstStyle/>
            <a:p>
              <a:r>
                <a:rPr lang="en-US" sz="1400" i="1" noProof="0" dirty="0">
                  <a:solidFill>
                    <a:srgbClr val="C00000"/>
                  </a:solidFill>
                  <a:latin typeface="Aptos" panose="020B0004020202020204" pitchFamily="34" charset="0"/>
                </a:rPr>
                <a:t>n </a:t>
              </a:r>
              <a:r>
                <a:rPr lang="en-US" sz="1400" noProof="0" dirty="0">
                  <a:solidFill>
                    <a:srgbClr val="C00000"/>
                  </a:solidFill>
                  <a:latin typeface="Aptos" panose="020B0004020202020204" pitchFamily="34" charset="0"/>
                </a:rPr>
                <a:t>data points</a:t>
              </a:r>
            </a:p>
          </p:txBody>
        </p:sp>
        <p:sp>
          <p:nvSpPr>
            <p:cNvPr id="19" name="TextBox 18">
              <a:extLst>
                <a:ext uri="{FF2B5EF4-FFF2-40B4-BE49-F238E27FC236}">
                  <a16:creationId xmlns:a16="http://schemas.microsoft.com/office/drawing/2014/main" id="{C198A0DE-DBDB-C5B1-EB5C-8C0CCB6070A7}"/>
                </a:ext>
              </a:extLst>
            </p:cNvPr>
            <p:cNvSpPr txBox="1"/>
            <p:nvPr/>
          </p:nvSpPr>
          <p:spPr>
            <a:xfrm>
              <a:off x="6916202" y="5096570"/>
              <a:ext cx="1282552" cy="307777"/>
            </a:xfrm>
            <a:prstGeom prst="rect">
              <a:avLst/>
            </a:prstGeom>
            <a:noFill/>
          </p:spPr>
          <p:txBody>
            <a:bodyPr wrap="square">
              <a:spAutoFit/>
            </a:bodyPr>
            <a:lstStyle/>
            <a:p>
              <a:r>
                <a:rPr lang="en-US" sz="1400" i="1" noProof="0" dirty="0">
                  <a:solidFill>
                    <a:srgbClr val="C00000"/>
                  </a:solidFill>
                  <a:latin typeface="Aptos" panose="020B0004020202020204" pitchFamily="34" charset="0"/>
                </a:rPr>
                <a:t>p </a:t>
              </a:r>
              <a:r>
                <a:rPr lang="en-US" sz="1400" noProof="0" dirty="0">
                  <a:solidFill>
                    <a:srgbClr val="C00000"/>
                  </a:solidFill>
                  <a:latin typeface="Aptos" panose="020B0004020202020204" pitchFamily="34" charset="0"/>
                </a:rPr>
                <a:t>variables</a:t>
              </a:r>
            </a:p>
          </p:txBody>
        </p:sp>
        <p:cxnSp>
          <p:nvCxnSpPr>
            <p:cNvPr id="29" name="Google Shape;209;p9">
              <a:extLst>
                <a:ext uri="{FF2B5EF4-FFF2-40B4-BE49-F238E27FC236}">
                  <a16:creationId xmlns:a16="http://schemas.microsoft.com/office/drawing/2014/main" id="{BC31E295-0B62-A2ED-24A0-863971FCD282}"/>
                </a:ext>
              </a:extLst>
            </p:cNvPr>
            <p:cNvCxnSpPr>
              <a:cxnSpLocks/>
            </p:cNvCxnSpPr>
            <p:nvPr/>
          </p:nvCxnSpPr>
          <p:spPr>
            <a:xfrm>
              <a:off x="3571674" y="2656222"/>
              <a:ext cx="0" cy="2262589"/>
            </a:xfrm>
            <a:prstGeom prst="straightConnector1">
              <a:avLst/>
            </a:prstGeom>
            <a:noFill/>
            <a:ln w="9525" cap="flat" cmpd="sng">
              <a:solidFill>
                <a:schemeClr val="bg2">
                  <a:lumMod val="25000"/>
                </a:schemeClr>
              </a:solidFill>
              <a:prstDash val="solid"/>
              <a:round/>
              <a:headEnd type="none" w="sm" len="sm"/>
              <a:tailEnd type="stealth" w="med" len="med"/>
            </a:ln>
          </p:spPr>
        </p:cxnSp>
        <p:cxnSp>
          <p:nvCxnSpPr>
            <p:cNvPr id="30" name="Google Shape;209;p9">
              <a:extLst>
                <a:ext uri="{FF2B5EF4-FFF2-40B4-BE49-F238E27FC236}">
                  <a16:creationId xmlns:a16="http://schemas.microsoft.com/office/drawing/2014/main" id="{FB1CD5E4-19BF-B71D-B7FA-4452FF56F309}"/>
                </a:ext>
              </a:extLst>
            </p:cNvPr>
            <p:cNvCxnSpPr>
              <a:cxnSpLocks/>
            </p:cNvCxnSpPr>
            <p:nvPr/>
          </p:nvCxnSpPr>
          <p:spPr>
            <a:xfrm flipV="1">
              <a:off x="3929056" y="5070407"/>
              <a:ext cx="3872457" cy="2089"/>
            </a:xfrm>
            <a:prstGeom prst="straightConnector1">
              <a:avLst/>
            </a:prstGeom>
            <a:noFill/>
            <a:ln w="9525" cap="flat" cmpd="sng">
              <a:solidFill>
                <a:schemeClr val="bg2">
                  <a:lumMod val="25000"/>
                </a:schemeClr>
              </a:solidFill>
              <a:prstDash val="solid"/>
              <a:round/>
              <a:headEnd type="none" w="sm" len="sm"/>
              <a:tailEnd type="stealth" w="med" len="med"/>
            </a:ln>
          </p:spPr>
        </p:cxnSp>
      </p:grpSp>
      <p:sp>
        <p:nvSpPr>
          <p:cNvPr id="2" name="Google Shape;158;p6">
            <a:extLst>
              <a:ext uri="{FF2B5EF4-FFF2-40B4-BE49-F238E27FC236}">
                <a16:creationId xmlns:a16="http://schemas.microsoft.com/office/drawing/2014/main" id="{DFCEE13F-A700-10FC-1A8E-E35ACF146C6E}"/>
              </a:ext>
            </a:extLst>
          </p:cNvPr>
          <p:cNvSpPr txBox="1"/>
          <p:nvPr/>
        </p:nvSpPr>
        <p:spPr>
          <a:xfrm>
            <a:off x="2032000" y="964017"/>
            <a:ext cx="8128001"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noProof="0" dirty="0">
                <a:solidFill>
                  <a:srgbClr val="2F5496"/>
                </a:solidFill>
                <a:latin typeface="Aptos" panose="020B0004020202020204" pitchFamily="34" charset="0"/>
                <a:ea typeface="Calibri"/>
                <a:cs typeface="Calibri"/>
                <a:sym typeface="Calibri"/>
              </a:rPr>
              <a:t>Data Table</a:t>
            </a:r>
          </a:p>
        </p:txBody>
      </p:sp>
      <p:grpSp>
        <p:nvGrpSpPr>
          <p:cNvPr id="20" name="Group 19">
            <a:extLst>
              <a:ext uri="{FF2B5EF4-FFF2-40B4-BE49-F238E27FC236}">
                <a16:creationId xmlns:a16="http://schemas.microsoft.com/office/drawing/2014/main" id="{33AC618E-FBAB-CAB7-3A81-7E18625F55E8}"/>
              </a:ext>
            </a:extLst>
          </p:cNvPr>
          <p:cNvGrpSpPr/>
          <p:nvPr/>
        </p:nvGrpSpPr>
        <p:grpSpPr>
          <a:xfrm>
            <a:off x="898142" y="6203580"/>
            <a:ext cx="1863495" cy="517895"/>
            <a:chOff x="2808222" y="6127115"/>
            <a:chExt cx="1863495" cy="517895"/>
          </a:xfrm>
        </p:grpSpPr>
        <p:pic>
          <p:nvPicPr>
            <p:cNvPr id="21" name="Picture 2">
              <a:extLst>
                <a:ext uri="{FF2B5EF4-FFF2-40B4-BE49-F238E27FC236}">
                  <a16:creationId xmlns:a16="http://schemas.microsoft.com/office/drawing/2014/main" id="{8E13295D-801A-557F-AA85-EE8FE5905F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A close up of a logo&#10;&#10;AI-generated content may be incorrect.">
              <a:extLst>
                <a:ext uri="{FF2B5EF4-FFF2-40B4-BE49-F238E27FC236}">
                  <a16:creationId xmlns:a16="http://schemas.microsoft.com/office/drawing/2014/main" id="{9C6518CE-293A-A3E2-D55F-27C48B616B0C}"/>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23" name="Slide Number Placeholder 8">
            <a:extLst>
              <a:ext uri="{FF2B5EF4-FFF2-40B4-BE49-F238E27FC236}">
                <a16:creationId xmlns:a16="http://schemas.microsoft.com/office/drawing/2014/main" id="{88B50BC0-E249-522A-C9C3-B09CF775C101}"/>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6</a:t>
            </a:fld>
            <a:endParaRPr lang="en-US" noProof="0" dirty="0"/>
          </a:p>
        </p:txBody>
      </p:sp>
      <p:sp>
        <p:nvSpPr>
          <p:cNvPr id="3" name="Rectangle: Rounded Corners 2">
            <a:extLst>
              <a:ext uri="{FF2B5EF4-FFF2-40B4-BE49-F238E27FC236}">
                <a16:creationId xmlns:a16="http://schemas.microsoft.com/office/drawing/2014/main" id="{91459814-84BD-9707-803C-E5FC5824A1C9}"/>
              </a:ext>
            </a:extLst>
          </p:cNvPr>
          <p:cNvSpPr/>
          <p:nvPr/>
        </p:nvSpPr>
        <p:spPr>
          <a:xfrm>
            <a:off x="3929056" y="2849260"/>
            <a:ext cx="3839070" cy="488537"/>
          </a:xfrm>
          <a:prstGeom prst="roundRect">
            <a:avLst>
              <a:gd name="adj" fmla="val 5906"/>
            </a:avLst>
          </a:prstGeom>
          <a:solidFill>
            <a:srgbClr val="C0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TextBox 6">
            <a:extLst>
              <a:ext uri="{FF2B5EF4-FFF2-40B4-BE49-F238E27FC236}">
                <a16:creationId xmlns:a16="http://schemas.microsoft.com/office/drawing/2014/main" id="{99E03A89-F8F3-F00D-B358-00460C819937}"/>
              </a:ext>
            </a:extLst>
          </p:cNvPr>
          <p:cNvSpPr txBox="1"/>
          <p:nvPr/>
        </p:nvSpPr>
        <p:spPr>
          <a:xfrm>
            <a:off x="8015688" y="2263230"/>
            <a:ext cx="1584177" cy="369332"/>
          </a:xfrm>
          <a:prstGeom prst="rect">
            <a:avLst/>
          </a:prstGeom>
          <a:noFill/>
        </p:spPr>
        <p:txBody>
          <a:bodyPr wrap="square">
            <a:spAutoFit/>
          </a:bodyPr>
          <a:lstStyle/>
          <a:p>
            <a:r>
              <a:rPr lang="en-US" noProof="0" dirty="0">
                <a:solidFill>
                  <a:schemeClr val="bg2">
                    <a:lumMod val="25000"/>
                  </a:schemeClr>
                </a:solidFill>
                <a:latin typeface="Aptos" panose="020B0004020202020204" pitchFamily="34" charset="0"/>
              </a:rPr>
              <a:t>Data point</a:t>
            </a:r>
            <a:endParaRPr lang="en-US" noProof="0" dirty="0">
              <a:solidFill>
                <a:schemeClr val="bg2">
                  <a:lumMod val="25000"/>
                </a:schemeClr>
              </a:solidFill>
            </a:endParaRPr>
          </a:p>
        </p:txBody>
      </p:sp>
      <p:sp>
        <p:nvSpPr>
          <p:cNvPr id="8" name="Rectangle: Rounded Corners 7">
            <a:extLst>
              <a:ext uri="{FF2B5EF4-FFF2-40B4-BE49-F238E27FC236}">
                <a16:creationId xmlns:a16="http://schemas.microsoft.com/office/drawing/2014/main" id="{BD3796AF-4406-141F-CA23-29799ADB2A58}"/>
              </a:ext>
            </a:extLst>
          </p:cNvPr>
          <p:cNvSpPr/>
          <p:nvPr/>
        </p:nvSpPr>
        <p:spPr>
          <a:xfrm rot="5400000">
            <a:off x="3104902" y="3673414"/>
            <a:ext cx="2291134" cy="642827"/>
          </a:xfrm>
          <a:prstGeom prst="roundRect">
            <a:avLst>
              <a:gd name="adj" fmla="val 5906"/>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C77D1829-9E52-C1B7-0117-CCF5659DCC8D}"/>
              </a:ext>
            </a:extLst>
          </p:cNvPr>
          <p:cNvSpPr txBox="1"/>
          <p:nvPr/>
        </p:nvSpPr>
        <p:spPr>
          <a:xfrm>
            <a:off x="2110150" y="2260055"/>
            <a:ext cx="1584177" cy="369332"/>
          </a:xfrm>
          <a:prstGeom prst="rect">
            <a:avLst/>
          </a:prstGeom>
          <a:noFill/>
        </p:spPr>
        <p:txBody>
          <a:bodyPr wrap="square">
            <a:spAutoFit/>
          </a:bodyPr>
          <a:lstStyle/>
          <a:p>
            <a:r>
              <a:rPr lang="en-US" noProof="0" dirty="0">
                <a:solidFill>
                  <a:schemeClr val="bg2">
                    <a:lumMod val="25000"/>
                  </a:schemeClr>
                </a:solidFill>
                <a:latin typeface="Aptos" panose="020B0004020202020204" pitchFamily="34" charset="0"/>
              </a:rPr>
              <a:t>Feature value</a:t>
            </a:r>
            <a:endParaRPr lang="en-US" noProof="0" dirty="0">
              <a:solidFill>
                <a:schemeClr val="bg2">
                  <a:lumMod val="25000"/>
                </a:schemeClr>
              </a:solidFill>
            </a:endParaRPr>
          </a:p>
        </p:txBody>
      </p:sp>
      <p:sp>
        <p:nvSpPr>
          <p:cNvPr id="17" name="TextBox 16">
            <a:extLst>
              <a:ext uri="{FF2B5EF4-FFF2-40B4-BE49-F238E27FC236}">
                <a16:creationId xmlns:a16="http://schemas.microsoft.com/office/drawing/2014/main" id="{CB03AE55-FEA0-CF69-47EA-81F451E0F1F5}"/>
              </a:ext>
            </a:extLst>
          </p:cNvPr>
          <p:cNvSpPr txBox="1"/>
          <p:nvPr/>
        </p:nvSpPr>
        <p:spPr>
          <a:xfrm>
            <a:off x="2187101" y="5365851"/>
            <a:ext cx="1511730" cy="369332"/>
          </a:xfrm>
          <a:prstGeom prst="rect">
            <a:avLst/>
          </a:prstGeom>
          <a:noFill/>
        </p:spPr>
        <p:txBody>
          <a:bodyPr wrap="square">
            <a:spAutoFit/>
          </a:bodyPr>
          <a:lstStyle/>
          <a:p>
            <a:pPr algn="r"/>
            <a:r>
              <a:rPr lang="en-US" noProof="0" dirty="0">
                <a:solidFill>
                  <a:schemeClr val="bg2">
                    <a:lumMod val="25000"/>
                  </a:schemeClr>
                </a:solidFill>
                <a:latin typeface="Aptos" panose="020B0004020202020204" pitchFamily="34" charset="0"/>
              </a:rPr>
              <a:t>Feature</a:t>
            </a:r>
            <a:endParaRPr lang="en-US" noProof="0" dirty="0">
              <a:solidFill>
                <a:schemeClr val="bg2">
                  <a:lumMod val="25000"/>
                </a:schemeClr>
              </a:solidFill>
            </a:endParaRPr>
          </a:p>
        </p:txBody>
      </p:sp>
      <p:sp>
        <p:nvSpPr>
          <p:cNvPr id="33" name="Rectangle: Rounded Corners 32">
            <a:extLst>
              <a:ext uri="{FF2B5EF4-FFF2-40B4-BE49-F238E27FC236}">
                <a16:creationId xmlns:a16="http://schemas.microsoft.com/office/drawing/2014/main" id="{EA78F7B3-5795-1F75-935D-AA2262D7D662}"/>
              </a:ext>
            </a:extLst>
          </p:cNvPr>
          <p:cNvSpPr/>
          <p:nvPr/>
        </p:nvSpPr>
        <p:spPr>
          <a:xfrm rot="5400000">
            <a:off x="4003608" y="2769525"/>
            <a:ext cx="493718" cy="642827"/>
          </a:xfrm>
          <a:prstGeom prst="roundRect">
            <a:avLst>
              <a:gd name="adj" fmla="val 5906"/>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CFDEF3CE-50D1-B0BD-17E9-F7A3BD1D4BD6}"/>
              </a:ext>
            </a:extLst>
          </p:cNvPr>
          <p:cNvGrpSpPr/>
          <p:nvPr/>
        </p:nvGrpSpPr>
        <p:grpSpPr>
          <a:xfrm flipH="1" flipV="1">
            <a:off x="3617765" y="2443424"/>
            <a:ext cx="321986" cy="412282"/>
            <a:chOff x="9120822" y="4534650"/>
            <a:chExt cx="321986" cy="412282"/>
          </a:xfrm>
        </p:grpSpPr>
        <p:cxnSp>
          <p:nvCxnSpPr>
            <p:cNvPr id="9" name="Straight Connector 8">
              <a:extLst>
                <a:ext uri="{FF2B5EF4-FFF2-40B4-BE49-F238E27FC236}">
                  <a16:creationId xmlns:a16="http://schemas.microsoft.com/office/drawing/2014/main" id="{C7DD0281-DF0D-D824-EE7C-397703F51A30}"/>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25865C93-DA7A-3E0F-053D-B2CD70E94E00}"/>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nvGrpSpPr>
          <p:cNvPr id="26" name="Group 25">
            <a:extLst>
              <a:ext uri="{FF2B5EF4-FFF2-40B4-BE49-F238E27FC236}">
                <a16:creationId xmlns:a16="http://schemas.microsoft.com/office/drawing/2014/main" id="{2F678950-3B2F-3D50-E938-B6BFB30F9E7C}"/>
              </a:ext>
            </a:extLst>
          </p:cNvPr>
          <p:cNvGrpSpPr/>
          <p:nvPr/>
        </p:nvGrpSpPr>
        <p:grpSpPr>
          <a:xfrm flipH="1">
            <a:off x="3619697" y="5141647"/>
            <a:ext cx="321986" cy="412282"/>
            <a:chOff x="9120822" y="4534650"/>
            <a:chExt cx="321986" cy="412282"/>
          </a:xfrm>
        </p:grpSpPr>
        <p:cxnSp>
          <p:nvCxnSpPr>
            <p:cNvPr id="35" name="Straight Connector 34">
              <a:extLst>
                <a:ext uri="{FF2B5EF4-FFF2-40B4-BE49-F238E27FC236}">
                  <a16:creationId xmlns:a16="http://schemas.microsoft.com/office/drawing/2014/main" id="{A82BB829-716E-5154-5A90-DDBF10D861EA}"/>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95DC81B9-2AF4-504B-7AF0-8218FF150FE3}"/>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nvGrpSpPr>
          <p:cNvPr id="38" name="Group 37">
            <a:extLst>
              <a:ext uri="{FF2B5EF4-FFF2-40B4-BE49-F238E27FC236}">
                <a16:creationId xmlns:a16="http://schemas.microsoft.com/office/drawing/2014/main" id="{579B9BF0-7C52-403D-3203-4165364A06FB}"/>
              </a:ext>
            </a:extLst>
          </p:cNvPr>
          <p:cNvGrpSpPr/>
          <p:nvPr/>
        </p:nvGrpSpPr>
        <p:grpSpPr>
          <a:xfrm flipV="1">
            <a:off x="7763461" y="2450553"/>
            <a:ext cx="321986" cy="412282"/>
            <a:chOff x="9120822" y="4534650"/>
            <a:chExt cx="321986" cy="412282"/>
          </a:xfrm>
        </p:grpSpPr>
        <p:cxnSp>
          <p:nvCxnSpPr>
            <p:cNvPr id="40" name="Straight Connector 39">
              <a:extLst>
                <a:ext uri="{FF2B5EF4-FFF2-40B4-BE49-F238E27FC236}">
                  <a16:creationId xmlns:a16="http://schemas.microsoft.com/office/drawing/2014/main" id="{D258292F-131D-9DBC-0718-41FD09A9AA4A}"/>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EEB5034F-DA4C-C15F-160F-99F67FEEC710}"/>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430365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73E2-AB67-822D-B4A4-E05966F8C6A9}"/>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8D29BAB0-2139-C1FB-EB05-AAF523B8708C}"/>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7</a:t>
            </a:fld>
            <a:endParaRPr lang="en-US" noProof="0" dirty="0"/>
          </a:p>
        </p:txBody>
      </p:sp>
      <p:grpSp>
        <p:nvGrpSpPr>
          <p:cNvPr id="34" name="Group 33">
            <a:extLst>
              <a:ext uri="{FF2B5EF4-FFF2-40B4-BE49-F238E27FC236}">
                <a16:creationId xmlns:a16="http://schemas.microsoft.com/office/drawing/2014/main" id="{C835198A-E139-8582-B637-DD0CF120AAC2}"/>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F9CD379D-86B2-01E5-4688-5C9D82409F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60F1642B-ACBD-66C5-173E-5FE829CC8E89}"/>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aphicFrame>
        <p:nvGraphicFramePr>
          <p:cNvPr id="2" name="Table 1">
            <a:extLst>
              <a:ext uri="{FF2B5EF4-FFF2-40B4-BE49-F238E27FC236}">
                <a16:creationId xmlns:a16="http://schemas.microsoft.com/office/drawing/2014/main" id="{3C7608CF-A0F4-9F3C-ED05-BF8EBB7CE0B2}"/>
              </a:ext>
            </a:extLst>
          </p:cNvPr>
          <p:cNvGraphicFramePr>
            <a:graphicFrameLocks noGrp="1"/>
          </p:cNvGraphicFramePr>
          <p:nvPr>
            <p:extLst>
              <p:ext uri="{D42A27DB-BD31-4B8C-83A1-F6EECF244321}">
                <p14:modId xmlns:p14="http://schemas.microsoft.com/office/powerpoint/2010/main" val="3858889938"/>
              </p:ext>
            </p:extLst>
          </p:nvPr>
        </p:nvGraphicFramePr>
        <p:xfrm>
          <a:off x="1559778" y="1493520"/>
          <a:ext cx="9040912" cy="3870960"/>
        </p:xfrm>
        <a:graphic>
          <a:graphicData uri="http://schemas.openxmlformats.org/drawingml/2006/table">
            <a:tbl>
              <a:tblPr firstRow="1" bandRow="1">
                <a:tableStyleId>{5C22544A-7EE6-4342-B048-85BDC9FD1C3A}</a:tableStyleId>
              </a:tblPr>
              <a:tblGrid>
                <a:gridCol w="1804267">
                  <a:extLst>
                    <a:ext uri="{9D8B030D-6E8A-4147-A177-3AD203B41FA5}">
                      <a16:colId xmlns:a16="http://schemas.microsoft.com/office/drawing/2014/main" val="1058555330"/>
                    </a:ext>
                  </a:extLst>
                </a:gridCol>
                <a:gridCol w="2412215">
                  <a:extLst>
                    <a:ext uri="{9D8B030D-6E8A-4147-A177-3AD203B41FA5}">
                      <a16:colId xmlns:a16="http://schemas.microsoft.com/office/drawing/2014/main" val="660335785"/>
                    </a:ext>
                  </a:extLst>
                </a:gridCol>
                <a:gridCol w="2412215">
                  <a:extLst>
                    <a:ext uri="{9D8B030D-6E8A-4147-A177-3AD203B41FA5}">
                      <a16:colId xmlns:a16="http://schemas.microsoft.com/office/drawing/2014/main" val="2281043628"/>
                    </a:ext>
                  </a:extLst>
                </a:gridCol>
                <a:gridCol w="2412215">
                  <a:extLst>
                    <a:ext uri="{9D8B030D-6E8A-4147-A177-3AD203B41FA5}">
                      <a16:colId xmlns:a16="http://schemas.microsoft.com/office/drawing/2014/main" val="3802168303"/>
                    </a:ext>
                  </a:extLst>
                </a:gridCol>
              </a:tblGrid>
              <a:tr h="370840">
                <a:tc>
                  <a:txBody>
                    <a:bodyPr/>
                    <a:lstStyle/>
                    <a:p>
                      <a:endParaRPr lang="en-US" sz="2000" b="1" i="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Context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Meaning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Example</a:t>
                      </a:r>
                      <a:endParaRPr lang="en-US" sz="8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8034327"/>
                  </a:ext>
                </a:extLst>
              </a:tr>
              <a:tr h="370840">
                <a:tc>
                  <a:txBody>
                    <a:bodyPr/>
                    <a:lstStyle/>
                    <a:p>
                      <a:endParaRPr lang="en-US" sz="800" b="1" i="0" noProof="0" dirty="0">
                        <a:solidFill>
                          <a:schemeClr val="bg2">
                            <a:lumMod val="25000"/>
                          </a:schemeClr>
                        </a:solidFill>
                        <a:latin typeface="Aptos" panose="020B0004020202020204" pitchFamily="34" charset="0"/>
                        <a:cs typeface="Times New Roman" panose="02020603050405020304" pitchFamily="18" charset="0"/>
                      </a:endParaRPr>
                    </a:p>
                    <a:p>
                      <a:r>
                        <a:rPr lang="en-US" sz="1400" b="1" i="0" noProof="0" dirty="0">
                          <a:solidFill>
                            <a:schemeClr val="bg2">
                              <a:lumMod val="25000"/>
                            </a:schemeClr>
                          </a:solidFill>
                          <a:latin typeface="Aptos" panose="020B0004020202020204" pitchFamily="34" charset="0"/>
                          <a:cs typeface="Times New Roman" panose="02020603050405020304" pitchFamily="18" charset="0"/>
                        </a:rPr>
                        <a:t>Attribute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2">
                              <a:lumMod val="25000"/>
                            </a:schemeClr>
                          </a:solidFill>
                          <a:latin typeface="Aptos" panose="020B0004020202020204" pitchFamily="34" charset="0"/>
                        </a:rPr>
                        <a:t>Databases, descriptive modeling</a:t>
                      </a:r>
                      <a:endParaRPr lang="en-US" sz="14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800" noProof="0" dirty="0">
                        <a:solidFill>
                          <a:schemeClr val="bg2">
                            <a:lumMod val="25000"/>
                          </a:schemeClr>
                        </a:solidFill>
                        <a:latin typeface="Aptos" panose="020B00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A property or characteristic of an entity, often categorical or descriptive.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In a patient record: blood type, gender, age group.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6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Variable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Statistics, mathematics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A measurable quantity that can take different values. Broad umbrella term.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𝑋 = systolic blood pressure, </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𝑌 = cholesterol level.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03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Predictor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Regression, supervised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A variable used specifically to explain or predict an outcome (dependent variable).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In cancer risk modeling: smoking status, genetic mutation presence.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9868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Feature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Machine learning, AI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A representation of data used by algorithms. Can be raw variables or engineered transformations.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Word embeddings, principal components, normalized BMI.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967683"/>
                  </a:ext>
                </a:extLst>
              </a:tr>
            </a:tbl>
          </a:graphicData>
        </a:graphic>
      </p:graphicFrame>
    </p:spTree>
    <p:extLst>
      <p:ext uri="{BB962C8B-B14F-4D97-AF65-F5344CB8AC3E}">
        <p14:creationId xmlns:p14="http://schemas.microsoft.com/office/powerpoint/2010/main" val="2469558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62A37-877D-BC95-5DD0-6EB2BC76FBE2}"/>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00700157-A00C-F8EB-BF33-45B6B0129696}"/>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8</a:t>
            </a:fld>
            <a:endParaRPr lang="en-US" noProof="0" dirty="0"/>
          </a:p>
        </p:txBody>
      </p:sp>
      <p:grpSp>
        <p:nvGrpSpPr>
          <p:cNvPr id="34" name="Group 33">
            <a:extLst>
              <a:ext uri="{FF2B5EF4-FFF2-40B4-BE49-F238E27FC236}">
                <a16:creationId xmlns:a16="http://schemas.microsoft.com/office/drawing/2014/main" id="{6AF32867-3F37-3BB3-ACE4-7C443430D0D7}"/>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9878326D-8CA0-8ECE-4F95-0393B9CD11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A8AADBF8-01FD-B4F3-9A0B-C34F914069A3}"/>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4" name="TextBox 3">
            <a:extLst>
              <a:ext uri="{FF2B5EF4-FFF2-40B4-BE49-F238E27FC236}">
                <a16:creationId xmlns:a16="http://schemas.microsoft.com/office/drawing/2014/main" id="{83394963-E6EB-D73A-7E88-D17A4BB18860}"/>
              </a:ext>
            </a:extLst>
          </p:cNvPr>
          <p:cNvSpPr txBox="1"/>
          <p:nvPr/>
        </p:nvSpPr>
        <p:spPr>
          <a:xfrm>
            <a:off x="2072660" y="2016567"/>
            <a:ext cx="2689239"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Billy         Suzy                       Jenny</a:t>
            </a:r>
          </a:p>
        </p:txBody>
      </p:sp>
      <p:sp>
        <p:nvSpPr>
          <p:cNvPr id="5" name="TextBox 4">
            <a:extLst>
              <a:ext uri="{FF2B5EF4-FFF2-40B4-BE49-F238E27FC236}">
                <a16:creationId xmlns:a16="http://schemas.microsoft.com/office/drawing/2014/main" id="{CC7B20C5-4188-B35A-C995-3C19E15C123A}"/>
              </a:ext>
            </a:extLst>
          </p:cNvPr>
          <p:cNvSpPr txBox="1"/>
          <p:nvPr/>
        </p:nvSpPr>
        <p:spPr>
          <a:xfrm rot="5400000">
            <a:off x="4994705" y="3059920"/>
            <a:ext cx="1599070" cy="369332"/>
          </a:xfrm>
          <a:prstGeom prst="rect">
            <a:avLst/>
          </a:prstGeom>
          <a:noFill/>
        </p:spPr>
        <p:txBody>
          <a:bodyPr wrap="square">
            <a:spAutoFit/>
          </a:bodyPr>
          <a:lstStyle/>
          <a:p>
            <a:r>
              <a:rPr lang="en-US" noProof="0" dirty="0">
                <a:solidFill>
                  <a:schemeClr val="accent1">
                    <a:lumMod val="75000"/>
                  </a:schemeClr>
                </a:solidFill>
                <a:latin typeface="Aptos" panose="020B0004020202020204" pitchFamily="34" charset="0"/>
              </a:rPr>
              <a:t>Observations</a:t>
            </a:r>
          </a:p>
        </p:txBody>
      </p:sp>
      <p:grpSp>
        <p:nvGrpSpPr>
          <p:cNvPr id="61" name="Group 60">
            <a:extLst>
              <a:ext uri="{FF2B5EF4-FFF2-40B4-BE49-F238E27FC236}">
                <a16:creationId xmlns:a16="http://schemas.microsoft.com/office/drawing/2014/main" id="{D0D3E3B2-6495-16C7-3C99-AE7EC5A35D59}"/>
              </a:ext>
            </a:extLst>
          </p:cNvPr>
          <p:cNvGrpSpPr/>
          <p:nvPr/>
        </p:nvGrpSpPr>
        <p:grpSpPr>
          <a:xfrm>
            <a:off x="1470734" y="2294566"/>
            <a:ext cx="3386327" cy="2122691"/>
            <a:chOff x="1134573" y="2538299"/>
            <a:chExt cx="3386327" cy="2122691"/>
          </a:xfrm>
        </p:grpSpPr>
        <p:sp>
          <p:nvSpPr>
            <p:cNvPr id="7" name="TextBox 6">
              <a:extLst>
                <a:ext uri="{FF2B5EF4-FFF2-40B4-BE49-F238E27FC236}">
                  <a16:creationId xmlns:a16="http://schemas.microsoft.com/office/drawing/2014/main" id="{FA616360-CD62-7724-4440-E353F6C19770}"/>
                </a:ext>
              </a:extLst>
            </p:cNvPr>
            <p:cNvSpPr txBox="1"/>
            <p:nvPr/>
          </p:nvSpPr>
          <p:spPr>
            <a:xfrm>
              <a:off x="3671820" y="4414769"/>
              <a:ext cx="796146"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p </a:t>
              </a:r>
              <a:r>
                <a:rPr lang="en-US" sz="1000" noProof="0" dirty="0">
                  <a:solidFill>
                    <a:srgbClr val="C00000"/>
                  </a:solidFill>
                  <a:latin typeface="Aptos" panose="020B0004020202020204" pitchFamily="34" charset="0"/>
                </a:rPr>
                <a:t>variables</a:t>
              </a:r>
            </a:p>
          </p:txBody>
        </p:sp>
        <p:cxnSp>
          <p:nvCxnSpPr>
            <p:cNvPr id="9" name="Google Shape;209;p9">
              <a:extLst>
                <a:ext uri="{FF2B5EF4-FFF2-40B4-BE49-F238E27FC236}">
                  <a16:creationId xmlns:a16="http://schemas.microsoft.com/office/drawing/2014/main" id="{A1FCEC44-9C0A-7932-4CDB-626F8877B049}"/>
                </a:ext>
              </a:extLst>
            </p:cNvPr>
            <p:cNvCxnSpPr>
              <a:cxnSpLocks/>
            </p:cNvCxnSpPr>
            <p:nvPr/>
          </p:nvCxnSpPr>
          <p:spPr>
            <a:xfrm>
              <a:off x="1889415" y="4385828"/>
              <a:ext cx="2423681" cy="0"/>
            </a:xfrm>
            <a:prstGeom prst="straightConnector1">
              <a:avLst/>
            </a:prstGeom>
            <a:noFill/>
            <a:ln w="9525" cap="flat" cmpd="sng">
              <a:solidFill>
                <a:schemeClr val="bg2">
                  <a:lumMod val="25000"/>
                </a:schemeClr>
              </a:solidFill>
              <a:prstDash val="solid"/>
              <a:round/>
              <a:headEnd type="none" w="sm" len="sm"/>
              <a:tailEnd type="stealth" w="med" len="med"/>
            </a:ln>
          </p:spPr>
        </p:cxnSp>
        <p:grpSp>
          <p:nvGrpSpPr>
            <p:cNvPr id="60" name="Group 59">
              <a:extLst>
                <a:ext uri="{FF2B5EF4-FFF2-40B4-BE49-F238E27FC236}">
                  <a16:creationId xmlns:a16="http://schemas.microsoft.com/office/drawing/2014/main" id="{245C4292-16D1-1474-3885-83A06A65D8CC}"/>
                </a:ext>
              </a:extLst>
            </p:cNvPr>
            <p:cNvGrpSpPr/>
            <p:nvPr/>
          </p:nvGrpSpPr>
          <p:grpSpPr>
            <a:xfrm>
              <a:off x="1134573" y="2538299"/>
              <a:ext cx="3386327" cy="1909510"/>
              <a:chOff x="1134573" y="2538299"/>
              <a:chExt cx="3386327" cy="1909510"/>
            </a:xfrm>
          </p:grpSpPr>
          <p:sp>
            <p:nvSpPr>
              <p:cNvPr id="6" name="TextBox 5">
                <a:extLst>
                  <a:ext uri="{FF2B5EF4-FFF2-40B4-BE49-F238E27FC236}">
                    <a16:creationId xmlns:a16="http://schemas.microsoft.com/office/drawing/2014/main" id="{08283EE6-5378-777B-9CA8-85FD7EEB7EED}"/>
                  </a:ext>
                </a:extLst>
              </p:cNvPr>
              <p:cNvSpPr txBox="1"/>
              <p:nvPr/>
            </p:nvSpPr>
            <p:spPr>
              <a:xfrm rot="16200000">
                <a:off x="780630" y="2892768"/>
                <a:ext cx="954108"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n </a:t>
                </a:r>
                <a:r>
                  <a:rPr lang="en-US" sz="1000" noProof="0" dirty="0">
                    <a:solidFill>
                      <a:srgbClr val="C00000"/>
                    </a:solidFill>
                    <a:latin typeface="Aptos" panose="020B0004020202020204" pitchFamily="34" charset="0"/>
                  </a:rPr>
                  <a:t>data points</a:t>
                </a:r>
              </a:p>
            </p:txBody>
          </p:sp>
          <p:cxnSp>
            <p:nvCxnSpPr>
              <p:cNvPr id="8" name="Google Shape;209;p9">
                <a:extLst>
                  <a:ext uri="{FF2B5EF4-FFF2-40B4-BE49-F238E27FC236}">
                    <a16:creationId xmlns:a16="http://schemas.microsoft.com/office/drawing/2014/main" id="{2A0D53F6-96F0-D7AB-54FB-A32A34F99FF7}"/>
                  </a:ext>
                </a:extLst>
              </p:cNvPr>
              <p:cNvCxnSpPr>
                <a:cxnSpLocks/>
              </p:cNvCxnSpPr>
              <p:nvPr/>
            </p:nvCxnSpPr>
            <p:spPr>
              <a:xfrm>
                <a:off x="1388253" y="2716579"/>
                <a:ext cx="0" cy="1552708"/>
              </a:xfrm>
              <a:prstGeom prst="straightConnector1">
                <a:avLst/>
              </a:prstGeom>
              <a:noFill/>
              <a:ln w="9525" cap="flat" cmpd="sng">
                <a:solidFill>
                  <a:schemeClr val="bg2">
                    <a:lumMod val="25000"/>
                  </a:schemeClr>
                </a:solidFill>
                <a:prstDash val="solid"/>
                <a:round/>
                <a:headEnd type="none" w="sm" len="sm"/>
                <a:tailEnd type="stealth" w="med" len="med"/>
              </a:ln>
            </p:spPr>
          </p:cxnSp>
          <p:pic>
            <p:nvPicPr>
              <p:cNvPr id="18" name="Picture 17">
                <a:extLst>
                  <a:ext uri="{FF2B5EF4-FFF2-40B4-BE49-F238E27FC236}">
                    <a16:creationId xmlns:a16="http://schemas.microsoft.com/office/drawing/2014/main" id="{35E83C21-5DA2-59CA-DC3D-3D17128D8531}"/>
                  </a:ext>
                </a:extLst>
              </p:cNvPr>
              <p:cNvPicPr>
                <a:picLocks noChangeAspect="1"/>
              </p:cNvPicPr>
              <p:nvPr/>
            </p:nvPicPr>
            <p:blipFill rotWithShape="1">
              <a:blip r:embed="rId6"/>
              <a:srcRect l="94120"/>
              <a:stretch>
                <a:fillRect/>
              </a:stretch>
            </p:blipFill>
            <p:spPr>
              <a:xfrm>
                <a:off x="4298229" y="2545365"/>
                <a:ext cx="222671" cy="1902444"/>
              </a:xfrm>
              <a:prstGeom prst="rect">
                <a:avLst/>
              </a:prstGeom>
            </p:spPr>
          </p:pic>
          <p:pic>
            <p:nvPicPr>
              <p:cNvPr id="19" name="Picture 18">
                <a:extLst>
                  <a:ext uri="{FF2B5EF4-FFF2-40B4-BE49-F238E27FC236}">
                    <a16:creationId xmlns:a16="http://schemas.microsoft.com/office/drawing/2014/main" id="{E5B25009-FA85-1516-8FB2-E75FF3D272CC}"/>
                  </a:ext>
                </a:extLst>
              </p:cNvPr>
              <p:cNvPicPr>
                <a:picLocks noChangeAspect="1"/>
              </p:cNvPicPr>
              <p:nvPr/>
            </p:nvPicPr>
            <p:blipFill rotWithShape="1">
              <a:blip r:embed="rId6"/>
              <a:srcRect l="23678" r="71504"/>
              <a:stretch>
                <a:fillRect/>
              </a:stretch>
            </p:blipFill>
            <p:spPr>
              <a:xfrm>
                <a:off x="1457085" y="2538299"/>
                <a:ext cx="182452" cy="1902444"/>
              </a:xfrm>
              <a:prstGeom prst="rect">
                <a:avLst/>
              </a:prstGeom>
            </p:spPr>
          </p:pic>
        </p:grpSp>
      </p:grpSp>
      <p:sp>
        <p:nvSpPr>
          <p:cNvPr id="20" name="TextBox 19">
            <a:extLst>
              <a:ext uri="{FF2B5EF4-FFF2-40B4-BE49-F238E27FC236}">
                <a16:creationId xmlns:a16="http://schemas.microsoft.com/office/drawing/2014/main" id="{9D522AC1-52BA-C926-B97A-0F4013615018}"/>
              </a:ext>
            </a:extLst>
          </p:cNvPr>
          <p:cNvSpPr txBox="1"/>
          <p:nvPr/>
        </p:nvSpPr>
        <p:spPr>
          <a:xfrm>
            <a:off x="4922695" y="2509010"/>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Quiz 1</a:t>
            </a:r>
          </a:p>
        </p:txBody>
      </p:sp>
      <p:sp>
        <p:nvSpPr>
          <p:cNvPr id="21" name="TextBox 20">
            <a:extLst>
              <a:ext uri="{FF2B5EF4-FFF2-40B4-BE49-F238E27FC236}">
                <a16:creationId xmlns:a16="http://schemas.microsoft.com/office/drawing/2014/main" id="{2CA51965-19F5-5032-6B4B-68F72782DA48}"/>
              </a:ext>
            </a:extLst>
          </p:cNvPr>
          <p:cNvSpPr txBox="1"/>
          <p:nvPr/>
        </p:nvSpPr>
        <p:spPr>
          <a:xfrm>
            <a:off x="2072660" y="1708790"/>
            <a:ext cx="2302988" cy="369332"/>
          </a:xfrm>
          <a:prstGeom prst="rect">
            <a:avLst/>
          </a:prstGeom>
          <a:noFill/>
        </p:spPr>
        <p:txBody>
          <a:bodyPr wrap="square">
            <a:spAutoFit/>
          </a:bodyPr>
          <a:lstStyle/>
          <a:p>
            <a:r>
              <a:rPr lang="en-US" noProof="0" dirty="0">
                <a:solidFill>
                  <a:schemeClr val="accent1">
                    <a:lumMod val="75000"/>
                  </a:schemeClr>
                </a:solidFill>
                <a:latin typeface="Aptos" panose="020B0004020202020204" pitchFamily="34" charset="0"/>
              </a:rPr>
              <a:t>Attributes</a:t>
            </a:r>
          </a:p>
        </p:txBody>
      </p:sp>
      <p:grpSp>
        <p:nvGrpSpPr>
          <p:cNvPr id="41" name="Group 40">
            <a:extLst>
              <a:ext uri="{FF2B5EF4-FFF2-40B4-BE49-F238E27FC236}">
                <a16:creationId xmlns:a16="http://schemas.microsoft.com/office/drawing/2014/main" id="{808347C3-9D98-F345-CFC1-524A0432E046}"/>
              </a:ext>
            </a:extLst>
          </p:cNvPr>
          <p:cNvGrpSpPr/>
          <p:nvPr/>
        </p:nvGrpSpPr>
        <p:grpSpPr>
          <a:xfrm>
            <a:off x="2044510" y="2447455"/>
            <a:ext cx="499238" cy="1471556"/>
            <a:chOff x="1708349" y="2691188"/>
            <a:chExt cx="499238" cy="1471556"/>
          </a:xfrm>
        </p:grpSpPr>
        <p:sp>
          <p:nvSpPr>
            <p:cNvPr id="24" name="TextBox 23">
              <a:extLst>
                <a:ext uri="{FF2B5EF4-FFF2-40B4-BE49-F238E27FC236}">
                  <a16:creationId xmlns:a16="http://schemas.microsoft.com/office/drawing/2014/main" id="{E9F0C6AF-BDA4-265F-107E-BC5921E6A688}"/>
                </a:ext>
              </a:extLst>
            </p:cNvPr>
            <p:cNvSpPr txBox="1"/>
            <p:nvPr/>
          </p:nvSpPr>
          <p:spPr>
            <a:xfrm>
              <a:off x="1708349" y="26911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F35AD25-C43E-48EE-F13E-B158BF651160}"/>
                </a:ext>
              </a:extLst>
            </p:cNvPr>
            <p:cNvSpPr txBox="1"/>
            <p:nvPr/>
          </p:nvSpPr>
          <p:spPr>
            <a:xfrm>
              <a:off x="1708349" y="30460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D</a:t>
              </a:r>
              <a:endParaRPr lang="en-US" i="1"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041BB91-4CDA-EBA4-6A00-51057D44E682}"/>
                </a:ext>
              </a:extLst>
            </p:cNvPr>
            <p:cNvSpPr txBox="1"/>
            <p:nvPr/>
          </p:nvSpPr>
          <p:spPr>
            <a:xfrm>
              <a:off x="1708349" y="37934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C</a:t>
              </a:r>
              <a:endParaRPr lang="en-US" i="1" dirty="0">
                <a:latin typeface="Times New Roman" panose="02020603050405020304" pitchFamily="18" charset="0"/>
                <a:cs typeface="Times New Roman" panose="02020603050405020304" pitchFamily="18" charset="0"/>
              </a:endParaRPr>
            </a:p>
          </p:txBody>
        </p:sp>
        <p:pic>
          <p:nvPicPr>
            <p:cNvPr id="28" name="Picture 27" descr="A black dot on a white background&#10;&#10;AI-generated content may be incorrect.">
              <a:extLst>
                <a:ext uri="{FF2B5EF4-FFF2-40B4-BE49-F238E27FC236}">
                  <a16:creationId xmlns:a16="http://schemas.microsoft.com/office/drawing/2014/main" id="{7B0A9B41-9612-6F3A-B9D8-07609ECB50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6476" y="3415397"/>
              <a:ext cx="202984" cy="405967"/>
            </a:xfrm>
            <a:prstGeom prst="rect">
              <a:avLst/>
            </a:prstGeom>
          </p:spPr>
        </p:pic>
      </p:grpSp>
      <p:sp>
        <p:nvSpPr>
          <p:cNvPr id="29" name="TextBox 28">
            <a:extLst>
              <a:ext uri="{FF2B5EF4-FFF2-40B4-BE49-F238E27FC236}">
                <a16:creationId xmlns:a16="http://schemas.microsoft.com/office/drawing/2014/main" id="{1C7E0621-0681-75E3-D0E0-6E5DE3B0C83C}"/>
              </a:ext>
            </a:extLst>
          </p:cNvPr>
          <p:cNvSpPr txBox="1"/>
          <p:nvPr/>
        </p:nvSpPr>
        <p:spPr>
          <a:xfrm>
            <a:off x="4922695" y="2863887"/>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Test 1</a:t>
            </a:r>
          </a:p>
        </p:txBody>
      </p:sp>
      <p:sp>
        <p:nvSpPr>
          <p:cNvPr id="30" name="TextBox 29">
            <a:extLst>
              <a:ext uri="{FF2B5EF4-FFF2-40B4-BE49-F238E27FC236}">
                <a16:creationId xmlns:a16="http://schemas.microsoft.com/office/drawing/2014/main" id="{2F961E77-3834-A0DE-ABE4-E10880FB9923}"/>
              </a:ext>
            </a:extLst>
          </p:cNvPr>
          <p:cNvSpPr txBox="1"/>
          <p:nvPr/>
        </p:nvSpPr>
        <p:spPr>
          <a:xfrm>
            <a:off x="4922695" y="3611234"/>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Quiz 2</a:t>
            </a:r>
          </a:p>
        </p:txBody>
      </p:sp>
      <p:pic>
        <p:nvPicPr>
          <p:cNvPr id="31" name="Picture 30" descr="A black dot on a white background&#10;&#10;AI-generated content may be incorrect.">
            <a:extLst>
              <a:ext uri="{FF2B5EF4-FFF2-40B4-BE49-F238E27FC236}">
                <a16:creationId xmlns:a16="http://schemas.microsoft.com/office/drawing/2014/main" id="{D06FF89E-EE40-445B-E93B-34DB240315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32552" y="3171664"/>
            <a:ext cx="202984" cy="405967"/>
          </a:xfrm>
          <a:prstGeom prst="rect">
            <a:avLst/>
          </a:prstGeom>
        </p:spPr>
      </p:pic>
      <p:grpSp>
        <p:nvGrpSpPr>
          <p:cNvPr id="40" name="Group 39">
            <a:extLst>
              <a:ext uri="{FF2B5EF4-FFF2-40B4-BE49-F238E27FC236}">
                <a16:creationId xmlns:a16="http://schemas.microsoft.com/office/drawing/2014/main" id="{BFC912C6-3BA2-F0BB-7EEE-D9E7AD48A1F2}"/>
              </a:ext>
            </a:extLst>
          </p:cNvPr>
          <p:cNvGrpSpPr/>
          <p:nvPr/>
        </p:nvGrpSpPr>
        <p:grpSpPr>
          <a:xfrm>
            <a:off x="2681337" y="2447455"/>
            <a:ext cx="499238" cy="1471556"/>
            <a:chOff x="2345176" y="2738288"/>
            <a:chExt cx="499238" cy="1471556"/>
          </a:xfrm>
        </p:grpSpPr>
        <p:sp>
          <p:nvSpPr>
            <p:cNvPr id="32" name="TextBox 31">
              <a:extLst>
                <a:ext uri="{FF2B5EF4-FFF2-40B4-BE49-F238E27FC236}">
                  <a16:creationId xmlns:a16="http://schemas.microsoft.com/office/drawing/2014/main" id="{000E420C-55A6-547F-948E-1C6457478318}"/>
                </a:ext>
              </a:extLst>
            </p:cNvPr>
            <p:cNvSpPr txBox="1"/>
            <p:nvPr/>
          </p:nvSpPr>
          <p:spPr>
            <a:xfrm>
              <a:off x="2345176" y="27382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F</a:t>
              </a:r>
              <a:endParaRPr lang="en-US" i="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B7A41E9-4482-27F3-FF2C-03F32C848123}"/>
                </a:ext>
              </a:extLst>
            </p:cNvPr>
            <p:cNvSpPr txBox="1"/>
            <p:nvPr/>
          </p:nvSpPr>
          <p:spPr>
            <a:xfrm>
              <a:off x="2345176" y="30931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7BBCD251-8D08-DFF1-7C48-43089FEC7B65}"/>
                </a:ext>
              </a:extLst>
            </p:cNvPr>
            <p:cNvSpPr txBox="1"/>
            <p:nvPr/>
          </p:nvSpPr>
          <p:spPr>
            <a:xfrm>
              <a:off x="2345176" y="38405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pic>
          <p:nvPicPr>
            <p:cNvPr id="39" name="Picture 38" descr="A black dot on a white background&#10;&#10;AI-generated content may be incorrect.">
              <a:extLst>
                <a:ext uri="{FF2B5EF4-FFF2-40B4-BE49-F238E27FC236}">
                  <a16:creationId xmlns:a16="http://schemas.microsoft.com/office/drawing/2014/main" id="{FC0CA8A4-9FF2-FE2B-4FC0-B721C59864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93303" y="3462497"/>
              <a:ext cx="202984" cy="405967"/>
            </a:xfrm>
            <a:prstGeom prst="rect">
              <a:avLst/>
            </a:prstGeom>
          </p:spPr>
        </p:pic>
      </p:grpSp>
      <p:pic>
        <p:nvPicPr>
          <p:cNvPr id="42" name="Picture 41" descr="A black dot on a white background&#10;&#10;AI-generated content may be incorrect.">
            <a:extLst>
              <a:ext uri="{FF2B5EF4-FFF2-40B4-BE49-F238E27FC236}">
                <a16:creationId xmlns:a16="http://schemas.microsoft.com/office/drawing/2014/main" id="{3507E9ED-838F-3A7C-D8F5-FAB9A8A86B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3523732" y="1969876"/>
            <a:ext cx="202984" cy="405967"/>
          </a:xfrm>
          <a:prstGeom prst="rect">
            <a:avLst/>
          </a:prstGeom>
        </p:spPr>
      </p:pic>
      <p:grpSp>
        <p:nvGrpSpPr>
          <p:cNvPr id="43" name="Group 42">
            <a:extLst>
              <a:ext uri="{FF2B5EF4-FFF2-40B4-BE49-F238E27FC236}">
                <a16:creationId xmlns:a16="http://schemas.microsoft.com/office/drawing/2014/main" id="{E9BABF4C-B1E5-6B32-300B-B0367165E613}"/>
              </a:ext>
            </a:extLst>
          </p:cNvPr>
          <p:cNvGrpSpPr/>
          <p:nvPr/>
        </p:nvGrpSpPr>
        <p:grpSpPr>
          <a:xfrm>
            <a:off x="3928056" y="2447455"/>
            <a:ext cx="499238" cy="1471556"/>
            <a:chOff x="2345176" y="2738288"/>
            <a:chExt cx="499238" cy="1471556"/>
          </a:xfrm>
        </p:grpSpPr>
        <p:sp>
          <p:nvSpPr>
            <p:cNvPr id="44" name="TextBox 43">
              <a:extLst>
                <a:ext uri="{FF2B5EF4-FFF2-40B4-BE49-F238E27FC236}">
                  <a16:creationId xmlns:a16="http://schemas.microsoft.com/office/drawing/2014/main" id="{FC651F54-6E92-77D2-2D8F-88D522DA1ABB}"/>
                </a:ext>
              </a:extLst>
            </p:cNvPr>
            <p:cNvSpPr txBox="1"/>
            <p:nvPr/>
          </p:nvSpPr>
          <p:spPr>
            <a:xfrm>
              <a:off x="2345176" y="27382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A</a:t>
              </a:r>
              <a:endParaRPr lang="en-US" i="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744D174C-C191-EA8F-FFB2-9311B6E62B43}"/>
                </a:ext>
              </a:extLst>
            </p:cNvPr>
            <p:cNvSpPr txBox="1"/>
            <p:nvPr/>
          </p:nvSpPr>
          <p:spPr>
            <a:xfrm>
              <a:off x="2345176" y="30931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A</a:t>
              </a:r>
              <a:endParaRPr lang="en-US" i="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01D44F3C-CC44-5E88-EB52-40F874A247BC}"/>
                </a:ext>
              </a:extLst>
            </p:cNvPr>
            <p:cNvSpPr txBox="1"/>
            <p:nvPr/>
          </p:nvSpPr>
          <p:spPr>
            <a:xfrm>
              <a:off x="2345176" y="38405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B</a:t>
              </a:r>
              <a:endParaRPr lang="en-US" i="1" dirty="0">
                <a:latin typeface="Times New Roman" panose="02020603050405020304" pitchFamily="18" charset="0"/>
                <a:cs typeface="Times New Roman" panose="02020603050405020304" pitchFamily="18" charset="0"/>
              </a:endParaRPr>
            </a:p>
          </p:txBody>
        </p:sp>
        <p:pic>
          <p:nvPicPr>
            <p:cNvPr id="47" name="Picture 46" descr="A black dot on a white background&#10;&#10;AI-generated content may be incorrect.">
              <a:extLst>
                <a:ext uri="{FF2B5EF4-FFF2-40B4-BE49-F238E27FC236}">
                  <a16:creationId xmlns:a16="http://schemas.microsoft.com/office/drawing/2014/main" id="{0B1CB97D-98BF-BC7A-EF92-59556BDB2E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93303" y="3462497"/>
              <a:ext cx="202984" cy="405967"/>
            </a:xfrm>
            <a:prstGeom prst="rect">
              <a:avLst/>
            </a:prstGeom>
          </p:spPr>
        </p:pic>
      </p:grpSp>
      <p:pic>
        <p:nvPicPr>
          <p:cNvPr id="48" name="Picture 47" descr="A black dot on a white background&#10;&#10;AI-generated content may be incorrect.">
            <a:extLst>
              <a:ext uri="{FF2B5EF4-FFF2-40B4-BE49-F238E27FC236}">
                <a16:creationId xmlns:a16="http://schemas.microsoft.com/office/drawing/2014/main" id="{910637AC-A4A1-E435-0C22-B7B404F14C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3419656" y="2434468"/>
            <a:ext cx="202984" cy="405967"/>
          </a:xfrm>
          <a:prstGeom prst="rect">
            <a:avLst/>
          </a:prstGeom>
        </p:spPr>
      </p:pic>
      <p:pic>
        <p:nvPicPr>
          <p:cNvPr id="49" name="Picture 48" descr="A black dot on a white background&#10;&#10;AI-generated content may be incorrect.">
            <a:extLst>
              <a:ext uri="{FF2B5EF4-FFF2-40B4-BE49-F238E27FC236}">
                <a16:creationId xmlns:a16="http://schemas.microsoft.com/office/drawing/2014/main" id="{CB35EDF7-6205-35C7-4E25-F17C408DBB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3419656" y="2772943"/>
            <a:ext cx="202984" cy="405967"/>
          </a:xfrm>
          <a:prstGeom prst="rect">
            <a:avLst/>
          </a:prstGeom>
        </p:spPr>
      </p:pic>
      <p:pic>
        <p:nvPicPr>
          <p:cNvPr id="50" name="Picture 49" descr="A black dot on a white background&#10;&#10;AI-generated content may be incorrect.">
            <a:extLst>
              <a:ext uri="{FF2B5EF4-FFF2-40B4-BE49-F238E27FC236}">
                <a16:creationId xmlns:a16="http://schemas.microsoft.com/office/drawing/2014/main" id="{33E09044-86C8-5F1A-2CCA-FEC802521B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3419657" y="3505724"/>
            <a:ext cx="202984" cy="405967"/>
          </a:xfrm>
          <a:prstGeom prst="rect">
            <a:avLst/>
          </a:prstGeom>
        </p:spPr>
      </p:pic>
      <p:pic>
        <p:nvPicPr>
          <p:cNvPr id="51" name="Picture 50" descr="A black dot on a white background&#10;&#10;AI-generated content may be incorrect.">
            <a:extLst>
              <a:ext uri="{FF2B5EF4-FFF2-40B4-BE49-F238E27FC236}">
                <a16:creationId xmlns:a16="http://schemas.microsoft.com/office/drawing/2014/main" id="{EC3C5031-B656-2D97-55E5-6CF74B2D46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8741297">
            <a:off x="3419657" y="3136043"/>
            <a:ext cx="202984" cy="405967"/>
          </a:xfrm>
          <a:prstGeom prst="rect">
            <a:avLst/>
          </a:prstGeom>
        </p:spPr>
      </p:pic>
      <p:sp>
        <p:nvSpPr>
          <p:cNvPr id="70" name="TextBox 69">
            <a:extLst>
              <a:ext uri="{FF2B5EF4-FFF2-40B4-BE49-F238E27FC236}">
                <a16:creationId xmlns:a16="http://schemas.microsoft.com/office/drawing/2014/main" id="{B64633DE-AF52-27AC-C6D2-0DDF2BB753C4}"/>
              </a:ext>
            </a:extLst>
          </p:cNvPr>
          <p:cNvSpPr txBox="1"/>
          <p:nvPr/>
        </p:nvSpPr>
        <p:spPr>
          <a:xfrm>
            <a:off x="6932883" y="2023633"/>
            <a:ext cx="2689239"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Quiz1     Test1                    Quiz2</a:t>
            </a:r>
          </a:p>
        </p:txBody>
      </p:sp>
      <p:sp>
        <p:nvSpPr>
          <p:cNvPr id="71" name="TextBox 70">
            <a:extLst>
              <a:ext uri="{FF2B5EF4-FFF2-40B4-BE49-F238E27FC236}">
                <a16:creationId xmlns:a16="http://schemas.microsoft.com/office/drawing/2014/main" id="{CFF0A4EC-9097-7F64-79BD-459C5CACF9C8}"/>
              </a:ext>
            </a:extLst>
          </p:cNvPr>
          <p:cNvSpPr txBox="1"/>
          <p:nvPr/>
        </p:nvSpPr>
        <p:spPr>
          <a:xfrm rot="5400000">
            <a:off x="9776860" y="3094444"/>
            <a:ext cx="1668117" cy="369332"/>
          </a:xfrm>
          <a:prstGeom prst="rect">
            <a:avLst/>
          </a:prstGeom>
          <a:noFill/>
        </p:spPr>
        <p:txBody>
          <a:bodyPr wrap="square">
            <a:spAutoFit/>
          </a:bodyPr>
          <a:lstStyle/>
          <a:p>
            <a:r>
              <a:rPr lang="en-US" noProof="0" dirty="0">
                <a:solidFill>
                  <a:schemeClr val="accent1">
                    <a:lumMod val="75000"/>
                  </a:schemeClr>
                </a:solidFill>
                <a:latin typeface="Aptos" panose="020B0004020202020204" pitchFamily="34" charset="0"/>
              </a:rPr>
              <a:t>Observations</a:t>
            </a:r>
          </a:p>
        </p:txBody>
      </p:sp>
      <p:grpSp>
        <p:nvGrpSpPr>
          <p:cNvPr id="72" name="Group 71">
            <a:extLst>
              <a:ext uri="{FF2B5EF4-FFF2-40B4-BE49-F238E27FC236}">
                <a16:creationId xmlns:a16="http://schemas.microsoft.com/office/drawing/2014/main" id="{CBD0CE3D-3773-F28C-BB16-E06E5EAC0C3F}"/>
              </a:ext>
            </a:extLst>
          </p:cNvPr>
          <p:cNvGrpSpPr/>
          <p:nvPr/>
        </p:nvGrpSpPr>
        <p:grpSpPr>
          <a:xfrm>
            <a:off x="6330957" y="2301632"/>
            <a:ext cx="3386327" cy="2122691"/>
            <a:chOff x="1134573" y="2538299"/>
            <a:chExt cx="3386327" cy="2122691"/>
          </a:xfrm>
        </p:grpSpPr>
        <p:sp>
          <p:nvSpPr>
            <p:cNvPr id="73" name="TextBox 72">
              <a:extLst>
                <a:ext uri="{FF2B5EF4-FFF2-40B4-BE49-F238E27FC236}">
                  <a16:creationId xmlns:a16="http://schemas.microsoft.com/office/drawing/2014/main" id="{7B2153D7-4C81-D219-89BE-EC199AD1AD72}"/>
                </a:ext>
              </a:extLst>
            </p:cNvPr>
            <p:cNvSpPr txBox="1"/>
            <p:nvPr/>
          </p:nvSpPr>
          <p:spPr>
            <a:xfrm>
              <a:off x="3671820" y="4414769"/>
              <a:ext cx="796146"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p </a:t>
              </a:r>
              <a:r>
                <a:rPr lang="en-US" sz="1000" noProof="0" dirty="0">
                  <a:solidFill>
                    <a:srgbClr val="C00000"/>
                  </a:solidFill>
                  <a:latin typeface="Aptos" panose="020B0004020202020204" pitchFamily="34" charset="0"/>
                </a:rPr>
                <a:t>variables</a:t>
              </a:r>
            </a:p>
          </p:txBody>
        </p:sp>
        <p:cxnSp>
          <p:nvCxnSpPr>
            <p:cNvPr id="74" name="Google Shape;209;p9">
              <a:extLst>
                <a:ext uri="{FF2B5EF4-FFF2-40B4-BE49-F238E27FC236}">
                  <a16:creationId xmlns:a16="http://schemas.microsoft.com/office/drawing/2014/main" id="{7672162E-CD22-504F-EB54-66DB5013FDB2}"/>
                </a:ext>
              </a:extLst>
            </p:cNvPr>
            <p:cNvCxnSpPr>
              <a:cxnSpLocks/>
            </p:cNvCxnSpPr>
            <p:nvPr/>
          </p:nvCxnSpPr>
          <p:spPr>
            <a:xfrm>
              <a:off x="1889415" y="4385828"/>
              <a:ext cx="2423681" cy="0"/>
            </a:xfrm>
            <a:prstGeom prst="straightConnector1">
              <a:avLst/>
            </a:prstGeom>
            <a:noFill/>
            <a:ln w="9525" cap="flat" cmpd="sng">
              <a:solidFill>
                <a:schemeClr val="bg2">
                  <a:lumMod val="25000"/>
                </a:schemeClr>
              </a:solidFill>
              <a:prstDash val="solid"/>
              <a:round/>
              <a:headEnd type="none" w="sm" len="sm"/>
              <a:tailEnd type="stealth" w="med" len="med"/>
            </a:ln>
          </p:spPr>
        </p:cxnSp>
        <p:grpSp>
          <p:nvGrpSpPr>
            <p:cNvPr id="75" name="Group 74">
              <a:extLst>
                <a:ext uri="{FF2B5EF4-FFF2-40B4-BE49-F238E27FC236}">
                  <a16:creationId xmlns:a16="http://schemas.microsoft.com/office/drawing/2014/main" id="{F2A9451C-B67D-6F46-E53E-1A681B4ED7B1}"/>
                </a:ext>
              </a:extLst>
            </p:cNvPr>
            <p:cNvGrpSpPr/>
            <p:nvPr/>
          </p:nvGrpSpPr>
          <p:grpSpPr>
            <a:xfrm>
              <a:off x="1134573" y="2538299"/>
              <a:ext cx="3386327" cy="1909510"/>
              <a:chOff x="1134573" y="2538299"/>
              <a:chExt cx="3386327" cy="1909510"/>
            </a:xfrm>
          </p:grpSpPr>
          <p:sp>
            <p:nvSpPr>
              <p:cNvPr id="76" name="TextBox 75">
                <a:extLst>
                  <a:ext uri="{FF2B5EF4-FFF2-40B4-BE49-F238E27FC236}">
                    <a16:creationId xmlns:a16="http://schemas.microsoft.com/office/drawing/2014/main" id="{C192144E-CB85-4585-0D14-EBD9177D2349}"/>
                  </a:ext>
                </a:extLst>
              </p:cNvPr>
              <p:cNvSpPr txBox="1"/>
              <p:nvPr/>
            </p:nvSpPr>
            <p:spPr>
              <a:xfrm rot="16200000">
                <a:off x="780630" y="2892768"/>
                <a:ext cx="954108"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n </a:t>
                </a:r>
                <a:r>
                  <a:rPr lang="en-US" sz="1000" noProof="0" dirty="0">
                    <a:solidFill>
                      <a:srgbClr val="C00000"/>
                    </a:solidFill>
                    <a:latin typeface="Aptos" panose="020B0004020202020204" pitchFamily="34" charset="0"/>
                  </a:rPr>
                  <a:t>data points</a:t>
                </a:r>
              </a:p>
            </p:txBody>
          </p:sp>
          <p:cxnSp>
            <p:nvCxnSpPr>
              <p:cNvPr id="77" name="Google Shape;209;p9">
                <a:extLst>
                  <a:ext uri="{FF2B5EF4-FFF2-40B4-BE49-F238E27FC236}">
                    <a16:creationId xmlns:a16="http://schemas.microsoft.com/office/drawing/2014/main" id="{7571DD78-ACA0-BB8F-C325-68BD94C7B055}"/>
                  </a:ext>
                </a:extLst>
              </p:cNvPr>
              <p:cNvCxnSpPr>
                <a:cxnSpLocks/>
              </p:cNvCxnSpPr>
              <p:nvPr/>
            </p:nvCxnSpPr>
            <p:spPr>
              <a:xfrm>
                <a:off x="1388253" y="2716579"/>
                <a:ext cx="0" cy="1552708"/>
              </a:xfrm>
              <a:prstGeom prst="straightConnector1">
                <a:avLst/>
              </a:prstGeom>
              <a:noFill/>
              <a:ln w="9525" cap="flat" cmpd="sng">
                <a:solidFill>
                  <a:schemeClr val="bg2">
                    <a:lumMod val="25000"/>
                  </a:schemeClr>
                </a:solidFill>
                <a:prstDash val="solid"/>
                <a:round/>
                <a:headEnd type="none" w="sm" len="sm"/>
                <a:tailEnd type="stealth" w="med" len="med"/>
              </a:ln>
            </p:spPr>
          </p:cxnSp>
          <p:pic>
            <p:nvPicPr>
              <p:cNvPr id="78" name="Picture 77">
                <a:extLst>
                  <a:ext uri="{FF2B5EF4-FFF2-40B4-BE49-F238E27FC236}">
                    <a16:creationId xmlns:a16="http://schemas.microsoft.com/office/drawing/2014/main" id="{EFEB2DEC-4B98-2B6A-B142-63E812820F92}"/>
                  </a:ext>
                </a:extLst>
              </p:cNvPr>
              <p:cNvPicPr>
                <a:picLocks noChangeAspect="1"/>
              </p:cNvPicPr>
              <p:nvPr/>
            </p:nvPicPr>
            <p:blipFill rotWithShape="1">
              <a:blip r:embed="rId6"/>
              <a:srcRect l="94120"/>
              <a:stretch>
                <a:fillRect/>
              </a:stretch>
            </p:blipFill>
            <p:spPr>
              <a:xfrm>
                <a:off x="4298229" y="2545365"/>
                <a:ext cx="222671" cy="1902444"/>
              </a:xfrm>
              <a:prstGeom prst="rect">
                <a:avLst/>
              </a:prstGeom>
            </p:spPr>
          </p:pic>
          <p:pic>
            <p:nvPicPr>
              <p:cNvPr id="79" name="Picture 78">
                <a:extLst>
                  <a:ext uri="{FF2B5EF4-FFF2-40B4-BE49-F238E27FC236}">
                    <a16:creationId xmlns:a16="http://schemas.microsoft.com/office/drawing/2014/main" id="{97AC4CB7-C42D-4B76-EE81-D37EFBB2BDDF}"/>
                  </a:ext>
                </a:extLst>
              </p:cNvPr>
              <p:cNvPicPr>
                <a:picLocks noChangeAspect="1"/>
              </p:cNvPicPr>
              <p:nvPr/>
            </p:nvPicPr>
            <p:blipFill rotWithShape="1">
              <a:blip r:embed="rId6"/>
              <a:srcRect l="23678" r="71504"/>
              <a:stretch>
                <a:fillRect/>
              </a:stretch>
            </p:blipFill>
            <p:spPr>
              <a:xfrm>
                <a:off x="1457085" y="2538299"/>
                <a:ext cx="182452" cy="1902444"/>
              </a:xfrm>
              <a:prstGeom prst="rect">
                <a:avLst/>
              </a:prstGeom>
            </p:spPr>
          </p:pic>
        </p:grpSp>
      </p:grpSp>
      <p:sp>
        <p:nvSpPr>
          <p:cNvPr id="80" name="TextBox 79">
            <a:extLst>
              <a:ext uri="{FF2B5EF4-FFF2-40B4-BE49-F238E27FC236}">
                <a16:creationId xmlns:a16="http://schemas.microsoft.com/office/drawing/2014/main" id="{A7744CF8-D955-5574-5002-1E948D0752C6}"/>
              </a:ext>
            </a:extLst>
          </p:cNvPr>
          <p:cNvSpPr txBox="1"/>
          <p:nvPr/>
        </p:nvSpPr>
        <p:spPr>
          <a:xfrm>
            <a:off x="9782918" y="2516076"/>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Billy</a:t>
            </a:r>
          </a:p>
        </p:txBody>
      </p:sp>
      <p:sp>
        <p:nvSpPr>
          <p:cNvPr id="81" name="TextBox 80">
            <a:extLst>
              <a:ext uri="{FF2B5EF4-FFF2-40B4-BE49-F238E27FC236}">
                <a16:creationId xmlns:a16="http://schemas.microsoft.com/office/drawing/2014/main" id="{C0717FCB-3694-2DD8-29EB-50075FDB9C60}"/>
              </a:ext>
            </a:extLst>
          </p:cNvPr>
          <p:cNvSpPr txBox="1"/>
          <p:nvPr/>
        </p:nvSpPr>
        <p:spPr>
          <a:xfrm>
            <a:off x="6932883" y="1715856"/>
            <a:ext cx="2302988" cy="369332"/>
          </a:xfrm>
          <a:prstGeom prst="rect">
            <a:avLst/>
          </a:prstGeom>
          <a:noFill/>
        </p:spPr>
        <p:txBody>
          <a:bodyPr wrap="square">
            <a:spAutoFit/>
          </a:bodyPr>
          <a:lstStyle/>
          <a:p>
            <a:r>
              <a:rPr lang="en-US" noProof="0" dirty="0">
                <a:solidFill>
                  <a:schemeClr val="accent1">
                    <a:lumMod val="75000"/>
                  </a:schemeClr>
                </a:solidFill>
                <a:latin typeface="Aptos" panose="020B0004020202020204" pitchFamily="34" charset="0"/>
              </a:rPr>
              <a:t>Attributes</a:t>
            </a:r>
          </a:p>
        </p:txBody>
      </p:sp>
      <p:grpSp>
        <p:nvGrpSpPr>
          <p:cNvPr id="82" name="Group 81">
            <a:extLst>
              <a:ext uri="{FF2B5EF4-FFF2-40B4-BE49-F238E27FC236}">
                <a16:creationId xmlns:a16="http://schemas.microsoft.com/office/drawing/2014/main" id="{E199B8E8-9EB9-83FC-2A7E-E2D4151B21B8}"/>
              </a:ext>
            </a:extLst>
          </p:cNvPr>
          <p:cNvGrpSpPr/>
          <p:nvPr/>
        </p:nvGrpSpPr>
        <p:grpSpPr>
          <a:xfrm>
            <a:off x="6904733" y="2454521"/>
            <a:ext cx="499238" cy="1471556"/>
            <a:chOff x="1708349" y="2691188"/>
            <a:chExt cx="499238" cy="1471556"/>
          </a:xfrm>
        </p:grpSpPr>
        <p:sp>
          <p:nvSpPr>
            <p:cNvPr id="83" name="TextBox 82">
              <a:extLst>
                <a:ext uri="{FF2B5EF4-FFF2-40B4-BE49-F238E27FC236}">
                  <a16:creationId xmlns:a16="http://schemas.microsoft.com/office/drawing/2014/main" id="{5FE4D33D-09EB-5B8B-A297-824040023851}"/>
                </a:ext>
              </a:extLst>
            </p:cNvPr>
            <p:cNvSpPr txBox="1"/>
            <p:nvPr/>
          </p:nvSpPr>
          <p:spPr>
            <a:xfrm>
              <a:off x="1708349" y="26911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sp>
          <p:nvSpPr>
            <p:cNvPr id="84" name="TextBox 83">
              <a:extLst>
                <a:ext uri="{FF2B5EF4-FFF2-40B4-BE49-F238E27FC236}">
                  <a16:creationId xmlns:a16="http://schemas.microsoft.com/office/drawing/2014/main" id="{C5F698CC-1120-9A13-8CAA-2217A43AD7C0}"/>
                </a:ext>
              </a:extLst>
            </p:cNvPr>
            <p:cNvSpPr txBox="1"/>
            <p:nvPr/>
          </p:nvSpPr>
          <p:spPr>
            <a:xfrm>
              <a:off x="1708349" y="30460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F</a:t>
              </a:r>
              <a:endParaRPr lang="en-US" i="1" dirty="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7B61CB97-5C67-E908-CABC-A5910870DD77}"/>
                </a:ext>
              </a:extLst>
            </p:cNvPr>
            <p:cNvSpPr txBox="1"/>
            <p:nvPr/>
          </p:nvSpPr>
          <p:spPr>
            <a:xfrm>
              <a:off x="1708349" y="37934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A</a:t>
              </a:r>
              <a:endParaRPr lang="en-US" i="1" dirty="0">
                <a:latin typeface="Times New Roman" panose="02020603050405020304" pitchFamily="18" charset="0"/>
                <a:cs typeface="Times New Roman" panose="02020603050405020304" pitchFamily="18" charset="0"/>
              </a:endParaRPr>
            </a:p>
          </p:txBody>
        </p:sp>
        <p:pic>
          <p:nvPicPr>
            <p:cNvPr id="86" name="Picture 85" descr="A black dot on a white background&#10;&#10;AI-generated content may be incorrect.">
              <a:extLst>
                <a:ext uri="{FF2B5EF4-FFF2-40B4-BE49-F238E27FC236}">
                  <a16:creationId xmlns:a16="http://schemas.microsoft.com/office/drawing/2014/main" id="{6FB38D82-6C57-9A2E-2654-748ED36D56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6476" y="3415397"/>
              <a:ext cx="202984" cy="405967"/>
            </a:xfrm>
            <a:prstGeom prst="rect">
              <a:avLst/>
            </a:prstGeom>
          </p:spPr>
        </p:pic>
      </p:grpSp>
      <p:sp>
        <p:nvSpPr>
          <p:cNvPr id="87" name="TextBox 86">
            <a:extLst>
              <a:ext uri="{FF2B5EF4-FFF2-40B4-BE49-F238E27FC236}">
                <a16:creationId xmlns:a16="http://schemas.microsoft.com/office/drawing/2014/main" id="{85964B74-BDF0-C1EB-7FB0-30597B00D0F6}"/>
              </a:ext>
            </a:extLst>
          </p:cNvPr>
          <p:cNvSpPr txBox="1"/>
          <p:nvPr/>
        </p:nvSpPr>
        <p:spPr>
          <a:xfrm>
            <a:off x="9782918" y="2870953"/>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Suzy</a:t>
            </a:r>
          </a:p>
        </p:txBody>
      </p:sp>
      <p:sp>
        <p:nvSpPr>
          <p:cNvPr id="88" name="TextBox 87">
            <a:extLst>
              <a:ext uri="{FF2B5EF4-FFF2-40B4-BE49-F238E27FC236}">
                <a16:creationId xmlns:a16="http://schemas.microsoft.com/office/drawing/2014/main" id="{6FD8DA88-0150-655A-BFEA-EAC8FFBCD07E}"/>
              </a:ext>
            </a:extLst>
          </p:cNvPr>
          <p:cNvSpPr txBox="1"/>
          <p:nvPr/>
        </p:nvSpPr>
        <p:spPr>
          <a:xfrm>
            <a:off x="9782918" y="3618300"/>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Jenny</a:t>
            </a:r>
          </a:p>
        </p:txBody>
      </p:sp>
      <p:pic>
        <p:nvPicPr>
          <p:cNvPr id="89" name="Picture 88" descr="A black dot on a white background&#10;&#10;AI-generated content may be incorrect.">
            <a:extLst>
              <a:ext uri="{FF2B5EF4-FFF2-40B4-BE49-F238E27FC236}">
                <a16:creationId xmlns:a16="http://schemas.microsoft.com/office/drawing/2014/main" id="{62CB4C3A-3B0D-297F-D91A-5467C00E7D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92775" y="3178730"/>
            <a:ext cx="202984" cy="405967"/>
          </a:xfrm>
          <a:prstGeom prst="rect">
            <a:avLst/>
          </a:prstGeom>
        </p:spPr>
      </p:pic>
      <p:grpSp>
        <p:nvGrpSpPr>
          <p:cNvPr id="90" name="Group 89">
            <a:extLst>
              <a:ext uri="{FF2B5EF4-FFF2-40B4-BE49-F238E27FC236}">
                <a16:creationId xmlns:a16="http://schemas.microsoft.com/office/drawing/2014/main" id="{1BE74C98-5DDA-9093-0754-EDCD1C192452}"/>
              </a:ext>
            </a:extLst>
          </p:cNvPr>
          <p:cNvGrpSpPr/>
          <p:nvPr/>
        </p:nvGrpSpPr>
        <p:grpSpPr>
          <a:xfrm>
            <a:off x="7541560" y="2454521"/>
            <a:ext cx="499238" cy="1471556"/>
            <a:chOff x="2345176" y="2738288"/>
            <a:chExt cx="499238" cy="1471556"/>
          </a:xfrm>
        </p:grpSpPr>
        <p:sp>
          <p:nvSpPr>
            <p:cNvPr id="91" name="TextBox 90">
              <a:extLst>
                <a:ext uri="{FF2B5EF4-FFF2-40B4-BE49-F238E27FC236}">
                  <a16:creationId xmlns:a16="http://schemas.microsoft.com/office/drawing/2014/main" id="{BD4228A8-BC89-4234-FB6D-5EFE6AC57AEA}"/>
                </a:ext>
              </a:extLst>
            </p:cNvPr>
            <p:cNvSpPr txBox="1"/>
            <p:nvPr/>
          </p:nvSpPr>
          <p:spPr>
            <a:xfrm>
              <a:off x="2345176" y="27382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D</a:t>
              </a:r>
              <a:endParaRPr lang="en-US" i="1" dirty="0">
                <a:latin typeface="Times New Roman" panose="02020603050405020304" pitchFamily="18" charset="0"/>
                <a:cs typeface="Times New Roman" panose="02020603050405020304" pitchFamily="18" charset="0"/>
              </a:endParaRPr>
            </a:p>
          </p:txBody>
        </p:sp>
        <p:sp>
          <p:nvSpPr>
            <p:cNvPr id="92" name="TextBox 91">
              <a:extLst>
                <a:ext uri="{FF2B5EF4-FFF2-40B4-BE49-F238E27FC236}">
                  <a16:creationId xmlns:a16="http://schemas.microsoft.com/office/drawing/2014/main" id="{005ED3C6-DA54-B6D3-821C-4F60339B8BFF}"/>
                </a:ext>
              </a:extLst>
            </p:cNvPr>
            <p:cNvSpPr txBox="1"/>
            <p:nvPr/>
          </p:nvSpPr>
          <p:spPr>
            <a:xfrm>
              <a:off x="2345176" y="30931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sp>
          <p:nvSpPr>
            <p:cNvPr id="93" name="TextBox 92">
              <a:extLst>
                <a:ext uri="{FF2B5EF4-FFF2-40B4-BE49-F238E27FC236}">
                  <a16:creationId xmlns:a16="http://schemas.microsoft.com/office/drawing/2014/main" id="{2D4757F1-FD59-65C2-27C1-145CF3EB710C}"/>
                </a:ext>
              </a:extLst>
            </p:cNvPr>
            <p:cNvSpPr txBox="1"/>
            <p:nvPr/>
          </p:nvSpPr>
          <p:spPr>
            <a:xfrm>
              <a:off x="2345176" y="38405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A</a:t>
              </a:r>
              <a:endParaRPr lang="en-US" i="1" dirty="0">
                <a:latin typeface="Times New Roman" panose="02020603050405020304" pitchFamily="18" charset="0"/>
                <a:cs typeface="Times New Roman" panose="02020603050405020304" pitchFamily="18" charset="0"/>
              </a:endParaRPr>
            </a:p>
          </p:txBody>
        </p:sp>
        <p:pic>
          <p:nvPicPr>
            <p:cNvPr id="94" name="Picture 93" descr="A black dot on a white background&#10;&#10;AI-generated content may be incorrect.">
              <a:extLst>
                <a:ext uri="{FF2B5EF4-FFF2-40B4-BE49-F238E27FC236}">
                  <a16:creationId xmlns:a16="http://schemas.microsoft.com/office/drawing/2014/main" id="{A87A5522-4177-1535-9C87-C2082D4049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93303" y="3462497"/>
              <a:ext cx="202984" cy="405967"/>
            </a:xfrm>
            <a:prstGeom prst="rect">
              <a:avLst/>
            </a:prstGeom>
          </p:spPr>
        </p:pic>
      </p:grpSp>
      <p:pic>
        <p:nvPicPr>
          <p:cNvPr id="95" name="Picture 94" descr="A black dot on a white background&#10;&#10;AI-generated content may be incorrect.">
            <a:extLst>
              <a:ext uri="{FF2B5EF4-FFF2-40B4-BE49-F238E27FC236}">
                <a16:creationId xmlns:a16="http://schemas.microsoft.com/office/drawing/2014/main" id="{5A1CC413-16F9-2FA7-8E90-983FA8D6BD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8383955" y="1976942"/>
            <a:ext cx="202984" cy="405967"/>
          </a:xfrm>
          <a:prstGeom prst="rect">
            <a:avLst/>
          </a:prstGeom>
        </p:spPr>
      </p:pic>
      <p:grpSp>
        <p:nvGrpSpPr>
          <p:cNvPr id="96" name="Group 95">
            <a:extLst>
              <a:ext uri="{FF2B5EF4-FFF2-40B4-BE49-F238E27FC236}">
                <a16:creationId xmlns:a16="http://schemas.microsoft.com/office/drawing/2014/main" id="{415DE44D-49C1-C740-47F8-9983A4972781}"/>
              </a:ext>
            </a:extLst>
          </p:cNvPr>
          <p:cNvGrpSpPr/>
          <p:nvPr/>
        </p:nvGrpSpPr>
        <p:grpSpPr>
          <a:xfrm>
            <a:off x="8788279" y="2454521"/>
            <a:ext cx="499238" cy="1471556"/>
            <a:chOff x="2345176" y="2738288"/>
            <a:chExt cx="499238" cy="1471556"/>
          </a:xfrm>
        </p:grpSpPr>
        <p:sp>
          <p:nvSpPr>
            <p:cNvPr id="97" name="TextBox 96">
              <a:extLst>
                <a:ext uri="{FF2B5EF4-FFF2-40B4-BE49-F238E27FC236}">
                  <a16:creationId xmlns:a16="http://schemas.microsoft.com/office/drawing/2014/main" id="{150CF03B-C7C0-5E52-8A04-43CF0A6BF59E}"/>
                </a:ext>
              </a:extLst>
            </p:cNvPr>
            <p:cNvSpPr txBox="1"/>
            <p:nvPr/>
          </p:nvSpPr>
          <p:spPr>
            <a:xfrm>
              <a:off x="2345176" y="27382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C</a:t>
              </a:r>
              <a:endParaRPr lang="en-US" i="1" dirty="0">
                <a:latin typeface="Times New Roman" panose="02020603050405020304" pitchFamily="18" charset="0"/>
                <a:cs typeface="Times New Roman" panose="02020603050405020304" pitchFamily="18" charset="0"/>
              </a:endParaRPr>
            </a:p>
          </p:txBody>
        </p:sp>
        <p:sp>
          <p:nvSpPr>
            <p:cNvPr id="98" name="TextBox 97">
              <a:extLst>
                <a:ext uri="{FF2B5EF4-FFF2-40B4-BE49-F238E27FC236}">
                  <a16:creationId xmlns:a16="http://schemas.microsoft.com/office/drawing/2014/main" id="{EF6774FD-B9F6-297A-713F-EDB076C88F45}"/>
                </a:ext>
              </a:extLst>
            </p:cNvPr>
            <p:cNvSpPr txBox="1"/>
            <p:nvPr/>
          </p:nvSpPr>
          <p:spPr>
            <a:xfrm>
              <a:off x="2345176" y="30931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A98906D3-F399-3C8A-586B-86C6DA745B28}"/>
                </a:ext>
              </a:extLst>
            </p:cNvPr>
            <p:cNvSpPr txBox="1"/>
            <p:nvPr/>
          </p:nvSpPr>
          <p:spPr>
            <a:xfrm>
              <a:off x="2345176" y="38405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B</a:t>
              </a:r>
              <a:endParaRPr lang="en-US" i="1" dirty="0">
                <a:latin typeface="Times New Roman" panose="02020603050405020304" pitchFamily="18" charset="0"/>
                <a:cs typeface="Times New Roman" panose="02020603050405020304" pitchFamily="18" charset="0"/>
              </a:endParaRPr>
            </a:p>
          </p:txBody>
        </p:sp>
        <p:pic>
          <p:nvPicPr>
            <p:cNvPr id="100" name="Picture 99" descr="A black dot on a white background&#10;&#10;AI-generated content may be incorrect.">
              <a:extLst>
                <a:ext uri="{FF2B5EF4-FFF2-40B4-BE49-F238E27FC236}">
                  <a16:creationId xmlns:a16="http://schemas.microsoft.com/office/drawing/2014/main" id="{A067A7CF-2F58-E47F-F9E1-5FFD49895A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93303" y="3462497"/>
              <a:ext cx="202984" cy="405967"/>
            </a:xfrm>
            <a:prstGeom prst="rect">
              <a:avLst/>
            </a:prstGeom>
          </p:spPr>
        </p:pic>
      </p:grpSp>
      <p:pic>
        <p:nvPicPr>
          <p:cNvPr id="101" name="Picture 100" descr="A black dot on a white background&#10;&#10;AI-generated content may be incorrect.">
            <a:extLst>
              <a:ext uri="{FF2B5EF4-FFF2-40B4-BE49-F238E27FC236}">
                <a16:creationId xmlns:a16="http://schemas.microsoft.com/office/drawing/2014/main" id="{E349EB40-D0E7-B488-3253-BCE0D8BC21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8279879" y="2441534"/>
            <a:ext cx="202984" cy="405967"/>
          </a:xfrm>
          <a:prstGeom prst="rect">
            <a:avLst/>
          </a:prstGeom>
        </p:spPr>
      </p:pic>
      <p:pic>
        <p:nvPicPr>
          <p:cNvPr id="102" name="Picture 101" descr="A black dot on a white background&#10;&#10;AI-generated content may be incorrect.">
            <a:extLst>
              <a:ext uri="{FF2B5EF4-FFF2-40B4-BE49-F238E27FC236}">
                <a16:creationId xmlns:a16="http://schemas.microsoft.com/office/drawing/2014/main" id="{AA9B8FB7-C8BF-3679-C2E6-E9765D1FC2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8279879" y="2780009"/>
            <a:ext cx="202984" cy="405967"/>
          </a:xfrm>
          <a:prstGeom prst="rect">
            <a:avLst/>
          </a:prstGeom>
        </p:spPr>
      </p:pic>
      <p:pic>
        <p:nvPicPr>
          <p:cNvPr id="103" name="Picture 102" descr="A black dot on a white background&#10;&#10;AI-generated content may be incorrect.">
            <a:extLst>
              <a:ext uri="{FF2B5EF4-FFF2-40B4-BE49-F238E27FC236}">
                <a16:creationId xmlns:a16="http://schemas.microsoft.com/office/drawing/2014/main" id="{7E698B84-9ADA-83F4-18F8-46843C45BD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8279880" y="3512790"/>
            <a:ext cx="202984" cy="405967"/>
          </a:xfrm>
          <a:prstGeom prst="rect">
            <a:avLst/>
          </a:prstGeom>
        </p:spPr>
      </p:pic>
      <p:pic>
        <p:nvPicPr>
          <p:cNvPr id="104" name="Picture 103" descr="A black dot on a white background&#10;&#10;AI-generated content may be incorrect.">
            <a:extLst>
              <a:ext uri="{FF2B5EF4-FFF2-40B4-BE49-F238E27FC236}">
                <a16:creationId xmlns:a16="http://schemas.microsoft.com/office/drawing/2014/main" id="{D776A473-C4DF-43C8-AA5F-04AB116CB19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8741297">
            <a:off x="8279880" y="3143109"/>
            <a:ext cx="202984" cy="405967"/>
          </a:xfrm>
          <a:prstGeom prst="rect">
            <a:avLst/>
          </a:prstGeom>
        </p:spPr>
      </p:pic>
      <p:sp>
        <p:nvSpPr>
          <p:cNvPr id="109" name="Subtitle 2">
            <a:extLst>
              <a:ext uri="{FF2B5EF4-FFF2-40B4-BE49-F238E27FC236}">
                <a16:creationId xmlns:a16="http://schemas.microsoft.com/office/drawing/2014/main" id="{809A7C77-94FF-CA90-701A-580795FAE06E}"/>
              </a:ext>
            </a:extLst>
          </p:cNvPr>
          <p:cNvSpPr txBox="1">
            <a:spLocks/>
          </p:cNvSpPr>
          <p:nvPr/>
        </p:nvSpPr>
        <p:spPr>
          <a:xfrm>
            <a:off x="1470734" y="4694909"/>
            <a:ext cx="9250514" cy="10601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noProof="0" dirty="0">
                <a:solidFill>
                  <a:schemeClr val="bg2">
                    <a:lumMod val="25000"/>
                  </a:schemeClr>
                </a:solidFill>
                <a:latin typeface="Aptos" panose="020B0004020202020204" pitchFamily="34" charset="0"/>
              </a:rPr>
              <a:t>The data is the same, </a:t>
            </a:r>
            <a:r>
              <a:rPr lang="en-US" sz="1800" noProof="0" dirty="0" err="1">
                <a:solidFill>
                  <a:schemeClr val="bg2">
                    <a:lumMod val="25000"/>
                  </a:schemeClr>
                </a:solidFill>
                <a:latin typeface="Aptos" panose="020B0004020202020204" pitchFamily="34" charset="0"/>
              </a:rPr>
              <a:t>bu</a:t>
            </a:r>
            <a:r>
              <a:rPr lang="en-US" sz="1800" dirty="0">
                <a:solidFill>
                  <a:schemeClr val="bg2">
                    <a:lumMod val="25000"/>
                  </a:schemeClr>
                </a:solidFill>
                <a:latin typeface="Aptos" panose="020B0004020202020204" pitchFamily="34" charset="0"/>
              </a:rPr>
              <a:t>t the layout is different. Our vocabulary of rows and columns is simply not rich enough to describe why the two tables represent the same data. But we can easily see why they are not suitable for statistical learning.</a:t>
            </a:r>
          </a:p>
          <a:p>
            <a:pPr marL="0" indent="0">
              <a:lnSpc>
                <a:spcPct val="100000"/>
              </a:lnSpc>
              <a:buNone/>
            </a:pPr>
            <a:endParaRPr lang="en-US" sz="1800" dirty="0">
              <a:solidFill>
                <a:schemeClr val="bg2">
                  <a:lumMod val="25000"/>
                </a:schemeClr>
              </a:solidFill>
              <a:latin typeface="Aptos" panose="020B0004020202020204" pitchFamily="34" charset="0"/>
            </a:endParaRPr>
          </a:p>
          <a:p>
            <a:pPr marL="0" indent="0">
              <a:lnSpc>
                <a:spcPct val="100000"/>
              </a:lnSpc>
              <a:buNone/>
            </a:pPr>
            <a:endParaRPr lang="en-US" sz="1800" noProof="0" dirty="0">
              <a:solidFill>
                <a:schemeClr val="bg2">
                  <a:lumMod val="25000"/>
                </a:schemeClr>
              </a:solidFill>
              <a:latin typeface="Aptos" panose="020B0004020202020204" pitchFamily="34" charset="0"/>
            </a:endParaRPr>
          </a:p>
        </p:txBody>
      </p:sp>
      <p:sp>
        <p:nvSpPr>
          <p:cNvPr id="111" name="Google Shape;158;p6">
            <a:extLst>
              <a:ext uri="{FF2B5EF4-FFF2-40B4-BE49-F238E27FC236}">
                <a16:creationId xmlns:a16="http://schemas.microsoft.com/office/drawing/2014/main" id="{F50AF694-45A1-0E15-7F94-E6E35B0883FA}"/>
              </a:ext>
            </a:extLst>
          </p:cNvPr>
          <p:cNvSpPr txBox="1"/>
          <p:nvPr/>
        </p:nvSpPr>
        <p:spPr>
          <a:xfrm>
            <a:off x="2072660" y="731011"/>
            <a:ext cx="8128001" cy="769401"/>
          </a:xfrm>
          <a:prstGeom prst="rect">
            <a:avLst/>
          </a:prstGeom>
          <a:noFill/>
          <a:ln>
            <a:noFill/>
          </a:ln>
        </p:spPr>
        <p:txBody>
          <a:bodyPr spcFirstLastPara="1" wrap="square" lIns="91425" tIns="45700" rIns="91425" bIns="45700" anchor="t" anchorCtr="0">
            <a:spAutoFit/>
          </a:bodyPr>
          <a:lstStyle/>
          <a:p>
            <a:pPr algn="ctr"/>
            <a:r>
              <a:rPr lang="en-US" sz="4400" dirty="0">
                <a:solidFill>
                  <a:srgbClr val="2F5496"/>
                </a:solidFill>
                <a:latin typeface="Aptos" panose="020B0004020202020204" pitchFamily="34" charset="0"/>
                <a:ea typeface="Corbel"/>
                <a:cs typeface="Corbel"/>
                <a:sym typeface="Corbel"/>
              </a:rPr>
              <a:t>Describing Datasets</a:t>
            </a:r>
          </a:p>
        </p:txBody>
      </p:sp>
    </p:spTree>
    <p:extLst>
      <p:ext uri="{BB962C8B-B14F-4D97-AF65-F5344CB8AC3E}">
        <p14:creationId xmlns:p14="http://schemas.microsoft.com/office/powerpoint/2010/main" val="72260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7C232-66AB-D732-F70B-0D74656D76C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44F7860-77C3-52DB-D2EE-C72A69424B1B}"/>
              </a:ext>
            </a:extLst>
          </p:cNvPr>
          <p:cNvGrpSpPr/>
          <p:nvPr/>
        </p:nvGrpSpPr>
        <p:grpSpPr>
          <a:xfrm>
            <a:off x="1524000" y="1335855"/>
            <a:ext cx="9144000" cy="3798869"/>
            <a:chOff x="1524000" y="1719386"/>
            <a:chExt cx="9144000" cy="3798869"/>
          </a:xfrm>
        </p:grpSpPr>
        <p:sp>
          <p:nvSpPr>
            <p:cNvPr id="3" name="Title 1">
              <a:extLst>
                <a:ext uri="{FF2B5EF4-FFF2-40B4-BE49-F238E27FC236}">
                  <a16:creationId xmlns:a16="http://schemas.microsoft.com/office/drawing/2014/main" id="{66E33903-841B-34E7-1EEF-51DC3D0B8D95}"/>
                </a:ext>
              </a:extLst>
            </p:cNvPr>
            <p:cNvSpPr txBox="1">
              <a:spLocks/>
            </p:cNvSpPr>
            <p:nvPr/>
          </p:nvSpPr>
          <p:spPr>
            <a:xfrm>
              <a:off x="1524000" y="1719386"/>
              <a:ext cx="9144000" cy="711494"/>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noProof="0" dirty="0">
                  <a:solidFill>
                    <a:schemeClr val="accent1">
                      <a:lumMod val="75000"/>
                    </a:schemeClr>
                  </a:solidFill>
                  <a:latin typeface="Aptos" panose="020B0004020202020204" pitchFamily="34" charset="0"/>
                </a:rPr>
                <a:t>Tidy Data Semantics</a:t>
              </a:r>
            </a:p>
          </p:txBody>
        </p:sp>
        <p:sp>
          <p:nvSpPr>
            <p:cNvPr id="4" name="Subtitle 2">
              <a:extLst>
                <a:ext uri="{FF2B5EF4-FFF2-40B4-BE49-F238E27FC236}">
                  <a16:creationId xmlns:a16="http://schemas.microsoft.com/office/drawing/2014/main" id="{80B55A03-76BC-4B67-0CBF-93F483F11D40}"/>
                </a:ext>
              </a:extLst>
            </p:cNvPr>
            <p:cNvSpPr txBox="1">
              <a:spLocks/>
            </p:cNvSpPr>
            <p:nvPr/>
          </p:nvSpPr>
          <p:spPr>
            <a:xfrm>
              <a:off x="1524000" y="2788242"/>
              <a:ext cx="9144000" cy="2730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noProof="0" dirty="0">
                  <a:solidFill>
                    <a:schemeClr val="bg2">
                      <a:lumMod val="25000"/>
                    </a:schemeClr>
                  </a:solidFill>
                  <a:latin typeface="Aptos" panose="020B0004020202020204" pitchFamily="34" charset="0"/>
                </a:rPr>
                <a:t>A dataset is a structured collection of values, which may be numbers (quantitative) or strings (qualitative). These values are organized along two dimensions:</a:t>
              </a:r>
            </a:p>
            <a:p>
              <a:pPr>
                <a:lnSpc>
                  <a:spcPct val="100000"/>
                </a:lnSpc>
              </a:pPr>
              <a:r>
                <a:rPr lang="en-US" sz="1800" b="1" noProof="0" dirty="0">
                  <a:solidFill>
                    <a:schemeClr val="bg2">
                      <a:lumMod val="25000"/>
                    </a:schemeClr>
                  </a:solidFill>
                  <a:latin typeface="Aptos" panose="020B0004020202020204" pitchFamily="34" charset="0"/>
                </a:rPr>
                <a:t>Variables or Features:</a:t>
              </a:r>
              <a:r>
                <a:rPr lang="en-US" sz="1800" noProof="0" dirty="0">
                  <a:solidFill>
                    <a:schemeClr val="bg2">
                      <a:lumMod val="25000"/>
                    </a:schemeClr>
                  </a:solidFill>
                  <a:latin typeface="Aptos" panose="020B0004020202020204" pitchFamily="34" charset="0"/>
                </a:rPr>
                <a:t> Each variable gathers all values that represent the same underlying attribute (such as height, temperature, or duration) across different units.</a:t>
              </a:r>
            </a:p>
            <a:p>
              <a:pPr>
                <a:lnSpc>
                  <a:spcPct val="100000"/>
                </a:lnSpc>
              </a:pPr>
              <a:r>
                <a:rPr lang="en-US" sz="1800" b="1" noProof="0" dirty="0">
                  <a:solidFill>
                    <a:schemeClr val="bg2">
                      <a:lumMod val="25000"/>
                    </a:schemeClr>
                  </a:solidFill>
                  <a:latin typeface="Aptos" panose="020B0004020202020204" pitchFamily="34" charset="0"/>
                </a:rPr>
                <a:t>Observations:</a:t>
              </a:r>
              <a:r>
                <a:rPr lang="en-US" sz="1800" noProof="0" dirty="0">
                  <a:solidFill>
                    <a:schemeClr val="bg2">
                      <a:lumMod val="25000"/>
                    </a:schemeClr>
                  </a:solidFill>
                  <a:latin typeface="Aptos" panose="020B0004020202020204" pitchFamily="34" charset="0"/>
                </a:rPr>
                <a:t> Each observation brings together all values recorded for a single unit (such as a person, a day, or a race) across multiple attributes.</a:t>
              </a:r>
            </a:p>
            <a:p>
              <a:pPr marL="0" indent="0">
                <a:lnSpc>
                  <a:spcPct val="100000"/>
                </a:lnSpc>
                <a:buNone/>
              </a:pPr>
              <a:r>
                <a:rPr lang="en-US" sz="1800" noProof="0" dirty="0">
                  <a:solidFill>
                    <a:schemeClr val="bg2">
                      <a:lumMod val="25000"/>
                    </a:schemeClr>
                  </a:solidFill>
                  <a:latin typeface="Aptos" panose="020B0004020202020204" pitchFamily="34" charset="0"/>
                </a:rPr>
                <a:t>In other words, every value in a dataset belongs simultaneously to a variable/feature and to an observation.</a:t>
              </a:r>
            </a:p>
          </p:txBody>
        </p:sp>
      </p:grpSp>
      <p:grpSp>
        <p:nvGrpSpPr>
          <p:cNvPr id="15" name="Group 14">
            <a:extLst>
              <a:ext uri="{FF2B5EF4-FFF2-40B4-BE49-F238E27FC236}">
                <a16:creationId xmlns:a16="http://schemas.microsoft.com/office/drawing/2014/main" id="{BC3479AC-3F0F-E8A9-A9C2-6181C230053D}"/>
              </a:ext>
            </a:extLst>
          </p:cNvPr>
          <p:cNvGrpSpPr/>
          <p:nvPr/>
        </p:nvGrpSpPr>
        <p:grpSpPr>
          <a:xfrm>
            <a:off x="898142" y="6203580"/>
            <a:ext cx="1863495" cy="517895"/>
            <a:chOff x="2808222" y="6127115"/>
            <a:chExt cx="1863495" cy="517895"/>
          </a:xfrm>
        </p:grpSpPr>
        <p:pic>
          <p:nvPicPr>
            <p:cNvPr id="16" name="Picture 2">
              <a:extLst>
                <a:ext uri="{FF2B5EF4-FFF2-40B4-BE49-F238E27FC236}">
                  <a16:creationId xmlns:a16="http://schemas.microsoft.com/office/drawing/2014/main" id="{D5A98027-5EEE-0F72-D104-2BB39F29B9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close up of a logo&#10;&#10;AI-generated content may be incorrect.">
              <a:extLst>
                <a:ext uri="{FF2B5EF4-FFF2-40B4-BE49-F238E27FC236}">
                  <a16:creationId xmlns:a16="http://schemas.microsoft.com/office/drawing/2014/main" id="{62945F44-F075-6736-A1CE-D7EA0FD2C93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8" name="Slide Number Placeholder 8">
            <a:extLst>
              <a:ext uri="{FF2B5EF4-FFF2-40B4-BE49-F238E27FC236}">
                <a16:creationId xmlns:a16="http://schemas.microsoft.com/office/drawing/2014/main" id="{79EDE59C-B5B6-35E9-6C66-466CE5117CFB}"/>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9</a:t>
            </a:fld>
            <a:endParaRPr lang="en-US" noProof="0" dirty="0"/>
          </a:p>
        </p:txBody>
      </p:sp>
    </p:spTree>
    <p:extLst>
      <p:ext uri="{BB962C8B-B14F-4D97-AF65-F5344CB8AC3E}">
        <p14:creationId xmlns:p14="http://schemas.microsoft.com/office/powerpoint/2010/main" val="1936552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B9789-3035-FDF6-F1A5-18FD86EF7DD8}"/>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D5CF2A48-C8A7-98A0-0BDB-9315BA8C73B9}"/>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10</a:t>
            </a:fld>
            <a:endParaRPr lang="en-US" noProof="0" dirty="0"/>
          </a:p>
        </p:txBody>
      </p:sp>
      <p:grpSp>
        <p:nvGrpSpPr>
          <p:cNvPr id="34" name="Group 33">
            <a:extLst>
              <a:ext uri="{FF2B5EF4-FFF2-40B4-BE49-F238E27FC236}">
                <a16:creationId xmlns:a16="http://schemas.microsoft.com/office/drawing/2014/main" id="{6D0061BC-1CED-4654-9BEC-94F51843E5ED}"/>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913D0285-E500-0371-4523-5ED434CD4C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CA223163-79EA-0DE7-07C1-6BEF7985EACF}"/>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1" name="Google Shape;158;p6">
            <a:extLst>
              <a:ext uri="{FF2B5EF4-FFF2-40B4-BE49-F238E27FC236}">
                <a16:creationId xmlns:a16="http://schemas.microsoft.com/office/drawing/2014/main" id="{3CAB00E9-6948-4D93-BD8A-C15FB9AB3C11}"/>
              </a:ext>
            </a:extLst>
          </p:cNvPr>
          <p:cNvSpPr txBox="1"/>
          <p:nvPr/>
        </p:nvSpPr>
        <p:spPr>
          <a:xfrm>
            <a:off x="2032000" y="731011"/>
            <a:ext cx="8128001" cy="769401"/>
          </a:xfrm>
          <a:prstGeom prst="rect">
            <a:avLst/>
          </a:prstGeom>
          <a:noFill/>
          <a:ln>
            <a:noFill/>
          </a:ln>
        </p:spPr>
        <p:txBody>
          <a:bodyPr spcFirstLastPara="1" wrap="square" lIns="91425" tIns="45700" rIns="91425" bIns="45700" anchor="t" anchorCtr="0">
            <a:spAutoFit/>
          </a:bodyPr>
          <a:lstStyle/>
          <a:p>
            <a:pPr algn="ctr"/>
            <a:r>
              <a:rPr lang="en-US" sz="4400" dirty="0">
                <a:solidFill>
                  <a:srgbClr val="2F5496"/>
                </a:solidFill>
                <a:latin typeface="Aptos" panose="020B0004020202020204" pitchFamily="34" charset="0"/>
                <a:ea typeface="Corbel"/>
                <a:cs typeface="Corbel"/>
                <a:sym typeface="Corbel"/>
              </a:rPr>
              <a:t>Tidying Messy Datasets</a:t>
            </a:r>
          </a:p>
        </p:txBody>
      </p:sp>
      <p:grpSp>
        <p:nvGrpSpPr>
          <p:cNvPr id="16" name="Group 15">
            <a:extLst>
              <a:ext uri="{FF2B5EF4-FFF2-40B4-BE49-F238E27FC236}">
                <a16:creationId xmlns:a16="http://schemas.microsoft.com/office/drawing/2014/main" id="{EFEEB227-0968-FD6B-5260-7F14DB5909DA}"/>
              </a:ext>
            </a:extLst>
          </p:cNvPr>
          <p:cNvGrpSpPr/>
          <p:nvPr/>
        </p:nvGrpSpPr>
        <p:grpSpPr>
          <a:xfrm>
            <a:off x="1398188" y="2010749"/>
            <a:ext cx="9395624" cy="3462423"/>
            <a:chOff x="1599390" y="2010749"/>
            <a:chExt cx="9395624" cy="3462423"/>
          </a:xfrm>
        </p:grpSpPr>
        <p:sp>
          <p:nvSpPr>
            <p:cNvPr id="4" name="TextBox 3">
              <a:extLst>
                <a:ext uri="{FF2B5EF4-FFF2-40B4-BE49-F238E27FC236}">
                  <a16:creationId xmlns:a16="http://schemas.microsoft.com/office/drawing/2014/main" id="{7406A051-D0C5-3B9C-45B4-98DFC73E8D12}"/>
                </a:ext>
              </a:extLst>
            </p:cNvPr>
            <p:cNvSpPr txBox="1"/>
            <p:nvPr/>
          </p:nvSpPr>
          <p:spPr>
            <a:xfrm>
              <a:off x="5004762" y="3072482"/>
              <a:ext cx="2689239" cy="307777"/>
            </a:xfrm>
            <a:prstGeom prst="rect">
              <a:avLst/>
            </a:prstGeom>
            <a:noFill/>
          </p:spPr>
          <p:txBody>
            <a:bodyPr wrap="square">
              <a:spAutoFit/>
            </a:bodyPr>
            <a:lstStyle/>
            <a:p>
              <a:r>
                <a:rPr lang="en-US" sz="1400" noProof="0" dirty="0">
                  <a:solidFill>
                    <a:schemeClr val="tx1">
                      <a:lumMod val="65000"/>
                      <a:lumOff val="35000"/>
                    </a:schemeClr>
                  </a:solidFill>
                  <a:latin typeface="Aptos" panose="020B0004020202020204" pitchFamily="34" charset="0"/>
                </a:rPr>
                <a:t>Billy         Suzy                       Jenny</a:t>
              </a:r>
              <a:endParaRPr lang="en-US" sz="1400" noProof="0" dirty="0">
                <a:latin typeface="Aptos" panose="020B0004020202020204" pitchFamily="34" charset="0"/>
              </a:endParaRPr>
            </a:p>
          </p:txBody>
        </p:sp>
        <p:sp>
          <p:nvSpPr>
            <p:cNvPr id="5" name="TextBox 4">
              <a:extLst>
                <a:ext uri="{FF2B5EF4-FFF2-40B4-BE49-F238E27FC236}">
                  <a16:creationId xmlns:a16="http://schemas.microsoft.com/office/drawing/2014/main" id="{1F771A35-32A7-AFAF-E04C-DC8D4EE86C53}"/>
                </a:ext>
              </a:extLst>
            </p:cNvPr>
            <p:cNvSpPr txBox="1"/>
            <p:nvPr/>
          </p:nvSpPr>
          <p:spPr>
            <a:xfrm rot="5400000">
              <a:off x="7868792" y="4195621"/>
              <a:ext cx="1628011" cy="369332"/>
            </a:xfrm>
            <a:prstGeom prst="rect">
              <a:avLst/>
            </a:prstGeom>
            <a:noFill/>
          </p:spPr>
          <p:txBody>
            <a:bodyPr wrap="square">
              <a:spAutoFit/>
            </a:bodyPr>
            <a:lstStyle/>
            <a:p>
              <a:r>
                <a:rPr lang="en-US" noProof="0" dirty="0">
                  <a:solidFill>
                    <a:schemeClr val="accent1">
                      <a:lumMod val="75000"/>
                    </a:schemeClr>
                  </a:solidFill>
                  <a:latin typeface="Aptos" panose="020B0004020202020204" pitchFamily="34" charset="0"/>
                </a:rPr>
                <a:t>Observations</a:t>
              </a:r>
            </a:p>
          </p:txBody>
        </p:sp>
        <p:grpSp>
          <p:nvGrpSpPr>
            <p:cNvPr id="61" name="Group 60">
              <a:extLst>
                <a:ext uri="{FF2B5EF4-FFF2-40B4-BE49-F238E27FC236}">
                  <a16:creationId xmlns:a16="http://schemas.microsoft.com/office/drawing/2014/main" id="{03FFFDB6-C41B-B2A9-6E84-B0F6D3983C40}"/>
                </a:ext>
              </a:extLst>
            </p:cNvPr>
            <p:cNvGrpSpPr/>
            <p:nvPr/>
          </p:nvGrpSpPr>
          <p:grpSpPr>
            <a:xfrm>
              <a:off x="4402836" y="3350481"/>
              <a:ext cx="3386327" cy="2122691"/>
              <a:chOff x="1134573" y="2538299"/>
              <a:chExt cx="3386327" cy="2122691"/>
            </a:xfrm>
          </p:grpSpPr>
          <p:sp>
            <p:nvSpPr>
              <p:cNvPr id="7" name="TextBox 6">
                <a:extLst>
                  <a:ext uri="{FF2B5EF4-FFF2-40B4-BE49-F238E27FC236}">
                    <a16:creationId xmlns:a16="http://schemas.microsoft.com/office/drawing/2014/main" id="{A3AC1455-D1E1-C600-AFD1-BBF307E9878C}"/>
                  </a:ext>
                </a:extLst>
              </p:cNvPr>
              <p:cNvSpPr txBox="1"/>
              <p:nvPr/>
            </p:nvSpPr>
            <p:spPr>
              <a:xfrm>
                <a:off x="3671820" y="4414769"/>
                <a:ext cx="796146"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p </a:t>
                </a:r>
                <a:r>
                  <a:rPr lang="en-US" sz="1000" noProof="0" dirty="0">
                    <a:solidFill>
                      <a:srgbClr val="C00000"/>
                    </a:solidFill>
                    <a:latin typeface="Aptos" panose="020B0004020202020204" pitchFamily="34" charset="0"/>
                  </a:rPr>
                  <a:t>variables</a:t>
                </a:r>
              </a:p>
            </p:txBody>
          </p:sp>
          <p:cxnSp>
            <p:nvCxnSpPr>
              <p:cNvPr id="9" name="Google Shape;209;p9">
                <a:extLst>
                  <a:ext uri="{FF2B5EF4-FFF2-40B4-BE49-F238E27FC236}">
                    <a16:creationId xmlns:a16="http://schemas.microsoft.com/office/drawing/2014/main" id="{D8F5DF17-CDBC-8F79-F228-D0F164A0F5BC}"/>
                  </a:ext>
                </a:extLst>
              </p:cNvPr>
              <p:cNvCxnSpPr>
                <a:cxnSpLocks/>
              </p:cNvCxnSpPr>
              <p:nvPr/>
            </p:nvCxnSpPr>
            <p:spPr>
              <a:xfrm>
                <a:off x="1889415" y="4385828"/>
                <a:ext cx="2423681" cy="0"/>
              </a:xfrm>
              <a:prstGeom prst="straightConnector1">
                <a:avLst/>
              </a:prstGeom>
              <a:noFill/>
              <a:ln w="9525" cap="flat" cmpd="sng">
                <a:solidFill>
                  <a:schemeClr val="bg2">
                    <a:lumMod val="25000"/>
                  </a:schemeClr>
                </a:solidFill>
                <a:prstDash val="solid"/>
                <a:round/>
                <a:headEnd type="none" w="sm" len="sm"/>
                <a:tailEnd type="stealth" w="med" len="med"/>
              </a:ln>
            </p:spPr>
          </p:cxnSp>
          <p:grpSp>
            <p:nvGrpSpPr>
              <p:cNvPr id="60" name="Group 59">
                <a:extLst>
                  <a:ext uri="{FF2B5EF4-FFF2-40B4-BE49-F238E27FC236}">
                    <a16:creationId xmlns:a16="http://schemas.microsoft.com/office/drawing/2014/main" id="{9C1996AB-6A56-63D3-AD59-B1F927DD375B}"/>
                  </a:ext>
                </a:extLst>
              </p:cNvPr>
              <p:cNvGrpSpPr/>
              <p:nvPr/>
            </p:nvGrpSpPr>
            <p:grpSpPr>
              <a:xfrm>
                <a:off x="1134573" y="2538299"/>
                <a:ext cx="3386327" cy="1909510"/>
                <a:chOff x="1134573" y="2538299"/>
                <a:chExt cx="3386327" cy="1909510"/>
              </a:xfrm>
            </p:grpSpPr>
            <p:sp>
              <p:nvSpPr>
                <p:cNvPr id="6" name="TextBox 5">
                  <a:extLst>
                    <a:ext uri="{FF2B5EF4-FFF2-40B4-BE49-F238E27FC236}">
                      <a16:creationId xmlns:a16="http://schemas.microsoft.com/office/drawing/2014/main" id="{3BC62E30-5058-FA43-27BD-359015E87F5B}"/>
                    </a:ext>
                  </a:extLst>
                </p:cNvPr>
                <p:cNvSpPr txBox="1"/>
                <p:nvPr/>
              </p:nvSpPr>
              <p:spPr>
                <a:xfrm rot="16200000">
                  <a:off x="780630" y="2892768"/>
                  <a:ext cx="954108"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n </a:t>
                  </a:r>
                  <a:r>
                    <a:rPr lang="en-US" sz="1000" noProof="0" dirty="0">
                      <a:solidFill>
                        <a:srgbClr val="C00000"/>
                      </a:solidFill>
                      <a:latin typeface="Aptos" panose="020B0004020202020204" pitchFamily="34" charset="0"/>
                    </a:rPr>
                    <a:t>data points</a:t>
                  </a:r>
                </a:p>
              </p:txBody>
            </p:sp>
            <p:cxnSp>
              <p:nvCxnSpPr>
                <p:cNvPr id="8" name="Google Shape;209;p9">
                  <a:extLst>
                    <a:ext uri="{FF2B5EF4-FFF2-40B4-BE49-F238E27FC236}">
                      <a16:creationId xmlns:a16="http://schemas.microsoft.com/office/drawing/2014/main" id="{244F06CA-C947-1848-EBAD-8225B89552D7}"/>
                    </a:ext>
                  </a:extLst>
                </p:cNvPr>
                <p:cNvCxnSpPr>
                  <a:cxnSpLocks/>
                </p:cNvCxnSpPr>
                <p:nvPr/>
              </p:nvCxnSpPr>
              <p:spPr>
                <a:xfrm>
                  <a:off x="1388253" y="2716579"/>
                  <a:ext cx="0" cy="1552708"/>
                </a:xfrm>
                <a:prstGeom prst="straightConnector1">
                  <a:avLst/>
                </a:prstGeom>
                <a:noFill/>
                <a:ln w="9525" cap="flat" cmpd="sng">
                  <a:solidFill>
                    <a:schemeClr val="bg2">
                      <a:lumMod val="25000"/>
                    </a:schemeClr>
                  </a:solidFill>
                  <a:prstDash val="solid"/>
                  <a:round/>
                  <a:headEnd type="none" w="sm" len="sm"/>
                  <a:tailEnd type="stealth" w="med" len="med"/>
                </a:ln>
              </p:spPr>
            </p:cxnSp>
            <p:pic>
              <p:nvPicPr>
                <p:cNvPr id="18" name="Picture 17">
                  <a:extLst>
                    <a:ext uri="{FF2B5EF4-FFF2-40B4-BE49-F238E27FC236}">
                      <a16:creationId xmlns:a16="http://schemas.microsoft.com/office/drawing/2014/main" id="{FADD004A-2D01-4698-A974-FF4A78DC0071}"/>
                    </a:ext>
                  </a:extLst>
                </p:cNvPr>
                <p:cNvPicPr>
                  <a:picLocks noChangeAspect="1"/>
                </p:cNvPicPr>
                <p:nvPr/>
              </p:nvPicPr>
              <p:blipFill rotWithShape="1">
                <a:blip r:embed="rId6"/>
                <a:srcRect l="94120"/>
                <a:stretch>
                  <a:fillRect/>
                </a:stretch>
              </p:blipFill>
              <p:spPr>
                <a:xfrm>
                  <a:off x="4298229" y="2545365"/>
                  <a:ext cx="222671" cy="1902444"/>
                </a:xfrm>
                <a:prstGeom prst="rect">
                  <a:avLst/>
                </a:prstGeom>
              </p:spPr>
            </p:pic>
            <p:pic>
              <p:nvPicPr>
                <p:cNvPr id="19" name="Picture 18">
                  <a:extLst>
                    <a:ext uri="{FF2B5EF4-FFF2-40B4-BE49-F238E27FC236}">
                      <a16:creationId xmlns:a16="http://schemas.microsoft.com/office/drawing/2014/main" id="{CC299FF3-EE37-C6A8-E1BA-3B7440F030B4}"/>
                    </a:ext>
                  </a:extLst>
                </p:cNvPr>
                <p:cNvPicPr>
                  <a:picLocks noChangeAspect="1"/>
                </p:cNvPicPr>
                <p:nvPr/>
              </p:nvPicPr>
              <p:blipFill rotWithShape="1">
                <a:blip r:embed="rId6"/>
                <a:srcRect l="23678" r="71504"/>
                <a:stretch>
                  <a:fillRect/>
                </a:stretch>
              </p:blipFill>
              <p:spPr>
                <a:xfrm>
                  <a:off x="1457085" y="2538299"/>
                  <a:ext cx="182452" cy="1902444"/>
                </a:xfrm>
                <a:prstGeom prst="rect">
                  <a:avLst/>
                </a:prstGeom>
              </p:spPr>
            </p:pic>
          </p:grpSp>
        </p:grpSp>
        <p:sp>
          <p:nvSpPr>
            <p:cNvPr id="20" name="TextBox 19">
              <a:extLst>
                <a:ext uri="{FF2B5EF4-FFF2-40B4-BE49-F238E27FC236}">
                  <a16:creationId xmlns:a16="http://schemas.microsoft.com/office/drawing/2014/main" id="{126D2516-CCA2-1B67-E00E-C88E73D4BB4D}"/>
                </a:ext>
              </a:extLst>
            </p:cNvPr>
            <p:cNvSpPr txBox="1"/>
            <p:nvPr/>
          </p:nvSpPr>
          <p:spPr>
            <a:xfrm>
              <a:off x="7854797" y="3564925"/>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Quiz 1</a:t>
              </a:r>
            </a:p>
          </p:txBody>
        </p:sp>
        <p:sp>
          <p:nvSpPr>
            <p:cNvPr id="21" name="TextBox 20">
              <a:extLst>
                <a:ext uri="{FF2B5EF4-FFF2-40B4-BE49-F238E27FC236}">
                  <a16:creationId xmlns:a16="http://schemas.microsoft.com/office/drawing/2014/main" id="{745CD393-ED7D-EA2F-DFBA-0473A51724EB}"/>
                </a:ext>
              </a:extLst>
            </p:cNvPr>
            <p:cNvSpPr txBox="1"/>
            <p:nvPr/>
          </p:nvSpPr>
          <p:spPr>
            <a:xfrm>
              <a:off x="5004762" y="2764705"/>
              <a:ext cx="2496096" cy="369332"/>
            </a:xfrm>
            <a:prstGeom prst="rect">
              <a:avLst/>
            </a:prstGeom>
            <a:noFill/>
          </p:spPr>
          <p:txBody>
            <a:bodyPr wrap="square">
              <a:spAutoFit/>
            </a:bodyPr>
            <a:lstStyle/>
            <a:p>
              <a:r>
                <a:rPr lang="en-US" noProof="0" dirty="0">
                  <a:solidFill>
                    <a:schemeClr val="accent1">
                      <a:lumMod val="75000"/>
                    </a:schemeClr>
                  </a:solidFill>
                  <a:latin typeface="Aptos" panose="020B0004020202020204" pitchFamily="34" charset="0"/>
                </a:rPr>
                <a:t>Attributes</a:t>
              </a:r>
            </a:p>
          </p:txBody>
        </p:sp>
        <p:grpSp>
          <p:nvGrpSpPr>
            <p:cNvPr id="41" name="Group 40">
              <a:extLst>
                <a:ext uri="{FF2B5EF4-FFF2-40B4-BE49-F238E27FC236}">
                  <a16:creationId xmlns:a16="http://schemas.microsoft.com/office/drawing/2014/main" id="{7C124976-582A-E581-8938-772551D6A051}"/>
                </a:ext>
              </a:extLst>
            </p:cNvPr>
            <p:cNvGrpSpPr/>
            <p:nvPr/>
          </p:nvGrpSpPr>
          <p:grpSpPr>
            <a:xfrm>
              <a:off x="4976612" y="3503370"/>
              <a:ext cx="499238" cy="1471556"/>
              <a:chOff x="1708349" y="2691188"/>
              <a:chExt cx="499238" cy="1471556"/>
            </a:xfrm>
          </p:grpSpPr>
          <p:sp>
            <p:nvSpPr>
              <p:cNvPr id="24" name="TextBox 23">
                <a:extLst>
                  <a:ext uri="{FF2B5EF4-FFF2-40B4-BE49-F238E27FC236}">
                    <a16:creationId xmlns:a16="http://schemas.microsoft.com/office/drawing/2014/main" id="{539D4168-9123-DCC0-664A-0F78714A3CC8}"/>
                  </a:ext>
                </a:extLst>
              </p:cNvPr>
              <p:cNvSpPr txBox="1"/>
              <p:nvPr/>
            </p:nvSpPr>
            <p:spPr>
              <a:xfrm>
                <a:off x="1708349" y="26911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F854C65B-C480-A567-FC1C-BEDC354B1273}"/>
                  </a:ext>
                </a:extLst>
              </p:cNvPr>
              <p:cNvSpPr txBox="1"/>
              <p:nvPr/>
            </p:nvSpPr>
            <p:spPr>
              <a:xfrm>
                <a:off x="1708349" y="30460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D</a:t>
                </a:r>
                <a:endParaRPr lang="en-US" i="1"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068A3A7D-0FC5-A425-7C68-AB5965D06164}"/>
                  </a:ext>
                </a:extLst>
              </p:cNvPr>
              <p:cNvSpPr txBox="1"/>
              <p:nvPr/>
            </p:nvSpPr>
            <p:spPr>
              <a:xfrm>
                <a:off x="1708349" y="37934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C</a:t>
                </a:r>
                <a:endParaRPr lang="en-US" i="1" dirty="0">
                  <a:latin typeface="Times New Roman" panose="02020603050405020304" pitchFamily="18" charset="0"/>
                  <a:cs typeface="Times New Roman" panose="02020603050405020304" pitchFamily="18" charset="0"/>
                </a:endParaRPr>
              </a:p>
            </p:txBody>
          </p:sp>
          <p:pic>
            <p:nvPicPr>
              <p:cNvPr id="28" name="Picture 27" descr="A black dot on a white background&#10;&#10;AI-generated content may be incorrect.">
                <a:extLst>
                  <a:ext uri="{FF2B5EF4-FFF2-40B4-BE49-F238E27FC236}">
                    <a16:creationId xmlns:a16="http://schemas.microsoft.com/office/drawing/2014/main" id="{FCC55F25-AAF5-B9D0-75F4-2AB40B6DCE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6476" y="3415397"/>
                <a:ext cx="202984" cy="405967"/>
              </a:xfrm>
              <a:prstGeom prst="rect">
                <a:avLst/>
              </a:prstGeom>
            </p:spPr>
          </p:pic>
        </p:grpSp>
        <p:sp>
          <p:nvSpPr>
            <p:cNvPr id="29" name="TextBox 28">
              <a:extLst>
                <a:ext uri="{FF2B5EF4-FFF2-40B4-BE49-F238E27FC236}">
                  <a16:creationId xmlns:a16="http://schemas.microsoft.com/office/drawing/2014/main" id="{93D5567C-886A-ADF1-4DFB-22C13C2B6E43}"/>
                </a:ext>
              </a:extLst>
            </p:cNvPr>
            <p:cNvSpPr txBox="1"/>
            <p:nvPr/>
          </p:nvSpPr>
          <p:spPr>
            <a:xfrm>
              <a:off x="7854797" y="3919802"/>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Test 1</a:t>
              </a:r>
            </a:p>
          </p:txBody>
        </p:sp>
        <p:sp>
          <p:nvSpPr>
            <p:cNvPr id="30" name="TextBox 29">
              <a:extLst>
                <a:ext uri="{FF2B5EF4-FFF2-40B4-BE49-F238E27FC236}">
                  <a16:creationId xmlns:a16="http://schemas.microsoft.com/office/drawing/2014/main" id="{DB622B73-9FE7-F980-1B26-D2CDF8FEFE77}"/>
                </a:ext>
              </a:extLst>
            </p:cNvPr>
            <p:cNvSpPr txBox="1"/>
            <p:nvPr/>
          </p:nvSpPr>
          <p:spPr>
            <a:xfrm>
              <a:off x="7854797" y="4667149"/>
              <a:ext cx="83416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Quiz 2</a:t>
              </a:r>
            </a:p>
          </p:txBody>
        </p:sp>
        <p:pic>
          <p:nvPicPr>
            <p:cNvPr id="31" name="Picture 30" descr="A black dot on a white background&#10;&#10;AI-generated content may be incorrect.">
              <a:extLst>
                <a:ext uri="{FF2B5EF4-FFF2-40B4-BE49-F238E27FC236}">
                  <a16:creationId xmlns:a16="http://schemas.microsoft.com/office/drawing/2014/main" id="{C658A996-B7C9-0E3C-3C2B-FF032D971B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64654" y="4227579"/>
              <a:ext cx="202984" cy="405967"/>
            </a:xfrm>
            <a:prstGeom prst="rect">
              <a:avLst/>
            </a:prstGeom>
          </p:spPr>
        </p:pic>
        <p:grpSp>
          <p:nvGrpSpPr>
            <p:cNvPr id="40" name="Group 39">
              <a:extLst>
                <a:ext uri="{FF2B5EF4-FFF2-40B4-BE49-F238E27FC236}">
                  <a16:creationId xmlns:a16="http://schemas.microsoft.com/office/drawing/2014/main" id="{83E81499-CE5E-3F30-D53E-191C6B4A3FF9}"/>
                </a:ext>
              </a:extLst>
            </p:cNvPr>
            <p:cNvGrpSpPr/>
            <p:nvPr/>
          </p:nvGrpSpPr>
          <p:grpSpPr>
            <a:xfrm>
              <a:off x="5613439" y="3503370"/>
              <a:ext cx="499238" cy="1471556"/>
              <a:chOff x="2345176" y="2738288"/>
              <a:chExt cx="499238" cy="1471556"/>
            </a:xfrm>
          </p:grpSpPr>
          <p:sp>
            <p:nvSpPr>
              <p:cNvPr id="32" name="TextBox 31">
                <a:extLst>
                  <a:ext uri="{FF2B5EF4-FFF2-40B4-BE49-F238E27FC236}">
                    <a16:creationId xmlns:a16="http://schemas.microsoft.com/office/drawing/2014/main" id="{40DF60BB-3AE6-A628-3E30-F6E5C68A1C1A}"/>
                  </a:ext>
                </a:extLst>
              </p:cNvPr>
              <p:cNvSpPr txBox="1"/>
              <p:nvPr/>
            </p:nvSpPr>
            <p:spPr>
              <a:xfrm>
                <a:off x="2345176" y="27382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F</a:t>
                </a:r>
                <a:endParaRPr lang="en-US" i="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494F7A09-327E-5BD0-C95F-2D3498EBC8BC}"/>
                  </a:ext>
                </a:extLst>
              </p:cNvPr>
              <p:cNvSpPr txBox="1"/>
              <p:nvPr/>
            </p:nvSpPr>
            <p:spPr>
              <a:xfrm>
                <a:off x="2345176" y="30931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FCC1FD8C-3D03-4B01-F839-96256D9A015B}"/>
                  </a:ext>
                </a:extLst>
              </p:cNvPr>
              <p:cNvSpPr txBox="1"/>
              <p:nvPr/>
            </p:nvSpPr>
            <p:spPr>
              <a:xfrm>
                <a:off x="2345176" y="38405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NA</a:t>
                </a:r>
                <a:endParaRPr lang="en-US" i="1" dirty="0">
                  <a:latin typeface="Times New Roman" panose="02020603050405020304" pitchFamily="18" charset="0"/>
                  <a:cs typeface="Times New Roman" panose="02020603050405020304" pitchFamily="18" charset="0"/>
                </a:endParaRPr>
              </a:p>
            </p:txBody>
          </p:sp>
          <p:pic>
            <p:nvPicPr>
              <p:cNvPr id="39" name="Picture 38" descr="A black dot on a white background&#10;&#10;AI-generated content may be incorrect.">
                <a:extLst>
                  <a:ext uri="{FF2B5EF4-FFF2-40B4-BE49-F238E27FC236}">
                    <a16:creationId xmlns:a16="http://schemas.microsoft.com/office/drawing/2014/main" id="{3675D127-8ABB-B176-67F5-1756A5F7EE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93303" y="3462497"/>
                <a:ext cx="202984" cy="405967"/>
              </a:xfrm>
              <a:prstGeom prst="rect">
                <a:avLst/>
              </a:prstGeom>
            </p:spPr>
          </p:pic>
        </p:grpSp>
        <p:pic>
          <p:nvPicPr>
            <p:cNvPr id="42" name="Picture 41" descr="A black dot on a white background&#10;&#10;AI-generated content may be incorrect.">
              <a:extLst>
                <a:ext uri="{FF2B5EF4-FFF2-40B4-BE49-F238E27FC236}">
                  <a16:creationId xmlns:a16="http://schemas.microsoft.com/office/drawing/2014/main" id="{B4B5A498-BB9B-99CC-093A-CAE8F44F22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6455834" y="3025791"/>
              <a:ext cx="202984" cy="405967"/>
            </a:xfrm>
            <a:prstGeom prst="rect">
              <a:avLst/>
            </a:prstGeom>
          </p:spPr>
        </p:pic>
        <p:grpSp>
          <p:nvGrpSpPr>
            <p:cNvPr id="43" name="Group 42">
              <a:extLst>
                <a:ext uri="{FF2B5EF4-FFF2-40B4-BE49-F238E27FC236}">
                  <a16:creationId xmlns:a16="http://schemas.microsoft.com/office/drawing/2014/main" id="{5A548177-5ED9-121F-6D92-42031B6BD455}"/>
                </a:ext>
              </a:extLst>
            </p:cNvPr>
            <p:cNvGrpSpPr/>
            <p:nvPr/>
          </p:nvGrpSpPr>
          <p:grpSpPr>
            <a:xfrm>
              <a:off x="6860158" y="3503370"/>
              <a:ext cx="499238" cy="1471556"/>
              <a:chOff x="2345176" y="2738288"/>
              <a:chExt cx="499238" cy="1471556"/>
            </a:xfrm>
          </p:grpSpPr>
          <p:sp>
            <p:nvSpPr>
              <p:cNvPr id="44" name="TextBox 43">
                <a:extLst>
                  <a:ext uri="{FF2B5EF4-FFF2-40B4-BE49-F238E27FC236}">
                    <a16:creationId xmlns:a16="http://schemas.microsoft.com/office/drawing/2014/main" id="{DFD45139-48FE-61A7-5D5E-EF31BBC079A6}"/>
                  </a:ext>
                </a:extLst>
              </p:cNvPr>
              <p:cNvSpPr txBox="1"/>
              <p:nvPr/>
            </p:nvSpPr>
            <p:spPr>
              <a:xfrm>
                <a:off x="2345176" y="2738288"/>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A</a:t>
                </a:r>
                <a:endParaRPr lang="en-US" i="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6FD38D6F-D92F-943A-CC4A-0EA806CB4C45}"/>
                  </a:ext>
                </a:extLst>
              </p:cNvPr>
              <p:cNvSpPr txBox="1"/>
              <p:nvPr/>
            </p:nvSpPr>
            <p:spPr>
              <a:xfrm>
                <a:off x="2345176" y="3093165"/>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A</a:t>
                </a:r>
                <a:endParaRPr lang="en-US" i="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62ADC4D1-0307-0271-4A55-8DB55871ADC3}"/>
                  </a:ext>
                </a:extLst>
              </p:cNvPr>
              <p:cNvSpPr txBox="1"/>
              <p:nvPr/>
            </p:nvSpPr>
            <p:spPr>
              <a:xfrm>
                <a:off x="2345176" y="3840512"/>
                <a:ext cx="499238" cy="369332"/>
              </a:xfrm>
              <a:prstGeom prst="rect">
                <a:avLst/>
              </a:prstGeom>
              <a:noFill/>
            </p:spPr>
            <p:txBody>
              <a:bodyPr wrap="square">
                <a:spAutoFit/>
              </a:bodyPr>
              <a:lstStyle/>
              <a:p>
                <a:pPr algn="ctr"/>
                <a:r>
                  <a:rPr lang="en-US" sz="1800" i="1" noProof="0" dirty="0">
                    <a:latin typeface="Times New Roman" panose="02020603050405020304" pitchFamily="18" charset="0"/>
                    <a:cs typeface="Times New Roman" panose="02020603050405020304" pitchFamily="18" charset="0"/>
                  </a:rPr>
                  <a:t>B</a:t>
                </a:r>
                <a:endParaRPr lang="en-US" i="1" dirty="0">
                  <a:latin typeface="Times New Roman" panose="02020603050405020304" pitchFamily="18" charset="0"/>
                  <a:cs typeface="Times New Roman" panose="02020603050405020304" pitchFamily="18" charset="0"/>
                </a:endParaRPr>
              </a:p>
            </p:txBody>
          </p:sp>
          <p:pic>
            <p:nvPicPr>
              <p:cNvPr id="47" name="Picture 46" descr="A black dot on a white background&#10;&#10;AI-generated content may be incorrect.">
                <a:extLst>
                  <a:ext uri="{FF2B5EF4-FFF2-40B4-BE49-F238E27FC236}">
                    <a16:creationId xmlns:a16="http://schemas.microsoft.com/office/drawing/2014/main" id="{A0B3811E-AE5D-DEC7-015F-94C1B2D248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93303" y="3462497"/>
                <a:ext cx="202984" cy="405967"/>
              </a:xfrm>
              <a:prstGeom prst="rect">
                <a:avLst/>
              </a:prstGeom>
            </p:spPr>
          </p:pic>
        </p:grpSp>
        <p:pic>
          <p:nvPicPr>
            <p:cNvPr id="48" name="Picture 47" descr="A black dot on a white background&#10;&#10;AI-generated content may be incorrect.">
              <a:extLst>
                <a:ext uri="{FF2B5EF4-FFF2-40B4-BE49-F238E27FC236}">
                  <a16:creationId xmlns:a16="http://schemas.microsoft.com/office/drawing/2014/main" id="{605C125B-E9FB-1D31-94DA-45C19E222C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6351758" y="3490383"/>
              <a:ext cx="202984" cy="405967"/>
            </a:xfrm>
            <a:prstGeom prst="rect">
              <a:avLst/>
            </a:prstGeom>
          </p:spPr>
        </p:pic>
        <p:pic>
          <p:nvPicPr>
            <p:cNvPr id="49" name="Picture 48" descr="A black dot on a white background&#10;&#10;AI-generated content may be incorrect.">
              <a:extLst>
                <a:ext uri="{FF2B5EF4-FFF2-40B4-BE49-F238E27FC236}">
                  <a16:creationId xmlns:a16="http://schemas.microsoft.com/office/drawing/2014/main" id="{9DD6A601-5F32-FA67-786D-2B55CE1D0C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6351758" y="3828858"/>
              <a:ext cx="202984" cy="405967"/>
            </a:xfrm>
            <a:prstGeom prst="rect">
              <a:avLst/>
            </a:prstGeom>
          </p:spPr>
        </p:pic>
        <p:pic>
          <p:nvPicPr>
            <p:cNvPr id="50" name="Picture 49" descr="A black dot on a white background&#10;&#10;AI-generated content may be incorrect.">
              <a:extLst>
                <a:ext uri="{FF2B5EF4-FFF2-40B4-BE49-F238E27FC236}">
                  <a16:creationId xmlns:a16="http://schemas.microsoft.com/office/drawing/2014/main" id="{5FA95D03-FC23-9C55-C221-6B903732F8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6351759" y="4561639"/>
              <a:ext cx="202984" cy="405967"/>
            </a:xfrm>
            <a:prstGeom prst="rect">
              <a:avLst/>
            </a:prstGeom>
          </p:spPr>
        </p:pic>
        <p:pic>
          <p:nvPicPr>
            <p:cNvPr id="51" name="Picture 50" descr="A black dot on a white background&#10;&#10;AI-generated content may be incorrect.">
              <a:extLst>
                <a:ext uri="{FF2B5EF4-FFF2-40B4-BE49-F238E27FC236}">
                  <a16:creationId xmlns:a16="http://schemas.microsoft.com/office/drawing/2014/main" id="{F0203B10-E0D6-F57D-76B7-1BE2650588E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8741297">
              <a:off x="6351759" y="4191958"/>
              <a:ext cx="202984" cy="405967"/>
            </a:xfrm>
            <a:prstGeom prst="rect">
              <a:avLst/>
            </a:prstGeom>
          </p:spPr>
        </p:pic>
        <p:sp>
          <p:nvSpPr>
            <p:cNvPr id="3" name="TextBox 2">
              <a:extLst>
                <a:ext uri="{FF2B5EF4-FFF2-40B4-BE49-F238E27FC236}">
                  <a16:creationId xmlns:a16="http://schemas.microsoft.com/office/drawing/2014/main" id="{F9CA31B2-28E1-1C79-0665-6956C228C3B0}"/>
                </a:ext>
              </a:extLst>
            </p:cNvPr>
            <p:cNvSpPr txBox="1"/>
            <p:nvPr/>
          </p:nvSpPr>
          <p:spPr>
            <a:xfrm>
              <a:off x="1599390" y="2068027"/>
              <a:ext cx="2511464" cy="523220"/>
            </a:xfrm>
            <a:prstGeom prst="rect">
              <a:avLst/>
            </a:prstGeom>
            <a:noFill/>
          </p:spPr>
          <p:txBody>
            <a:bodyPr wrap="square">
              <a:spAutoFit/>
            </a:bodyPr>
            <a:lstStyle/>
            <a:p>
              <a:pPr algn="r"/>
              <a:r>
                <a:rPr lang="en-GB" sz="1400" b="0" i="0" dirty="0">
                  <a:solidFill>
                    <a:schemeClr val="bg2">
                      <a:lumMod val="25000"/>
                    </a:schemeClr>
                  </a:solidFill>
                  <a:effectLst/>
                  <a:latin typeface="Aptos" panose="020B0004020202020204" pitchFamily="34" charset="0"/>
                </a:rPr>
                <a:t>Column headers are values, not variable names.</a:t>
              </a:r>
            </a:p>
          </p:txBody>
        </p:sp>
        <p:sp>
          <p:nvSpPr>
            <p:cNvPr id="10" name="Arc 9">
              <a:extLst>
                <a:ext uri="{FF2B5EF4-FFF2-40B4-BE49-F238E27FC236}">
                  <a16:creationId xmlns:a16="http://schemas.microsoft.com/office/drawing/2014/main" id="{0B7CD300-3C3D-41E9-93AD-F5935098932D}"/>
                </a:ext>
              </a:extLst>
            </p:cNvPr>
            <p:cNvSpPr/>
            <p:nvPr/>
          </p:nvSpPr>
          <p:spPr>
            <a:xfrm rot="11180625" flipV="1">
              <a:off x="3484268" y="2491686"/>
              <a:ext cx="1638904" cy="715424"/>
            </a:xfrm>
            <a:prstGeom prst="arc">
              <a:avLst>
                <a:gd name="adj1" fmla="val 11328383"/>
                <a:gd name="adj2" fmla="val 18496108"/>
              </a:avLst>
            </a:prstGeom>
            <a:ln w="9525">
              <a:solidFill>
                <a:schemeClr val="bg2">
                  <a:lumMod val="25000"/>
                </a:schemeClr>
              </a:solidFill>
              <a:prstDash val="solid"/>
              <a:headEnd type="stealth"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k-SK" dirty="0"/>
            </a:p>
          </p:txBody>
        </p:sp>
        <p:sp>
          <p:nvSpPr>
            <p:cNvPr id="13" name="TextBox 12">
              <a:extLst>
                <a:ext uri="{FF2B5EF4-FFF2-40B4-BE49-F238E27FC236}">
                  <a16:creationId xmlns:a16="http://schemas.microsoft.com/office/drawing/2014/main" id="{69801F14-3AE1-93B1-D0C7-9A0DB96B161B}"/>
                </a:ext>
              </a:extLst>
            </p:cNvPr>
            <p:cNvSpPr txBox="1"/>
            <p:nvPr/>
          </p:nvSpPr>
          <p:spPr>
            <a:xfrm>
              <a:off x="7103912" y="2228399"/>
              <a:ext cx="3891102" cy="307777"/>
            </a:xfrm>
            <a:prstGeom prst="rect">
              <a:avLst/>
            </a:prstGeom>
            <a:noFill/>
          </p:spPr>
          <p:txBody>
            <a:bodyPr wrap="square">
              <a:spAutoFit/>
            </a:bodyPr>
            <a:lstStyle/>
            <a:p>
              <a:r>
                <a:rPr lang="en-GB" sz="1400" b="0" i="0" dirty="0">
                  <a:solidFill>
                    <a:schemeClr val="bg2">
                      <a:lumMod val="25000"/>
                    </a:schemeClr>
                  </a:solidFill>
                  <a:effectLst/>
                  <a:latin typeface="Aptos" panose="020B0004020202020204" pitchFamily="34" charset="0"/>
                </a:rPr>
                <a:t>Variables are stored in both rows and columns.</a:t>
              </a:r>
            </a:p>
          </p:txBody>
        </p:sp>
        <p:sp>
          <p:nvSpPr>
            <p:cNvPr id="14" name="Arc 13">
              <a:extLst>
                <a:ext uri="{FF2B5EF4-FFF2-40B4-BE49-F238E27FC236}">
                  <a16:creationId xmlns:a16="http://schemas.microsoft.com/office/drawing/2014/main" id="{16B4C3AD-5EE0-29B9-55BF-6ED9EAF0DA7C}"/>
                </a:ext>
              </a:extLst>
            </p:cNvPr>
            <p:cNvSpPr/>
            <p:nvPr/>
          </p:nvSpPr>
          <p:spPr>
            <a:xfrm rot="9219745" flipH="1" flipV="1">
              <a:off x="6595911" y="2420240"/>
              <a:ext cx="824279" cy="465328"/>
            </a:xfrm>
            <a:prstGeom prst="arc">
              <a:avLst>
                <a:gd name="adj1" fmla="val 11562057"/>
                <a:gd name="adj2" fmla="val 19239296"/>
              </a:avLst>
            </a:prstGeom>
            <a:ln w="9525">
              <a:solidFill>
                <a:schemeClr val="bg2">
                  <a:lumMod val="25000"/>
                </a:schemeClr>
              </a:solidFill>
              <a:prstDash val="solid"/>
              <a:headEnd type="stealth"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k-SK"/>
            </a:p>
          </p:txBody>
        </p:sp>
        <p:sp>
          <p:nvSpPr>
            <p:cNvPr id="15" name="Arc 14">
              <a:extLst>
                <a:ext uri="{FF2B5EF4-FFF2-40B4-BE49-F238E27FC236}">
                  <a16:creationId xmlns:a16="http://schemas.microsoft.com/office/drawing/2014/main" id="{F76C47B5-C961-02C2-F03E-D84252293CFF}"/>
                </a:ext>
              </a:extLst>
            </p:cNvPr>
            <p:cNvSpPr/>
            <p:nvPr/>
          </p:nvSpPr>
          <p:spPr>
            <a:xfrm rot="14059426" flipV="1">
              <a:off x="7080279" y="2604064"/>
              <a:ext cx="1902054" cy="715424"/>
            </a:xfrm>
            <a:prstGeom prst="arc">
              <a:avLst>
                <a:gd name="adj1" fmla="val 11328383"/>
                <a:gd name="adj2" fmla="val 18496108"/>
              </a:avLst>
            </a:prstGeom>
            <a:ln w="9525">
              <a:solidFill>
                <a:schemeClr val="bg2">
                  <a:lumMod val="25000"/>
                </a:schemeClr>
              </a:solidFill>
              <a:prstDash val="solid"/>
              <a:headEnd type="stealth"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k-SK" dirty="0"/>
            </a:p>
          </p:txBody>
        </p:sp>
      </p:grpSp>
    </p:spTree>
    <p:extLst>
      <p:ext uri="{BB962C8B-B14F-4D97-AF65-F5344CB8AC3E}">
        <p14:creationId xmlns:p14="http://schemas.microsoft.com/office/powerpoint/2010/main" val="204129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5332E-268E-6362-C43F-35FE0F5A15FF}"/>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291B6493-4E67-EDDB-9866-D6C4ECAC21CA}"/>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11</a:t>
            </a:fld>
            <a:endParaRPr lang="en-US" noProof="0" dirty="0"/>
          </a:p>
        </p:txBody>
      </p:sp>
      <p:grpSp>
        <p:nvGrpSpPr>
          <p:cNvPr id="34" name="Group 33">
            <a:extLst>
              <a:ext uri="{FF2B5EF4-FFF2-40B4-BE49-F238E27FC236}">
                <a16:creationId xmlns:a16="http://schemas.microsoft.com/office/drawing/2014/main" id="{75AB9C4C-E432-054B-BA83-D28FA1E4B698}"/>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1F5DB567-1A6A-6CA1-4F5A-32F2E201F5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E8E5649D-1FED-2BD8-4AAC-D7547C59D3FB}"/>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94" name="Google Shape;158;p6">
            <a:extLst>
              <a:ext uri="{FF2B5EF4-FFF2-40B4-BE49-F238E27FC236}">
                <a16:creationId xmlns:a16="http://schemas.microsoft.com/office/drawing/2014/main" id="{9FF618CC-D0DD-C506-618C-3BCFA73035B0}"/>
              </a:ext>
            </a:extLst>
          </p:cNvPr>
          <p:cNvSpPr txBox="1"/>
          <p:nvPr/>
        </p:nvSpPr>
        <p:spPr>
          <a:xfrm>
            <a:off x="2067758" y="809923"/>
            <a:ext cx="8128001"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noProof="0" dirty="0">
                <a:solidFill>
                  <a:srgbClr val="2F5496"/>
                </a:solidFill>
                <a:latin typeface="Aptos" panose="020B0004020202020204" pitchFamily="34" charset="0"/>
                <a:ea typeface="Calibri"/>
                <a:cs typeface="Calibri"/>
                <a:sym typeface="Calibri"/>
              </a:rPr>
              <a:t>Tidy Data</a:t>
            </a:r>
          </a:p>
        </p:txBody>
      </p:sp>
      <p:grpSp>
        <p:nvGrpSpPr>
          <p:cNvPr id="102" name="Group 101">
            <a:extLst>
              <a:ext uri="{FF2B5EF4-FFF2-40B4-BE49-F238E27FC236}">
                <a16:creationId xmlns:a16="http://schemas.microsoft.com/office/drawing/2014/main" id="{35606FB2-99F6-03B9-BD6D-106E2DF42AA1}"/>
              </a:ext>
            </a:extLst>
          </p:cNvPr>
          <p:cNvGrpSpPr/>
          <p:nvPr/>
        </p:nvGrpSpPr>
        <p:grpSpPr>
          <a:xfrm>
            <a:off x="4393300" y="1748514"/>
            <a:ext cx="5005745" cy="3709657"/>
            <a:chOff x="4393300" y="1748514"/>
            <a:chExt cx="5005745" cy="3709657"/>
          </a:xfrm>
        </p:grpSpPr>
        <p:sp>
          <p:nvSpPr>
            <p:cNvPr id="3" name="TextBox 2">
              <a:extLst>
                <a:ext uri="{FF2B5EF4-FFF2-40B4-BE49-F238E27FC236}">
                  <a16:creationId xmlns:a16="http://schemas.microsoft.com/office/drawing/2014/main" id="{97285091-8BF8-C8E2-B71B-7D8DDDEFE29E}"/>
                </a:ext>
              </a:extLst>
            </p:cNvPr>
            <p:cNvSpPr txBox="1"/>
            <p:nvPr/>
          </p:nvSpPr>
          <p:spPr>
            <a:xfrm>
              <a:off x="4995226" y="2056291"/>
              <a:ext cx="2663837"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Name         Assessment   Grade</a:t>
              </a:r>
            </a:p>
          </p:txBody>
        </p:sp>
        <p:sp>
          <p:nvSpPr>
            <p:cNvPr id="9" name="TextBox 8">
              <a:extLst>
                <a:ext uri="{FF2B5EF4-FFF2-40B4-BE49-F238E27FC236}">
                  <a16:creationId xmlns:a16="http://schemas.microsoft.com/office/drawing/2014/main" id="{7EF31BB0-BC04-A378-2F8B-F9AEB4A5BFAB}"/>
                </a:ext>
              </a:extLst>
            </p:cNvPr>
            <p:cNvSpPr txBox="1"/>
            <p:nvPr/>
          </p:nvSpPr>
          <p:spPr>
            <a:xfrm rot="16200000">
              <a:off x="4039357" y="2688759"/>
              <a:ext cx="954108"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n </a:t>
              </a:r>
              <a:r>
                <a:rPr lang="en-US" sz="1000" noProof="0" dirty="0">
                  <a:solidFill>
                    <a:srgbClr val="C00000"/>
                  </a:solidFill>
                  <a:latin typeface="Aptos" panose="020B0004020202020204" pitchFamily="34" charset="0"/>
                </a:rPr>
                <a:t>data points</a:t>
              </a:r>
            </a:p>
          </p:txBody>
        </p:sp>
        <p:cxnSp>
          <p:nvCxnSpPr>
            <p:cNvPr id="10" name="Google Shape;209;p9">
              <a:extLst>
                <a:ext uri="{FF2B5EF4-FFF2-40B4-BE49-F238E27FC236}">
                  <a16:creationId xmlns:a16="http://schemas.microsoft.com/office/drawing/2014/main" id="{0E98C097-5190-DE65-76E6-BCAF663D2011}"/>
                </a:ext>
              </a:extLst>
            </p:cNvPr>
            <p:cNvCxnSpPr>
              <a:cxnSpLocks/>
            </p:cNvCxnSpPr>
            <p:nvPr/>
          </p:nvCxnSpPr>
          <p:spPr>
            <a:xfrm>
              <a:off x="4646980" y="2512570"/>
              <a:ext cx="0" cy="2483500"/>
            </a:xfrm>
            <a:prstGeom prst="straightConnector1">
              <a:avLst/>
            </a:prstGeom>
            <a:noFill/>
            <a:ln w="9525" cap="flat" cmpd="sng">
              <a:solidFill>
                <a:schemeClr val="bg2">
                  <a:lumMod val="25000"/>
                </a:schemeClr>
              </a:solidFill>
              <a:prstDash val="solid"/>
              <a:round/>
              <a:headEnd type="none" w="sm" len="sm"/>
              <a:tailEnd type="stealth" w="med" len="med"/>
            </a:ln>
          </p:spPr>
        </p:cxnSp>
        <p:pic>
          <p:nvPicPr>
            <p:cNvPr id="11" name="Picture 10">
              <a:extLst>
                <a:ext uri="{FF2B5EF4-FFF2-40B4-BE49-F238E27FC236}">
                  <a16:creationId xmlns:a16="http://schemas.microsoft.com/office/drawing/2014/main" id="{AA50DCA0-00BF-F797-3512-566215BCC28F}"/>
                </a:ext>
              </a:extLst>
            </p:cNvPr>
            <p:cNvPicPr>
              <a:picLocks noChangeAspect="1"/>
            </p:cNvPicPr>
            <p:nvPr/>
          </p:nvPicPr>
          <p:blipFill rotWithShape="1">
            <a:blip r:embed="rId6"/>
            <a:srcRect l="94120"/>
            <a:stretch>
              <a:fillRect/>
            </a:stretch>
          </p:blipFill>
          <p:spPr>
            <a:xfrm>
              <a:off x="7556956" y="2341355"/>
              <a:ext cx="222671" cy="2930247"/>
            </a:xfrm>
            <a:prstGeom prst="rect">
              <a:avLst/>
            </a:prstGeom>
          </p:spPr>
        </p:pic>
        <p:pic>
          <p:nvPicPr>
            <p:cNvPr id="12" name="Picture 11">
              <a:extLst>
                <a:ext uri="{FF2B5EF4-FFF2-40B4-BE49-F238E27FC236}">
                  <a16:creationId xmlns:a16="http://schemas.microsoft.com/office/drawing/2014/main" id="{16D40262-8421-AC6D-CE3C-771800ACD505}"/>
                </a:ext>
              </a:extLst>
            </p:cNvPr>
            <p:cNvPicPr>
              <a:picLocks noChangeAspect="1"/>
            </p:cNvPicPr>
            <p:nvPr/>
          </p:nvPicPr>
          <p:blipFill rotWithShape="1">
            <a:blip r:embed="rId6"/>
            <a:srcRect l="23678" r="71504"/>
            <a:stretch>
              <a:fillRect/>
            </a:stretch>
          </p:blipFill>
          <p:spPr>
            <a:xfrm>
              <a:off x="4715812" y="2334289"/>
              <a:ext cx="182452" cy="2937314"/>
            </a:xfrm>
            <a:prstGeom prst="rect">
              <a:avLst/>
            </a:prstGeom>
          </p:spPr>
        </p:pic>
        <p:sp>
          <p:nvSpPr>
            <p:cNvPr id="14" name="TextBox 13">
              <a:extLst>
                <a:ext uri="{FF2B5EF4-FFF2-40B4-BE49-F238E27FC236}">
                  <a16:creationId xmlns:a16="http://schemas.microsoft.com/office/drawing/2014/main" id="{3F1B1009-0F5A-9E02-27DD-8D4C781E3BA3}"/>
                </a:ext>
              </a:extLst>
            </p:cNvPr>
            <p:cNvSpPr txBox="1"/>
            <p:nvPr/>
          </p:nvSpPr>
          <p:spPr>
            <a:xfrm>
              <a:off x="4995226" y="1748514"/>
              <a:ext cx="2354634" cy="369332"/>
            </a:xfrm>
            <a:prstGeom prst="rect">
              <a:avLst/>
            </a:prstGeom>
            <a:noFill/>
          </p:spPr>
          <p:txBody>
            <a:bodyPr wrap="square">
              <a:spAutoFit/>
            </a:bodyPr>
            <a:lstStyle/>
            <a:p>
              <a:r>
                <a:rPr lang="en-US" noProof="0" dirty="0">
                  <a:solidFill>
                    <a:schemeClr val="accent1">
                      <a:lumMod val="75000"/>
                    </a:schemeClr>
                  </a:solidFill>
                  <a:latin typeface="Aptos" panose="020B0004020202020204" pitchFamily="34" charset="0"/>
                </a:rPr>
                <a:t>Attributes</a:t>
              </a:r>
            </a:p>
          </p:txBody>
        </p:sp>
        <p:grpSp>
          <p:nvGrpSpPr>
            <p:cNvPr id="51" name="Group 50">
              <a:extLst>
                <a:ext uri="{FF2B5EF4-FFF2-40B4-BE49-F238E27FC236}">
                  <a16:creationId xmlns:a16="http://schemas.microsoft.com/office/drawing/2014/main" id="{8278EA9B-A190-A4CB-175C-1BE31D7DEF9B}"/>
                </a:ext>
              </a:extLst>
            </p:cNvPr>
            <p:cNvGrpSpPr/>
            <p:nvPr/>
          </p:nvGrpSpPr>
          <p:grpSpPr>
            <a:xfrm>
              <a:off x="4967076" y="2487179"/>
              <a:ext cx="2382784" cy="369332"/>
              <a:chOff x="4303047" y="2683122"/>
              <a:chExt cx="2382784" cy="369332"/>
            </a:xfrm>
          </p:grpSpPr>
          <p:sp>
            <p:nvSpPr>
              <p:cNvPr id="16" name="TextBox 15">
                <a:extLst>
                  <a:ext uri="{FF2B5EF4-FFF2-40B4-BE49-F238E27FC236}">
                    <a16:creationId xmlns:a16="http://schemas.microsoft.com/office/drawing/2014/main" id="{E4A1DB54-E6E1-1300-9BCE-F11B1C98C2B0}"/>
                  </a:ext>
                </a:extLst>
              </p:cNvPr>
              <p:cNvSpPr txBox="1"/>
              <p:nvPr/>
            </p:nvSpPr>
            <p:spPr>
              <a:xfrm>
                <a:off x="4303047" y="2683122"/>
                <a:ext cx="758127"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Billy</a:t>
                </a:r>
                <a:endParaRPr lang="en-US" i="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74F02DA-5CB5-81A7-85D5-BCD2DFAF0BFF}"/>
                  </a:ext>
                </a:extLst>
              </p:cNvPr>
              <p:cNvSpPr txBox="1"/>
              <p:nvPr/>
            </p:nvSpPr>
            <p:spPr>
              <a:xfrm>
                <a:off x="5146969" y="2683122"/>
                <a:ext cx="1039623"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Quiz 1</a:t>
                </a:r>
                <a:endParaRPr lang="en-US" i="1"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C997DC76-C167-0210-4724-5009B225B585}"/>
                  </a:ext>
                </a:extLst>
              </p:cNvPr>
              <p:cNvSpPr txBox="1"/>
              <p:nvPr/>
            </p:nvSpPr>
            <p:spPr>
              <a:xfrm>
                <a:off x="6186593" y="2683122"/>
                <a:ext cx="49923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NA</a:t>
                </a:r>
              </a:p>
            </p:txBody>
          </p:sp>
        </p:grpSp>
        <p:grpSp>
          <p:nvGrpSpPr>
            <p:cNvPr id="52" name="Group 51">
              <a:extLst>
                <a:ext uri="{FF2B5EF4-FFF2-40B4-BE49-F238E27FC236}">
                  <a16:creationId xmlns:a16="http://schemas.microsoft.com/office/drawing/2014/main" id="{1B3BF1D2-8296-CC63-A7FD-6A32C2D0DA7A}"/>
                </a:ext>
              </a:extLst>
            </p:cNvPr>
            <p:cNvGrpSpPr/>
            <p:nvPr/>
          </p:nvGrpSpPr>
          <p:grpSpPr>
            <a:xfrm>
              <a:off x="4967076" y="2823091"/>
              <a:ext cx="2382784" cy="369332"/>
              <a:chOff x="4303047" y="2683122"/>
              <a:chExt cx="2382784" cy="369332"/>
            </a:xfrm>
          </p:grpSpPr>
          <p:sp>
            <p:nvSpPr>
              <p:cNvPr id="53" name="TextBox 52">
                <a:extLst>
                  <a:ext uri="{FF2B5EF4-FFF2-40B4-BE49-F238E27FC236}">
                    <a16:creationId xmlns:a16="http://schemas.microsoft.com/office/drawing/2014/main" id="{BD99440D-2653-0FA9-A434-BC1A84BC0D18}"/>
                  </a:ext>
                </a:extLst>
              </p:cNvPr>
              <p:cNvSpPr txBox="1"/>
              <p:nvPr/>
            </p:nvSpPr>
            <p:spPr>
              <a:xfrm>
                <a:off x="4303047" y="2683122"/>
                <a:ext cx="758127"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Billy</a:t>
                </a:r>
                <a:endParaRPr lang="en-US" i="1" dirty="0">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A65BF945-2826-EF4C-D22B-A432F54AC063}"/>
                  </a:ext>
                </a:extLst>
              </p:cNvPr>
              <p:cNvSpPr txBox="1"/>
              <p:nvPr/>
            </p:nvSpPr>
            <p:spPr>
              <a:xfrm>
                <a:off x="5146969" y="2683122"/>
                <a:ext cx="1039623"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Test</a:t>
                </a:r>
                <a:r>
                  <a:rPr lang="en-US" sz="1800" i="1" noProof="0" dirty="0">
                    <a:latin typeface="Times New Roman" panose="02020603050405020304" pitchFamily="18" charset="0"/>
                    <a:cs typeface="Times New Roman" panose="02020603050405020304" pitchFamily="18" charset="0"/>
                  </a:rPr>
                  <a:t> 1</a:t>
                </a:r>
                <a:endParaRPr lang="en-US" i="1" dirty="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3DA24E8E-0862-17AB-FFD4-24A40D0F8EF0}"/>
                  </a:ext>
                </a:extLst>
              </p:cNvPr>
              <p:cNvSpPr txBox="1"/>
              <p:nvPr/>
            </p:nvSpPr>
            <p:spPr>
              <a:xfrm>
                <a:off x="6186593" y="2683122"/>
                <a:ext cx="49923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D</a:t>
                </a:r>
              </a:p>
            </p:txBody>
          </p:sp>
        </p:grpSp>
        <p:grpSp>
          <p:nvGrpSpPr>
            <p:cNvPr id="56" name="Group 55">
              <a:extLst>
                <a:ext uri="{FF2B5EF4-FFF2-40B4-BE49-F238E27FC236}">
                  <a16:creationId xmlns:a16="http://schemas.microsoft.com/office/drawing/2014/main" id="{14C84EB2-0438-86BB-A7B3-E173D288492B}"/>
                </a:ext>
              </a:extLst>
            </p:cNvPr>
            <p:cNvGrpSpPr/>
            <p:nvPr/>
          </p:nvGrpSpPr>
          <p:grpSpPr>
            <a:xfrm>
              <a:off x="4967076" y="3159003"/>
              <a:ext cx="2382784" cy="369332"/>
              <a:chOff x="4303047" y="2683122"/>
              <a:chExt cx="2382784" cy="369332"/>
            </a:xfrm>
          </p:grpSpPr>
          <p:sp>
            <p:nvSpPr>
              <p:cNvPr id="57" name="TextBox 56">
                <a:extLst>
                  <a:ext uri="{FF2B5EF4-FFF2-40B4-BE49-F238E27FC236}">
                    <a16:creationId xmlns:a16="http://schemas.microsoft.com/office/drawing/2014/main" id="{1E94090B-FDC7-BE8D-A384-77814FF79249}"/>
                  </a:ext>
                </a:extLst>
              </p:cNvPr>
              <p:cNvSpPr txBox="1"/>
              <p:nvPr/>
            </p:nvSpPr>
            <p:spPr>
              <a:xfrm>
                <a:off x="4303047" y="2683122"/>
                <a:ext cx="758127"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Billy</a:t>
                </a:r>
                <a:endParaRPr lang="en-US" i="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40858CD9-3E01-B785-11C3-8AF2C784BB3A}"/>
                  </a:ext>
                </a:extLst>
              </p:cNvPr>
              <p:cNvSpPr txBox="1"/>
              <p:nvPr/>
            </p:nvSpPr>
            <p:spPr>
              <a:xfrm>
                <a:off x="5146969" y="2683122"/>
                <a:ext cx="1039623"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Quiz</a:t>
                </a:r>
                <a:r>
                  <a:rPr lang="en-US" sz="1800" i="1" noProof="0" dirty="0">
                    <a:latin typeface="Times New Roman" panose="02020603050405020304" pitchFamily="18" charset="0"/>
                    <a:cs typeface="Times New Roman" panose="02020603050405020304" pitchFamily="18" charset="0"/>
                  </a:rPr>
                  <a:t> 2</a:t>
                </a:r>
                <a:endParaRPr lang="en-US" i="1"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568D5210-B7CE-5AC0-FE73-5AD0151CE5D2}"/>
                  </a:ext>
                </a:extLst>
              </p:cNvPr>
              <p:cNvSpPr txBox="1"/>
              <p:nvPr/>
            </p:nvSpPr>
            <p:spPr>
              <a:xfrm>
                <a:off x="6186593" y="2683122"/>
                <a:ext cx="49923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C</a:t>
                </a:r>
              </a:p>
            </p:txBody>
          </p:sp>
        </p:grpSp>
        <p:grpSp>
          <p:nvGrpSpPr>
            <p:cNvPr id="64" name="Group 63">
              <a:extLst>
                <a:ext uri="{FF2B5EF4-FFF2-40B4-BE49-F238E27FC236}">
                  <a16:creationId xmlns:a16="http://schemas.microsoft.com/office/drawing/2014/main" id="{8242636A-C2D6-0657-4B89-2F8651D8D64E}"/>
                </a:ext>
              </a:extLst>
            </p:cNvPr>
            <p:cNvGrpSpPr/>
            <p:nvPr/>
          </p:nvGrpSpPr>
          <p:grpSpPr>
            <a:xfrm>
              <a:off x="4967076" y="3494915"/>
              <a:ext cx="2382784" cy="369332"/>
              <a:chOff x="4303047" y="2683122"/>
              <a:chExt cx="2382784" cy="369332"/>
            </a:xfrm>
          </p:grpSpPr>
          <p:sp>
            <p:nvSpPr>
              <p:cNvPr id="65" name="TextBox 64">
                <a:extLst>
                  <a:ext uri="{FF2B5EF4-FFF2-40B4-BE49-F238E27FC236}">
                    <a16:creationId xmlns:a16="http://schemas.microsoft.com/office/drawing/2014/main" id="{6468558B-65FD-4FDC-774D-4712AF04FB1F}"/>
                  </a:ext>
                </a:extLst>
              </p:cNvPr>
              <p:cNvSpPr txBox="1"/>
              <p:nvPr/>
            </p:nvSpPr>
            <p:spPr>
              <a:xfrm>
                <a:off x="4303047" y="2683122"/>
                <a:ext cx="758127"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Suzy</a:t>
                </a:r>
                <a:endParaRPr lang="en-US" i="1"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FB72BFBD-A216-91A7-E846-BE6EDA818AB7}"/>
                  </a:ext>
                </a:extLst>
              </p:cNvPr>
              <p:cNvSpPr txBox="1"/>
              <p:nvPr/>
            </p:nvSpPr>
            <p:spPr>
              <a:xfrm>
                <a:off x="5146969" y="2683122"/>
                <a:ext cx="1039623"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Quiz 1</a:t>
                </a:r>
                <a:endParaRPr lang="en-US" i="1"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05BAF821-A434-80C3-52F7-5647108B6AE5}"/>
                  </a:ext>
                </a:extLst>
              </p:cNvPr>
              <p:cNvSpPr txBox="1"/>
              <p:nvPr/>
            </p:nvSpPr>
            <p:spPr>
              <a:xfrm>
                <a:off x="6186593" y="2683122"/>
                <a:ext cx="49923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F</a:t>
                </a:r>
              </a:p>
            </p:txBody>
          </p:sp>
        </p:grpSp>
        <p:grpSp>
          <p:nvGrpSpPr>
            <p:cNvPr id="68" name="Group 67">
              <a:extLst>
                <a:ext uri="{FF2B5EF4-FFF2-40B4-BE49-F238E27FC236}">
                  <a16:creationId xmlns:a16="http://schemas.microsoft.com/office/drawing/2014/main" id="{929DE303-D57A-877C-079A-53887EC8C3D8}"/>
                </a:ext>
              </a:extLst>
            </p:cNvPr>
            <p:cNvGrpSpPr/>
            <p:nvPr/>
          </p:nvGrpSpPr>
          <p:grpSpPr>
            <a:xfrm>
              <a:off x="4967076" y="3830827"/>
              <a:ext cx="2382784" cy="369332"/>
              <a:chOff x="4303047" y="2683122"/>
              <a:chExt cx="2382784" cy="369332"/>
            </a:xfrm>
          </p:grpSpPr>
          <p:sp>
            <p:nvSpPr>
              <p:cNvPr id="69" name="TextBox 68">
                <a:extLst>
                  <a:ext uri="{FF2B5EF4-FFF2-40B4-BE49-F238E27FC236}">
                    <a16:creationId xmlns:a16="http://schemas.microsoft.com/office/drawing/2014/main" id="{E25458ED-748F-B1A6-7C44-06391967C010}"/>
                  </a:ext>
                </a:extLst>
              </p:cNvPr>
              <p:cNvSpPr txBox="1"/>
              <p:nvPr/>
            </p:nvSpPr>
            <p:spPr>
              <a:xfrm>
                <a:off x="4303047" y="2683122"/>
                <a:ext cx="758127"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Suzy</a:t>
                </a:r>
                <a:endParaRPr lang="en-US" i="1" dirty="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D1E4594B-D9E5-A5C4-BC06-EDE007C0CE98}"/>
                  </a:ext>
                </a:extLst>
              </p:cNvPr>
              <p:cNvSpPr txBox="1"/>
              <p:nvPr/>
            </p:nvSpPr>
            <p:spPr>
              <a:xfrm>
                <a:off x="5146969" y="2683122"/>
                <a:ext cx="1039623"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Test</a:t>
                </a:r>
                <a:r>
                  <a:rPr lang="en-US" sz="1800" i="1" noProof="0" dirty="0">
                    <a:latin typeface="Times New Roman" panose="02020603050405020304" pitchFamily="18" charset="0"/>
                    <a:cs typeface="Times New Roman" panose="02020603050405020304" pitchFamily="18" charset="0"/>
                  </a:rPr>
                  <a:t> 1</a:t>
                </a:r>
                <a:endParaRPr lang="en-US" i="1" dirty="0">
                  <a:latin typeface="Times New Roman" panose="02020603050405020304" pitchFamily="18" charset="0"/>
                  <a:cs typeface="Times New Roman" panose="02020603050405020304" pitchFamily="18" charset="0"/>
                </a:endParaRPr>
              </a:p>
            </p:txBody>
          </p:sp>
          <p:sp>
            <p:nvSpPr>
              <p:cNvPr id="71" name="TextBox 70">
                <a:extLst>
                  <a:ext uri="{FF2B5EF4-FFF2-40B4-BE49-F238E27FC236}">
                    <a16:creationId xmlns:a16="http://schemas.microsoft.com/office/drawing/2014/main" id="{F65A4930-B4CC-C891-97D8-DFB05229AD02}"/>
                  </a:ext>
                </a:extLst>
              </p:cNvPr>
              <p:cNvSpPr txBox="1"/>
              <p:nvPr/>
            </p:nvSpPr>
            <p:spPr>
              <a:xfrm>
                <a:off x="6186593" y="2683122"/>
                <a:ext cx="49923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NA</a:t>
                </a:r>
              </a:p>
            </p:txBody>
          </p:sp>
        </p:grpSp>
        <p:grpSp>
          <p:nvGrpSpPr>
            <p:cNvPr id="72" name="Group 71">
              <a:extLst>
                <a:ext uri="{FF2B5EF4-FFF2-40B4-BE49-F238E27FC236}">
                  <a16:creationId xmlns:a16="http://schemas.microsoft.com/office/drawing/2014/main" id="{6C46A999-8187-7CD7-009F-4CDD3B699BD3}"/>
                </a:ext>
              </a:extLst>
            </p:cNvPr>
            <p:cNvGrpSpPr/>
            <p:nvPr/>
          </p:nvGrpSpPr>
          <p:grpSpPr>
            <a:xfrm>
              <a:off x="4967076" y="4166738"/>
              <a:ext cx="2382784" cy="369332"/>
              <a:chOff x="4303047" y="2683122"/>
              <a:chExt cx="2382784" cy="369332"/>
            </a:xfrm>
          </p:grpSpPr>
          <p:sp>
            <p:nvSpPr>
              <p:cNvPr id="73" name="TextBox 72">
                <a:extLst>
                  <a:ext uri="{FF2B5EF4-FFF2-40B4-BE49-F238E27FC236}">
                    <a16:creationId xmlns:a16="http://schemas.microsoft.com/office/drawing/2014/main" id="{F9359578-BB12-CCD9-A2EE-AC101E90F44E}"/>
                  </a:ext>
                </a:extLst>
              </p:cNvPr>
              <p:cNvSpPr txBox="1"/>
              <p:nvPr/>
            </p:nvSpPr>
            <p:spPr>
              <a:xfrm>
                <a:off x="4303047" y="2683122"/>
                <a:ext cx="758127" cy="369332"/>
              </a:xfrm>
              <a:prstGeom prst="rect">
                <a:avLst/>
              </a:prstGeom>
              <a:noFill/>
            </p:spPr>
            <p:txBody>
              <a:bodyPr wrap="square">
                <a:spAutoFit/>
              </a:bodyPr>
              <a:lstStyle/>
              <a:p>
                <a:r>
                  <a:rPr lang="en-US" sz="1800" i="1" noProof="0" dirty="0">
                    <a:latin typeface="Times New Roman" panose="02020603050405020304" pitchFamily="18" charset="0"/>
                    <a:cs typeface="Times New Roman" panose="02020603050405020304" pitchFamily="18" charset="0"/>
                  </a:rPr>
                  <a:t>Suzy</a:t>
                </a:r>
                <a:endParaRPr lang="en-US" i="1"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26E954B4-25C3-D976-A45D-F3393BBC27C5}"/>
                  </a:ext>
                </a:extLst>
              </p:cNvPr>
              <p:cNvSpPr txBox="1"/>
              <p:nvPr/>
            </p:nvSpPr>
            <p:spPr>
              <a:xfrm>
                <a:off x="5146969" y="2683122"/>
                <a:ext cx="1039623"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Quiz</a:t>
                </a:r>
                <a:r>
                  <a:rPr lang="en-US" sz="1800" i="1" noProof="0" dirty="0">
                    <a:latin typeface="Times New Roman" panose="02020603050405020304" pitchFamily="18" charset="0"/>
                    <a:cs typeface="Times New Roman" panose="02020603050405020304" pitchFamily="18" charset="0"/>
                  </a:rPr>
                  <a:t> 2</a:t>
                </a:r>
                <a:endParaRPr lang="en-US" i="1"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701C153E-0ABD-D6DF-E32D-18A0C351EFD2}"/>
                  </a:ext>
                </a:extLst>
              </p:cNvPr>
              <p:cNvSpPr txBox="1"/>
              <p:nvPr/>
            </p:nvSpPr>
            <p:spPr>
              <a:xfrm>
                <a:off x="6186593" y="2683122"/>
                <a:ext cx="49923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NA</a:t>
                </a:r>
              </a:p>
            </p:txBody>
          </p:sp>
        </p:grpSp>
        <p:pic>
          <p:nvPicPr>
            <p:cNvPr id="88" name="Picture 87" descr="A black dot on a white background&#10;&#10;AI-generated content may be incorrect.">
              <a:extLst>
                <a:ext uri="{FF2B5EF4-FFF2-40B4-BE49-F238E27FC236}">
                  <a16:creationId xmlns:a16="http://schemas.microsoft.com/office/drawing/2014/main" id="{AE0027A3-80DE-D357-3E94-B318250287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43155" y="4536070"/>
              <a:ext cx="202984" cy="405967"/>
            </a:xfrm>
            <a:prstGeom prst="rect">
              <a:avLst/>
            </a:prstGeom>
          </p:spPr>
        </p:pic>
        <p:pic>
          <p:nvPicPr>
            <p:cNvPr id="89" name="Picture 88" descr="A black dot on a white background&#10;&#10;AI-generated content may be incorrect.">
              <a:extLst>
                <a:ext uri="{FF2B5EF4-FFF2-40B4-BE49-F238E27FC236}">
                  <a16:creationId xmlns:a16="http://schemas.microsoft.com/office/drawing/2014/main" id="{5ECFD9AA-3A48-3515-0312-FAF0FBCDB9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73108" y="4536069"/>
              <a:ext cx="202984" cy="405967"/>
            </a:xfrm>
            <a:prstGeom prst="rect">
              <a:avLst/>
            </a:prstGeom>
          </p:spPr>
        </p:pic>
        <p:pic>
          <p:nvPicPr>
            <p:cNvPr id="90" name="Picture 89" descr="A black dot on a white background&#10;&#10;AI-generated content may be incorrect.">
              <a:extLst>
                <a:ext uri="{FF2B5EF4-FFF2-40B4-BE49-F238E27FC236}">
                  <a16:creationId xmlns:a16="http://schemas.microsoft.com/office/drawing/2014/main" id="{BC6C7468-C192-EBB7-92A1-B0A56C6DB5B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74075" y="4515539"/>
              <a:ext cx="202984" cy="405967"/>
            </a:xfrm>
            <a:prstGeom prst="rect">
              <a:avLst/>
            </a:prstGeom>
          </p:spPr>
        </p:pic>
        <p:sp>
          <p:nvSpPr>
            <p:cNvPr id="91" name="TextBox 90">
              <a:extLst>
                <a:ext uri="{FF2B5EF4-FFF2-40B4-BE49-F238E27FC236}">
                  <a16:creationId xmlns:a16="http://schemas.microsoft.com/office/drawing/2014/main" id="{5DA36DCC-CE3A-A2B4-3EBF-9E4B4F480413}"/>
                </a:ext>
              </a:extLst>
            </p:cNvPr>
            <p:cNvSpPr txBox="1"/>
            <p:nvPr/>
          </p:nvSpPr>
          <p:spPr>
            <a:xfrm>
              <a:off x="6813571" y="5211950"/>
              <a:ext cx="796146"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p </a:t>
              </a:r>
              <a:r>
                <a:rPr lang="en-US" sz="1000" noProof="0" dirty="0">
                  <a:solidFill>
                    <a:srgbClr val="C00000"/>
                  </a:solidFill>
                  <a:latin typeface="Aptos" panose="020B0004020202020204" pitchFamily="34" charset="0"/>
                </a:rPr>
                <a:t>variables</a:t>
              </a:r>
            </a:p>
          </p:txBody>
        </p:sp>
        <p:cxnSp>
          <p:nvCxnSpPr>
            <p:cNvPr id="92" name="Google Shape;209;p9">
              <a:extLst>
                <a:ext uri="{FF2B5EF4-FFF2-40B4-BE49-F238E27FC236}">
                  <a16:creationId xmlns:a16="http://schemas.microsoft.com/office/drawing/2014/main" id="{819A8D73-C1FF-C2B9-17EE-5A5800F259E8}"/>
                </a:ext>
              </a:extLst>
            </p:cNvPr>
            <p:cNvCxnSpPr>
              <a:cxnSpLocks/>
            </p:cNvCxnSpPr>
            <p:nvPr/>
          </p:nvCxnSpPr>
          <p:spPr>
            <a:xfrm>
              <a:off x="5031166" y="5183009"/>
              <a:ext cx="2423681" cy="0"/>
            </a:xfrm>
            <a:prstGeom prst="straightConnector1">
              <a:avLst/>
            </a:prstGeom>
            <a:noFill/>
            <a:ln w="9525" cap="flat" cmpd="sng">
              <a:solidFill>
                <a:schemeClr val="bg2">
                  <a:lumMod val="25000"/>
                </a:schemeClr>
              </a:solidFill>
              <a:prstDash val="solid"/>
              <a:round/>
              <a:headEnd type="none" w="sm" len="sm"/>
              <a:tailEnd type="stealth" w="med" len="med"/>
            </a:ln>
          </p:spPr>
        </p:cxnSp>
        <p:sp>
          <p:nvSpPr>
            <p:cNvPr id="93" name="TextBox 92">
              <a:extLst>
                <a:ext uri="{FF2B5EF4-FFF2-40B4-BE49-F238E27FC236}">
                  <a16:creationId xmlns:a16="http://schemas.microsoft.com/office/drawing/2014/main" id="{3959BB3E-AAD1-FCF5-EE20-803D5C0E93CF}"/>
                </a:ext>
              </a:extLst>
            </p:cNvPr>
            <p:cNvSpPr txBox="1"/>
            <p:nvPr/>
          </p:nvSpPr>
          <p:spPr>
            <a:xfrm rot="5400000">
              <a:off x="8254241" y="3329713"/>
              <a:ext cx="1920276" cy="369332"/>
            </a:xfrm>
            <a:prstGeom prst="rect">
              <a:avLst/>
            </a:prstGeom>
            <a:noFill/>
          </p:spPr>
          <p:txBody>
            <a:bodyPr wrap="square">
              <a:spAutoFit/>
            </a:bodyPr>
            <a:lstStyle/>
            <a:p>
              <a:pPr algn="ctr"/>
              <a:r>
                <a:rPr lang="en-US" noProof="0" dirty="0">
                  <a:solidFill>
                    <a:schemeClr val="accent1">
                      <a:lumMod val="75000"/>
                    </a:schemeClr>
                  </a:solidFill>
                  <a:latin typeface="Aptos" panose="020B0004020202020204" pitchFamily="34" charset="0"/>
                </a:rPr>
                <a:t>Observations</a:t>
              </a:r>
            </a:p>
          </p:txBody>
        </p:sp>
        <p:sp>
          <p:nvSpPr>
            <p:cNvPr id="95" name="TextBox 94">
              <a:extLst>
                <a:ext uri="{FF2B5EF4-FFF2-40B4-BE49-F238E27FC236}">
                  <a16:creationId xmlns:a16="http://schemas.microsoft.com/office/drawing/2014/main" id="{10C5D6C6-8C97-F721-40DE-B1A1128A7F0A}"/>
                </a:ext>
              </a:extLst>
            </p:cNvPr>
            <p:cNvSpPr txBox="1"/>
            <p:nvPr/>
          </p:nvSpPr>
          <p:spPr>
            <a:xfrm>
              <a:off x="7779627" y="2554240"/>
              <a:ext cx="1280864"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Observation 1</a:t>
              </a:r>
            </a:p>
          </p:txBody>
        </p:sp>
        <p:sp>
          <p:nvSpPr>
            <p:cNvPr id="96" name="TextBox 95">
              <a:extLst>
                <a:ext uri="{FF2B5EF4-FFF2-40B4-BE49-F238E27FC236}">
                  <a16:creationId xmlns:a16="http://schemas.microsoft.com/office/drawing/2014/main" id="{0D87B160-8523-BD7F-E464-EB8FADD57544}"/>
                </a:ext>
              </a:extLst>
            </p:cNvPr>
            <p:cNvSpPr txBox="1"/>
            <p:nvPr/>
          </p:nvSpPr>
          <p:spPr>
            <a:xfrm>
              <a:off x="7779627" y="2876740"/>
              <a:ext cx="1280864"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Observation 2</a:t>
              </a:r>
            </a:p>
          </p:txBody>
        </p:sp>
        <p:sp>
          <p:nvSpPr>
            <p:cNvPr id="97" name="TextBox 96">
              <a:extLst>
                <a:ext uri="{FF2B5EF4-FFF2-40B4-BE49-F238E27FC236}">
                  <a16:creationId xmlns:a16="http://schemas.microsoft.com/office/drawing/2014/main" id="{8820DC91-BA0D-ADE8-43E6-66C8A445896F}"/>
                </a:ext>
              </a:extLst>
            </p:cNvPr>
            <p:cNvSpPr txBox="1"/>
            <p:nvPr/>
          </p:nvSpPr>
          <p:spPr>
            <a:xfrm>
              <a:off x="7779627" y="3199240"/>
              <a:ext cx="1280864"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Observation 3</a:t>
              </a:r>
            </a:p>
          </p:txBody>
        </p:sp>
        <p:sp>
          <p:nvSpPr>
            <p:cNvPr id="98" name="TextBox 97">
              <a:extLst>
                <a:ext uri="{FF2B5EF4-FFF2-40B4-BE49-F238E27FC236}">
                  <a16:creationId xmlns:a16="http://schemas.microsoft.com/office/drawing/2014/main" id="{1F3187EB-4AB5-8472-3CC2-9FD0299F33CF}"/>
                </a:ext>
              </a:extLst>
            </p:cNvPr>
            <p:cNvSpPr txBox="1"/>
            <p:nvPr/>
          </p:nvSpPr>
          <p:spPr>
            <a:xfrm>
              <a:off x="7779627" y="3521740"/>
              <a:ext cx="1280864"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Observation 4</a:t>
              </a:r>
            </a:p>
          </p:txBody>
        </p:sp>
        <p:sp>
          <p:nvSpPr>
            <p:cNvPr id="99" name="TextBox 98">
              <a:extLst>
                <a:ext uri="{FF2B5EF4-FFF2-40B4-BE49-F238E27FC236}">
                  <a16:creationId xmlns:a16="http://schemas.microsoft.com/office/drawing/2014/main" id="{50EAAF88-E95A-65D3-9048-CC072E7E7750}"/>
                </a:ext>
              </a:extLst>
            </p:cNvPr>
            <p:cNvSpPr txBox="1"/>
            <p:nvPr/>
          </p:nvSpPr>
          <p:spPr>
            <a:xfrm>
              <a:off x="7779627" y="3844240"/>
              <a:ext cx="1280864"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Observation 5</a:t>
              </a:r>
            </a:p>
          </p:txBody>
        </p:sp>
        <p:sp>
          <p:nvSpPr>
            <p:cNvPr id="100" name="TextBox 99">
              <a:extLst>
                <a:ext uri="{FF2B5EF4-FFF2-40B4-BE49-F238E27FC236}">
                  <a16:creationId xmlns:a16="http://schemas.microsoft.com/office/drawing/2014/main" id="{E326CFD9-1B2F-4DBC-1634-62EBDC4F0505}"/>
                </a:ext>
              </a:extLst>
            </p:cNvPr>
            <p:cNvSpPr txBox="1"/>
            <p:nvPr/>
          </p:nvSpPr>
          <p:spPr>
            <a:xfrm>
              <a:off x="7779627" y="4166738"/>
              <a:ext cx="1280864"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Observation 6</a:t>
              </a:r>
            </a:p>
          </p:txBody>
        </p:sp>
        <p:pic>
          <p:nvPicPr>
            <p:cNvPr id="101" name="Picture 100" descr="A black dot on a white background&#10;&#10;AI-generated content may be incorrect.">
              <a:extLst>
                <a:ext uri="{FF2B5EF4-FFF2-40B4-BE49-F238E27FC236}">
                  <a16:creationId xmlns:a16="http://schemas.microsoft.com/office/drawing/2014/main" id="{06DC4C5E-6BD3-DF76-5198-1628AE54433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20028" y="4515539"/>
              <a:ext cx="202984" cy="405967"/>
            </a:xfrm>
            <a:prstGeom prst="rect">
              <a:avLst/>
            </a:prstGeom>
          </p:spPr>
        </p:pic>
      </p:grpSp>
      <p:sp>
        <p:nvSpPr>
          <p:cNvPr id="104" name="TextBox 103">
            <a:extLst>
              <a:ext uri="{FF2B5EF4-FFF2-40B4-BE49-F238E27FC236}">
                <a16:creationId xmlns:a16="http://schemas.microsoft.com/office/drawing/2014/main" id="{3614DE98-714A-F570-C6C4-3F6EFFB25A9D}"/>
              </a:ext>
            </a:extLst>
          </p:cNvPr>
          <p:cNvSpPr txBox="1"/>
          <p:nvPr/>
        </p:nvSpPr>
        <p:spPr>
          <a:xfrm>
            <a:off x="2080459" y="5152693"/>
            <a:ext cx="2579896" cy="307777"/>
          </a:xfrm>
          <a:prstGeom prst="rect">
            <a:avLst/>
          </a:prstGeom>
          <a:noFill/>
        </p:spPr>
        <p:txBody>
          <a:bodyPr wrap="square">
            <a:spAutoFit/>
          </a:bodyPr>
          <a:lstStyle/>
          <a:p>
            <a:pPr algn="r"/>
            <a:r>
              <a:rPr lang="en-US" sz="1400" noProof="0" dirty="0">
                <a:solidFill>
                  <a:schemeClr val="bg2">
                    <a:lumMod val="25000"/>
                  </a:schemeClr>
                </a:solidFill>
                <a:latin typeface="Aptos" panose="020B0004020202020204" pitchFamily="34" charset="0"/>
              </a:rPr>
              <a:t>Every column is a variable</a:t>
            </a:r>
            <a:endParaRPr lang="en-US" sz="1400" noProof="0" dirty="0">
              <a:solidFill>
                <a:schemeClr val="bg2">
                  <a:lumMod val="25000"/>
                </a:schemeClr>
              </a:solidFill>
            </a:endParaRPr>
          </a:p>
        </p:txBody>
      </p:sp>
      <p:sp>
        <p:nvSpPr>
          <p:cNvPr id="105" name="Rectangle: Rounded Corners 7">
            <a:extLst>
              <a:ext uri="{FF2B5EF4-FFF2-40B4-BE49-F238E27FC236}">
                <a16:creationId xmlns:a16="http://schemas.microsoft.com/office/drawing/2014/main" id="{74B127B4-F746-FEF8-AA61-D0EE391F8BF1}"/>
              </a:ext>
            </a:extLst>
          </p:cNvPr>
          <p:cNvSpPr/>
          <p:nvPr/>
        </p:nvSpPr>
        <p:spPr>
          <a:xfrm rot="5400000">
            <a:off x="4085222" y="3414720"/>
            <a:ext cx="2370747" cy="642827"/>
          </a:xfrm>
          <a:prstGeom prst="roundRect">
            <a:avLst>
              <a:gd name="adj" fmla="val 5906"/>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6" name="Rectangle: Rounded Corners 2">
            <a:extLst>
              <a:ext uri="{FF2B5EF4-FFF2-40B4-BE49-F238E27FC236}">
                <a16:creationId xmlns:a16="http://schemas.microsoft.com/office/drawing/2014/main" id="{DFD2C677-2AEF-5B9D-BFF4-AD9A9C956D2E}"/>
              </a:ext>
            </a:extLst>
          </p:cNvPr>
          <p:cNvSpPr/>
          <p:nvPr/>
        </p:nvSpPr>
        <p:spPr>
          <a:xfrm>
            <a:off x="4954559" y="2549006"/>
            <a:ext cx="2602396" cy="317318"/>
          </a:xfrm>
          <a:prstGeom prst="roundRect">
            <a:avLst>
              <a:gd name="adj" fmla="val 5906"/>
            </a:avLst>
          </a:prstGeom>
          <a:solidFill>
            <a:srgbClr val="C0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8" name="TextBox 107">
            <a:extLst>
              <a:ext uri="{FF2B5EF4-FFF2-40B4-BE49-F238E27FC236}">
                <a16:creationId xmlns:a16="http://schemas.microsoft.com/office/drawing/2014/main" id="{79593FCF-8E60-8147-12E9-BA7F3D704EA6}"/>
              </a:ext>
            </a:extLst>
          </p:cNvPr>
          <p:cNvSpPr txBox="1"/>
          <p:nvPr/>
        </p:nvSpPr>
        <p:spPr>
          <a:xfrm>
            <a:off x="7794977" y="1982892"/>
            <a:ext cx="3359531" cy="307777"/>
          </a:xfrm>
          <a:prstGeom prst="rect">
            <a:avLst/>
          </a:prstGeom>
          <a:noFill/>
        </p:spPr>
        <p:txBody>
          <a:bodyPr wrap="square">
            <a:spAutoFit/>
          </a:bodyPr>
          <a:lstStyle/>
          <a:p>
            <a:r>
              <a:rPr lang="en-US" sz="1400" noProof="0" dirty="0">
                <a:solidFill>
                  <a:schemeClr val="bg2">
                    <a:lumMod val="25000"/>
                  </a:schemeClr>
                </a:solidFill>
                <a:latin typeface="Aptos" panose="020B0004020202020204" pitchFamily="34" charset="0"/>
              </a:rPr>
              <a:t>Every row is an observation</a:t>
            </a:r>
            <a:endParaRPr lang="en-US" sz="1400" noProof="0" dirty="0">
              <a:solidFill>
                <a:schemeClr val="bg2">
                  <a:lumMod val="25000"/>
                </a:schemeClr>
              </a:solidFill>
            </a:endParaRPr>
          </a:p>
        </p:txBody>
      </p:sp>
      <p:sp>
        <p:nvSpPr>
          <p:cNvPr id="110" name="TextBox 109">
            <a:extLst>
              <a:ext uri="{FF2B5EF4-FFF2-40B4-BE49-F238E27FC236}">
                <a16:creationId xmlns:a16="http://schemas.microsoft.com/office/drawing/2014/main" id="{EA5D57AF-6B05-8E85-9E2E-0F5322E19A17}"/>
              </a:ext>
            </a:extLst>
          </p:cNvPr>
          <p:cNvSpPr txBox="1"/>
          <p:nvPr/>
        </p:nvSpPr>
        <p:spPr>
          <a:xfrm>
            <a:off x="1908204" y="1988873"/>
            <a:ext cx="2804521" cy="307777"/>
          </a:xfrm>
          <a:prstGeom prst="rect">
            <a:avLst/>
          </a:prstGeom>
          <a:noFill/>
        </p:spPr>
        <p:txBody>
          <a:bodyPr wrap="square">
            <a:spAutoFit/>
          </a:bodyPr>
          <a:lstStyle/>
          <a:p>
            <a:pPr algn="r"/>
            <a:r>
              <a:rPr lang="en-US" sz="1400" noProof="0" dirty="0">
                <a:solidFill>
                  <a:schemeClr val="bg2">
                    <a:lumMod val="25000"/>
                  </a:schemeClr>
                </a:solidFill>
                <a:latin typeface="Aptos" panose="020B0004020202020204" pitchFamily="34" charset="0"/>
              </a:rPr>
              <a:t>Every cell is a single value</a:t>
            </a:r>
            <a:endParaRPr lang="en-US" sz="1400" noProof="0" dirty="0">
              <a:solidFill>
                <a:schemeClr val="bg2">
                  <a:lumMod val="25000"/>
                </a:schemeClr>
              </a:solidFill>
            </a:endParaRPr>
          </a:p>
        </p:txBody>
      </p:sp>
      <p:grpSp>
        <p:nvGrpSpPr>
          <p:cNvPr id="113" name="Group 112">
            <a:extLst>
              <a:ext uri="{FF2B5EF4-FFF2-40B4-BE49-F238E27FC236}">
                <a16:creationId xmlns:a16="http://schemas.microsoft.com/office/drawing/2014/main" id="{59B958D6-B5F8-C26F-94D2-C116DF9A26B2}"/>
              </a:ext>
            </a:extLst>
          </p:cNvPr>
          <p:cNvGrpSpPr/>
          <p:nvPr/>
        </p:nvGrpSpPr>
        <p:grpSpPr>
          <a:xfrm flipH="1">
            <a:off x="4647745" y="4912494"/>
            <a:ext cx="321986" cy="412282"/>
            <a:chOff x="9120822" y="4534650"/>
            <a:chExt cx="321986" cy="412282"/>
          </a:xfrm>
        </p:grpSpPr>
        <p:cxnSp>
          <p:nvCxnSpPr>
            <p:cNvPr id="115" name="Straight Connector 114">
              <a:extLst>
                <a:ext uri="{FF2B5EF4-FFF2-40B4-BE49-F238E27FC236}">
                  <a16:creationId xmlns:a16="http://schemas.microsoft.com/office/drawing/2014/main" id="{650569FE-3BDF-FCAD-3FA1-05F68D22159A}"/>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802E80B6-F702-3B0F-27C8-044E3A17A2A7}"/>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nvGrpSpPr>
          <p:cNvPr id="117" name="Group 116">
            <a:extLst>
              <a:ext uri="{FF2B5EF4-FFF2-40B4-BE49-F238E27FC236}">
                <a16:creationId xmlns:a16="http://schemas.microsoft.com/office/drawing/2014/main" id="{DA94F13D-FF3E-CB89-E66C-9A390C5CB5DF}"/>
              </a:ext>
            </a:extLst>
          </p:cNvPr>
          <p:cNvGrpSpPr/>
          <p:nvPr/>
        </p:nvGrpSpPr>
        <p:grpSpPr>
          <a:xfrm flipH="1" flipV="1">
            <a:off x="4648864" y="2142945"/>
            <a:ext cx="321986" cy="412282"/>
            <a:chOff x="9120822" y="4534650"/>
            <a:chExt cx="321986" cy="412282"/>
          </a:xfrm>
        </p:grpSpPr>
        <p:cxnSp>
          <p:nvCxnSpPr>
            <p:cNvPr id="119" name="Straight Connector 118">
              <a:extLst>
                <a:ext uri="{FF2B5EF4-FFF2-40B4-BE49-F238E27FC236}">
                  <a16:creationId xmlns:a16="http://schemas.microsoft.com/office/drawing/2014/main" id="{3870352D-6F83-81AA-E035-2871B5BD23FC}"/>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120" name="Straight Connector 119">
              <a:extLst>
                <a:ext uri="{FF2B5EF4-FFF2-40B4-BE49-F238E27FC236}">
                  <a16:creationId xmlns:a16="http://schemas.microsoft.com/office/drawing/2014/main" id="{F85563E5-65D4-7AAC-354A-FD701D8A73CB}"/>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nvGrpSpPr>
          <p:cNvPr id="121" name="Group 120">
            <a:extLst>
              <a:ext uri="{FF2B5EF4-FFF2-40B4-BE49-F238E27FC236}">
                <a16:creationId xmlns:a16="http://schemas.microsoft.com/office/drawing/2014/main" id="{A3F50242-E885-C42B-C92D-48980B6D5966}"/>
              </a:ext>
            </a:extLst>
          </p:cNvPr>
          <p:cNvGrpSpPr/>
          <p:nvPr/>
        </p:nvGrpSpPr>
        <p:grpSpPr>
          <a:xfrm flipV="1">
            <a:off x="7534724" y="2142945"/>
            <a:ext cx="321986" cy="412282"/>
            <a:chOff x="9120822" y="4534650"/>
            <a:chExt cx="321986" cy="412282"/>
          </a:xfrm>
        </p:grpSpPr>
        <p:cxnSp>
          <p:nvCxnSpPr>
            <p:cNvPr id="123" name="Straight Connector 122">
              <a:extLst>
                <a:ext uri="{FF2B5EF4-FFF2-40B4-BE49-F238E27FC236}">
                  <a16:creationId xmlns:a16="http://schemas.microsoft.com/office/drawing/2014/main" id="{E31FC480-B6F3-039C-611A-39681145C63E}"/>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F2107F15-A872-FBF2-1352-AD1C81C96564}"/>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476140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8" name="Google Shape;17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12</a:t>
            </a:fld>
            <a:endParaRPr/>
          </a:p>
        </p:txBody>
      </p:sp>
      <p:grpSp>
        <p:nvGrpSpPr>
          <p:cNvPr id="172" name="Google Shape;172;p6"/>
          <p:cNvGrpSpPr/>
          <p:nvPr/>
        </p:nvGrpSpPr>
        <p:grpSpPr>
          <a:xfrm>
            <a:off x="1934020" y="821166"/>
            <a:ext cx="8323960" cy="5258185"/>
            <a:chOff x="3276238" y="1394410"/>
            <a:chExt cx="6743159" cy="5258185"/>
          </a:xfrm>
        </p:grpSpPr>
        <p:sp>
          <p:nvSpPr>
            <p:cNvPr id="173" name="Google Shape;173;p6"/>
            <p:cNvSpPr txBox="1"/>
            <p:nvPr/>
          </p:nvSpPr>
          <p:spPr>
            <a:xfrm>
              <a:off x="3276238" y="1394410"/>
              <a:ext cx="6743158"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2F5496"/>
                </a:buClr>
                <a:buSzPts val="2800"/>
                <a:buFont typeface="Corbel"/>
                <a:buNone/>
              </a:pPr>
              <a:r>
                <a:rPr lang="en-US" sz="4400" dirty="0">
                  <a:solidFill>
                    <a:srgbClr val="2F5496"/>
                  </a:solidFill>
                  <a:latin typeface="Aptos" panose="020B0004020202020204" pitchFamily="34" charset="0"/>
                  <a:ea typeface="Corbel"/>
                  <a:cs typeface="Corbel"/>
                  <a:sym typeface="Corbel"/>
                </a:rPr>
                <a:t>Common Data Problems</a:t>
              </a:r>
              <a:endParaRPr sz="4400" dirty="0">
                <a:solidFill>
                  <a:srgbClr val="2F5496"/>
                </a:solidFill>
                <a:latin typeface="Aptos" panose="020B0004020202020204" pitchFamily="34" charset="0"/>
                <a:ea typeface="Corbel"/>
                <a:cs typeface="Corbel"/>
                <a:sym typeface="Corbel"/>
              </a:endParaRPr>
            </a:p>
          </p:txBody>
        </p:sp>
        <p:sp>
          <p:nvSpPr>
            <p:cNvPr id="176" name="Google Shape;176;p6"/>
            <p:cNvSpPr txBox="1"/>
            <p:nvPr/>
          </p:nvSpPr>
          <p:spPr>
            <a:xfrm>
              <a:off x="3276238" y="2405319"/>
              <a:ext cx="6743159" cy="4247276"/>
            </a:xfrm>
            <a:prstGeom prst="rect">
              <a:avLst/>
            </a:prstGeom>
            <a:noFill/>
            <a:ln>
              <a:noFill/>
            </a:ln>
          </p:spPr>
          <p:txBody>
            <a:bodyPr spcFirstLastPara="1" wrap="square" lIns="91425" tIns="45700" rIns="91425" bIns="45700" anchor="t" anchorCtr="0">
              <a:spAutoFit/>
            </a:bodyPr>
            <a:lstStyle/>
            <a:p>
              <a:pPr algn="ctr"/>
              <a:r>
                <a:rPr lang="en-GB" b="0" i="0" dirty="0">
                  <a:solidFill>
                    <a:srgbClr val="000000"/>
                  </a:solidFill>
                  <a:effectLst/>
                  <a:latin typeface="Aptos" panose="020B0004020202020204" pitchFamily="34" charset="0"/>
                </a:rPr>
                <a:t>Real datasets can violate the three precepts of tidy data in almost every way imaginable. While occasionally you do get a dataset that you can start analysing immediately, this is the exception, not the rule. </a:t>
              </a:r>
            </a:p>
            <a:p>
              <a:pPr algn="ctr"/>
              <a:endParaRPr lang="en-GB" dirty="0">
                <a:solidFill>
                  <a:srgbClr val="000000"/>
                </a:solidFill>
                <a:latin typeface="Aptos" panose="020B0004020202020204" pitchFamily="34" charset="0"/>
              </a:endParaRPr>
            </a:p>
            <a:p>
              <a:pPr algn="ctr"/>
              <a:r>
                <a:rPr lang="en-GB" b="0" i="0" dirty="0">
                  <a:solidFill>
                    <a:srgbClr val="000000"/>
                  </a:solidFill>
                  <a:effectLst/>
                  <a:latin typeface="Aptos" panose="020B0004020202020204" pitchFamily="34" charset="0"/>
                </a:rPr>
                <a:t>This list describes the five most common problems with messy datasets:</a:t>
              </a:r>
            </a:p>
            <a:p>
              <a:pPr algn="ctr"/>
              <a:endParaRPr lang="en-GB" b="0" i="0" dirty="0">
                <a:solidFill>
                  <a:srgbClr val="000000"/>
                </a:solidFill>
                <a:effectLst/>
                <a:latin typeface="Aptos" panose="020B0004020202020204" pitchFamily="34" charset="0"/>
              </a:endParaRPr>
            </a:p>
            <a:p>
              <a:pPr marL="285750" indent="-285750" algn="ctr">
                <a:buFont typeface="Arial" panose="020B0604020202020204" pitchFamily="34" charset="0"/>
                <a:buChar char="•"/>
              </a:pPr>
              <a:r>
                <a:rPr lang="en-GB" b="0" i="0" dirty="0">
                  <a:solidFill>
                    <a:srgbClr val="000000"/>
                  </a:solidFill>
                  <a:effectLst/>
                  <a:latin typeface="Aptos" panose="020B0004020202020204" pitchFamily="34" charset="0"/>
                </a:rPr>
                <a:t>Column headers are values, not variable names.</a:t>
              </a:r>
            </a:p>
            <a:p>
              <a:pPr marL="285750" indent="-285750" algn="ctr">
                <a:buFont typeface="Arial" panose="020B0604020202020204" pitchFamily="34" charset="0"/>
                <a:buChar char="•"/>
              </a:pPr>
              <a:r>
                <a:rPr lang="en-GB" b="0" i="0" dirty="0">
                  <a:solidFill>
                    <a:srgbClr val="000000"/>
                  </a:solidFill>
                  <a:effectLst/>
                  <a:latin typeface="Aptos" panose="020B0004020202020204" pitchFamily="34" charset="0"/>
                </a:rPr>
                <a:t>Multiple variables are stored in one column.</a:t>
              </a:r>
            </a:p>
            <a:p>
              <a:pPr marL="285750" indent="-285750" algn="ctr">
                <a:buFont typeface="Arial" panose="020B0604020202020204" pitchFamily="34" charset="0"/>
                <a:buChar char="•"/>
              </a:pPr>
              <a:r>
                <a:rPr lang="en-GB" b="0" i="0" dirty="0">
                  <a:solidFill>
                    <a:srgbClr val="000000"/>
                  </a:solidFill>
                  <a:effectLst/>
                  <a:latin typeface="Aptos" panose="020B0004020202020204" pitchFamily="34" charset="0"/>
                </a:rPr>
                <a:t>Variables are stored in both rows and columns.</a:t>
              </a:r>
            </a:p>
            <a:p>
              <a:pPr marL="285750" indent="-285750" algn="ctr">
                <a:buFont typeface="Arial" panose="020B0604020202020204" pitchFamily="34" charset="0"/>
                <a:buChar char="•"/>
              </a:pPr>
              <a:r>
                <a:rPr lang="en-GB" b="0" i="0" dirty="0">
                  <a:solidFill>
                    <a:srgbClr val="000000"/>
                  </a:solidFill>
                  <a:effectLst/>
                  <a:latin typeface="Aptos" panose="020B0004020202020204" pitchFamily="34" charset="0"/>
                </a:rPr>
                <a:t>Multiple types of observational units are stored in the same table.</a:t>
              </a:r>
            </a:p>
            <a:p>
              <a:pPr marL="285750" indent="-285750" algn="ctr">
                <a:buFont typeface="Arial" panose="020B0604020202020204" pitchFamily="34" charset="0"/>
                <a:buChar char="•"/>
              </a:pPr>
              <a:r>
                <a:rPr lang="en-GB" b="0" i="0" dirty="0">
                  <a:solidFill>
                    <a:srgbClr val="000000"/>
                  </a:solidFill>
                  <a:effectLst/>
                  <a:latin typeface="Aptos" panose="020B0004020202020204" pitchFamily="34" charset="0"/>
                </a:rPr>
                <a:t>A single observational unit is stored in multiple tables.</a:t>
              </a:r>
            </a:p>
            <a:p>
              <a:pPr algn="ctr"/>
              <a:endParaRPr lang="en-GB" b="0" i="0" dirty="0">
                <a:solidFill>
                  <a:srgbClr val="000000"/>
                </a:solidFill>
                <a:effectLst/>
                <a:latin typeface="Aptos" panose="020B0004020202020204" pitchFamily="34" charset="0"/>
              </a:endParaRPr>
            </a:p>
            <a:p>
              <a:pPr algn="ctr"/>
              <a:r>
                <a:rPr lang="en-GB" b="0" i="0" dirty="0">
                  <a:solidFill>
                    <a:srgbClr val="000000"/>
                  </a:solidFill>
                  <a:effectLst/>
                  <a:latin typeface="Aptos" panose="020B0004020202020204" pitchFamily="34" charset="0"/>
                </a:rPr>
                <a:t>Surprisingly, most messy datasets can be tidied with a small set of tools: pivoting and separating.</a:t>
              </a:r>
            </a:p>
            <a:p>
              <a:pPr marR="0" lvl="0" algn="ctr" rtl="0">
                <a:spcBef>
                  <a:spcPts val="0"/>
                </a:spcBef>
                <a:spcAft>
                  <a:spcPts val="0"/>
                </a:spcAft>
                <a:buClr>
                  <a:srgbClr val="2F5496"/>
                </a:buClr>
                <a:buSzPts val="1800"/>
              </a:pPr>
              <a:r>
                <a:rPr lang="en-GB" dirty="0">
                  <a:latin typeface="Aptos" panose="020B0004020202020204" pitchFamily="34" charset="0"/>
                  <a:ea typeface="Corbel"/>
                  <a:cs typeface="Corbel"/>
                  <a:sym typeface="Corbel"/>
                </a:rPr>
                <a:t> </a:t>
              </a:r>
            </a:p>
          </p:txBody>
        </p:sp>
      </p:grpSp>
    </p:spTree>
    <p:extLst>
      <p:ext uri="{BB962C8B-B14F-4D97-AF65-F5344CB8AC3E}">
        <p14:creationId xmlns:p14="http://schemas.microsoft.com/office/powerpoint/2010/main" val="2070990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B6A66-9D3C-8994-E9FF-0F44A9EB5FF7}"/>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5CC5AA4A-C1AA-C9B8-D594-3D0A1B47935A}"/>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13</a:t>
            </a:fld>
            <a:endParaRPr lang="en-US" noProof="0" dirty="0"/>
          </a:p>
        </p:txBody>
      </p:sp>
      <p:grpSp>
        <p:nvGrpSpPr>
          <p:cNvPr id="34" name="Group 33">
            <a:extLst>
              <a:ext uri="{FF2B5EF4-FFF2-40B4-BE49-F238E27FC236}">
                <a16:creationId xmlns:a16="http://schemas.microsoft.com/office/drawing/2014/main" id="{78BB61CA-E0F3-3DC9-B942-675E90B634C8}"/>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F335D789-7109-0522-4F02-C9EDD04767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51FCEB89-5439-A45E-87D7-E4FADC45B255}"/>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aphicFrame>
        <p:nvGraphicFramePr>
          <p:cNvPr id="6" name="Table 5">
            <a:extLst>
              <a:ext uri="{FF2B5EF4-FFF2-40B4-BE49-F238E27FC236}">
                <a16:creationId xmlns:a16="http://schemas.microsoft.com/office/drawing/2014/main" id="{68841596-2F92-A420-7019-0CD3E079E1E7}"/>
              </a:ext>
            </a:extLst>
          </p:cNvPr>
          <p:cNvGraphicFramePr>
            <a:graphicFrameLocks noGrp="1"/>
          </p:cNvGraphicFramePr>
          <p:nvPr>
            <p:extLst>
              <p:ext uri="{D42A27DB-BD31-4B8C-83A1-F6EECF244321}">
                <p14:modId xmlns:p14="http://schemas.microsoft.com/office/powerpoint/2010/main" val="2011530449"/>
              </p:ext>
            </p:extLst>
          </p:nvPr>
        </p:nvGraphicFramePr>
        <p:xfrm>
          <a:off x="1528250" y="775231"/>
          <a:ext cx="9072440" cy="4907280"/>
        </p:xfrm>
        <a:graphic>
          <a:graphicData uri="http://schemas.openxmlformats.org/drawingml/2006/table">
            <a:tbl>
              <a:tblPr firstRow="1" bandRow="1">
                <a:tableStyleId>{5C22544A-7EE6-4342-B048-85BDC9FD1C3A}</a:tableStyleId>
              </a:tblPr>
              <a:tblGrid>
                <a:gridCol w="1429226">
                  <a:extLst>
                    <a:ext uri="{9D8B030D-6E8A-4147-A177-3AD203B41FA5}">
                      <a16:colId xmlns:a16="http://schemas.microsoft.com/office/drawing/2014/main" val="1058555330"/>
                    </a:ext>
                  </a:extLst>
                </a:gridCol>
                <a:gridCol w="3821607">
                  <a:extLst>
                    <a:ext uri="{9D8B030D-6E8A-4147-A177-3AD203B41FA5}">
                      <a16:colId xmlns:a16="http://schemas.microsoft.com/office/drawing/2014/main" val="660335785"/>
                    </a:ext>
                  </a:extLst>
                </a:gridCol>
                <a:gridCol w="3821607">
                  <a:extLst>
                    <a:ext uri="{9D8B030D-6E8A-4147-A177-3AD203B41FA5}">
                      <a16:colId xmlns:a16="http://schemas.microsoft.com/office/drawing/2014/main" val="3802168303"/>
                    </a:ext>
                  </a:extLst>
                </a:gridCol>
              </a:tblGrid>
              <a:tr h="370840">
                <a:tc>
                  <a:txBody>
                    <a:bodyPr/>
                    <a:lstStyle/>
                    <a:p>
                      <a:endParaRPr lang="en-US" sz="2000" b="1"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Tidy Data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Common Data</a:t>
                      </a:r>
                    </a:p>
                    <a:p>
                      <a:endParaRPr lang="en-US" sz="8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8034327"/>
                  </a:ext>
                </a:extLst>
              </a:tr>
              <a:tr h="370840">
                <a:tc>
                  <a:txBody>
                    <a:bodyPr/>
                    <a:lstStyle/>
                    <a:p>
                      <a:endParaRPr lang="en-US" sz="800" b="1" i="1" noProof="0" dirty="0">
                        <a:solidFill>
                          <a:schemeClr val="bg2">
                            <a:lumMod val="25000"/>
                          </a:schemeClr>
                        </a:solidFill>
                        <a:latin typeface="Aptos" panose="020B0004020202020204" pitchFamily="34" charset="0"/>
                        <a:cs typeface="Times New Roman" panose="02020603050405020304" pitchFamily="18" charset="0"/>
                      </a:endParaRPr>
                    </a:p>
                    <a:p>
                      <a:r>
                        <a:rPr lang="en-US" sz="1400" b="1" i="0" noProof="0" dirty="0">
                          <a:solidFill>
                            <a:schemeClr val="bg2">
                              <a:lumMod val="25000"/>
                            </a:schemeClr>
                          </a:solidFill>
                          <a:latin typeface="Aptos" panose="020B0004020202020204" pitchFamily="34" charset="0"/>
                          <a:cs typeface="Times New Roman" panose="02020603050405020304" pitchFamily="18" charset="0"/>
                        </a:rPr>
                        <a:t>Structure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Each variable = column, each observation = row, each value = single cell.</a:t>
                      </a:r>
                      <a:endParaRPr lang="en-US" sz="14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Variables may be spread across multiple columns, combined, or nested; observations may be split or aggregated.</a:t>
                      </a:r>
                      <a:endParaRPr lang="en-US" sz="14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3964239"/>
                  </a:ext>
                </a:extLst>
              </a:tr>
              <a:tr h="370840">
                <a:tc>
                  <a:txBody>
                    <a:bodyPr/>
                    <a:lstStyle/>
                    <a:p>
                      <a:r>
                        <a:rPr lang="en-US" sz="1400" b="1" i="0" noProof="0" dirty="0">
                          <a:solidFill>
                            <a:schemeClr val="bg2">
                              <a:lumMod val="25000"/>
                            </a:schemeClr>
                          </a:solidFill>
                          <a:latin typeface="Aptos" panose="020B0004020202020204" pitchFamily="34" charset="0"/>
                          <a:cs typeface="Times New Roman" panose="02020603050405020304" pitchFamily="18" charset="0"/>
                        </a:rPr>
                        <a:t>Ease of Modeling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Directly compatible with ML algorithms (predictors and outcomes clearly separated).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Requires reshaping, pivoting, or manual extraction before modeling.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6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Feature Engineering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Straightforward: transformations (scaling, encoding, polynomial terms) apply cleanly to columns.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Complicated: features may need to be disentangled from merged or duplicated columns.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03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Interpretability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Clear mapping between variables and attributes → easier to explain model inputs/outputs.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Ambiguous variable definitions → harder to trace predictors back to real-world attributes.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9868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Visualization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Works seamlessly with libraries like seaborn, ggplot2, matplotlib.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Often requires restructuring before plotting meaningful relationships.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54257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Reproducibility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Analyses are portable and consistent across tools and teams.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High risk of errors due to ad‑hoc reshaping; harder to replicate workflows.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3782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Scalability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Scales well to large datasets; pipelines can be automated.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Scaling is inefficient; preprocessing steps multiply with dataset size.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066194"/>
                  </a:ext>
                </a:extLst>
              </a:tr>
            </a:tbl>
          </a:graphicData>
        </a:graphic>
      </p:graphicFrame>
    </p:spTree>
    <p:extLst>
      <p:ext uri="{BB962C8B-B14F-4D97-AF65-F5344CB8AC3E}">
        <p14:creationId xmlns:p14="http://schemas.microsoft.com/office/powerpoint/2010/main" val="2954634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84B36-3939-CD81-5EC5-C43EC8D6B90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E3082DA-1F69-883A-F164-A2ABFF5BCCB8}"/>
              </a:ext>
            </a:extLst>
          </p:cNvPr>
          <p:cNvGrpSpPr/>
          <p:nvPr/>
        </p:nvGrpSpPr>
        <p:grpSpPr>
          <a:xfrm>
            <a:off x="1524000" y="2385196"/>
            <a:ext cx="9144000" cy="2328318"/>
            <a:chOff x="1524000" y="2106808"/>
            <a:chExt cx="9144000" cy="2328318"/>
          </a:xfrm>
        </p:grpSpPr>
        <p:sp>
          <p:nvSpPr>
            <p:cNvPr id="3" name="Title 1">
              <a:extLst>
                <a:ext uri="{FF2B5EF4-FFF2-40B4-BE49-F238E27FC236}">
                  <a16:creationId xmlns:a16="http://schemas.microsoft.com/office/drawing/2014/main" id="{30058651-165D-2D82-E5DF-90E39D3A127A}"/>
                </a:ext>
              </a:extLst>
            </p:cNvPr>
            <p:cNvSpPr txBox="1">
              <a:spLocks/>
            </p:cNvSpPr>
            <p:nvPr/>
          </p:nvSpPr>
          <p:spPr>
            <a:xfrm>
              <a:off x="1524000" y="2106808"/>
              <a:ext cx="9144000" cy="46545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accent1">
                      <a:lumMod val="75000"/>
                    </a:schemeClr>
                  </a:solidFill>
                  <a:latin typeface="Aptos" panose="020B0004020202020204" pitchFamily="34" charset="0"/>
                </a:rPr>
                <a:t>Once data are secured, finding suitable features is like…</a:t>
              </a:r>
              <a:endParaRPr lang="en-US" sz="2800" noProof="0" dirty="0">
                <a:solidFill>
                  <a:schemeClr val="accent1">
                    <a:lumMod val="75000"/>
                  </a:schemeClr>
                </a:solidFill>
                <a:latin typeface="Aptos" panose="020B0004020202020204" pitchFamily="34" charset="0"/>
              </a:endParaRPr>
            </a:p>
          </p:txBody>
        </p:sp>
        <p:sp>
          <p:nvSpPr>
            <p:cNvPr id="4" name="Subtitle 2">
              <a:extLst>
                <a:ext uri="{FF2B5EF4-FFF2-40B4-BE49-F238E27FC236}">
                  <a16:creationId xmlns:a16="http://schemas.microsoft.com/office/drawing/2014/main" id="{32908606-0316-8212-47F2-E85BEDCBB2E0}"/>
                </a:ext>
              </a:extLst>
            </p:cNvPr>
            <p:cNvSpPr txBox="1">
              <a:spLocks/>
            </p:cNvSpPr>
            <p:nvPr/>
          </p:nvSpPr>
          <p:spPr>
            <a:xfrm>
              <a:off x="1524000" y="2788242"/>
              <a:ext cx="9144000" cy="16468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noProof="0" dirty="0">
                  <a:solidFill>
                    <a:schemeClr val="bg2">
                      <a:lumMod val="25000"/>
                    </a:schemeClr>
                  </a:solidFill>
                  <a:latin typeface="Aptos" panose="020B0004020202020204" pitchFamily="34" charset="0"/>
                </a:rPr>
                <a:t>is like sculpting from a block of marble; the raw material is abundant, but only careful chiseling reveals the form that truly matters. Each feature must be examined, shaped, or discarded to uncover the structure that best supports the learning goal, balancing elegance, relevance, and statistical integrity.</a:t>
              </a:r>
            </a:p>
          </p:txBody>
        </p:sp>
      </p:grpSp>
      <p:grpSp>
        <p:nvGrpSpPr>
          <p:cNvPr id="15" name="Group 14">
            <a:extLst>
              <a:ext uri="{FF2B5EF4-FFF2-40B4-BE49-F238E27FC236}">
                <a16:creationId xmlns:a16="http://schemas.microsoft.com/office/drawing/2014/main" id="{AF7A2A43-2C89-3633-BDD9-1D4251A7CAC4}"/>
              </a:ext>
            </a:extLst>
          </p:cNvPr>
          <p:cNvGrpSpPr/>
          <p:nvPr/>
        </p:nvGrpSpPr>
        <p:grpSpPr>
          <a:xfrm>
            <a:off x="898142" y="6203580"/>
            <a:ext cx="1863495" cy="517895"/>
            <a:chOff x="2808222" y="6127115"/>
            <a:chExt cx="1863495" cy="517895"/>
          </a:xfrm>
        </p:grpSpPr>
        <p:pic>
          <p:nvPicPr>
            <p:cNvPr id="16" name="Picture 2">
              <a:extLst>
                <a:ext uri="{FF2B5EF4-FFF2-40B4-BE49-F238E27FC236}">
                  <a16:creationId xmlns:a16="http://schemas.microsoft.com/office/drawing/2014/main" id="{2FABB097-414C-497B-80C0-4989354762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close up of a logo&#10;&#10;AI-generated content may be incorrect.">
              <a:extLst>
                <a:ext uri="{FF2B5EF4-FFF2-40B4-BE49-F238E27FC236}">
                  <a16:creationId xmlns:a16="http://schemas.microsoft.com/office/drawing/2014/main" id="{0EFACDF2-1A5C-577C-AD23-AB9F7805BEB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8" name="Slide Number Placeholder 8">
            <a:extLst>
              <a:ext uri="{FF2B5EF4-FFF2-40B4-BE49-F238E27FC236}">
                <a16:creationId xmlns:a16="http://schemas.microsoft.com/office/drawing/2014/main" id="{3232DF66-4F97-9D88-1B0C-08FABC34E8F2}"/>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14</a:t>
            </a:fld>
            <a:endParaRPr lang="en-US" noProof="0" dirty="0"/>
          </a:p>
        </p:txBody>
      </p:sp>
    </p:spTree>
    <p:extLst>
      <p:ext uri="{BB962C8B-B14F-4D97-AF65-F5344CB8AC3E}">
        <p14:creationId xmlns:p14="http://schemas.microsoft.com/office/powerpoint/2010/main" val="777869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3377A-3863-F604-10C2-30B531B55C1E}"/>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BC03310D-8B31-752B-7B9D-73DD8BB48CF3}"/>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15</a:t>
            </a:fld>
            <a:endParaRPr lang="en-US" noProof="0" dirty="0"/>
          </a:p>
        </p:txBody>
      </p:sp>
      <p:grpSp>
        <p:nvGrpSpPr>
          <p:cNvPr id="34" name="Group 33">
            <a:extLst>
              <a:ext uri="{FF2B5EF4-FFF2-40B4-BE49-F238E27FC236}">
                <a16:creationId xmlns:a16="http://schemas.microsoft.com/office/drawing/2014/main" id="{1443C5FF-CE10-2EF0-35E2-F52750613926}"/>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21E2B5F3-629A-D69A-A585-214B6B5183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21B0FD3F-2300-F8E0-A815-9D7C034A610A}"/>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362" name="TextBox 361">
            <a:extLst>
              <a:ext uri="{FF2B5EF4-FFF2-40B4-BE49-F238E27FC236}">
                <a16:creationId xmlns:a16="http://schemas.microsoft.com/office/drawing/2014/main" id="{E27D4D05-4E8A-2EC1-2283-ADC896D3C271}"/>
              </a:ext>
            </a:extLst>
          </p:cNvPr>
          <p:cNvSpPr txBox="1"/>
          <p:nvPr/>
        </p:nvSpPr>
        <p:spPr>
          <a:xfrm>
            <a:off x="180003" y="2814501"/>
            <a:ext cx="6048125" cy="769441"/>
          </a:xfrm>
          <a:prstGeom prst="rect">
            <a:avLst/>
          </a:prstGeom>
          <a:noFill/>
        </p:spPr>
        <p:txBody>
          <a:bodyPr wrap="square">
            <a:spAutoFit/>
          </a:bodyPr>
          <a:lstStyle/>
          <a:p>
            <a:pPr algn="ctr"/>
            <a:r>
              <a:rPr lang="en-US" sz="4400" dirty="0">
                <a:solidFill>
                  <a:schemeClr val="accent1">
                    <a:lumMod val="75000"/>
                  </a:schemeClr>
                </a:solidFill>
                <a:latin typeface="Aptos" panose="020B0004020202020204" pitchFamily="34" charset="0"/>
              </a:rPr>
              <a:t>Finding Relationships</a:t>
            </a:r>
            <a:endParaRPr lang="en-US" sz="4400" b="0" noProof="0" dirty="0">
              <a:solidFill>
                <a:schemeClr val="accent1">
                  <a:lumMod val="75000"/>
                </a:schemeClr>
              </a:solidFill>
              <a:latin typeface="Aptos" panose="020B0004020202020204" pitchFamily="34" charset="0"/>
            </a:endParaRPr>
          </a:p>
        </p:txBody>
      </p:sp>
      <p:grpSp>
        <p:nvGrpSpPr>
          <p:cNvPr id="596" name="Group 595">
            <a:extLst>
              <a:ext uri="{FF2B5EF4-FFF2-40B4-BE49-F238E27FC236}">
                <a16:creationId xmlns:a16="http://schemas.microsoft.com/office/drawing/2014/main" id="{3BB941A8-0699-449E-9A02-709A2915C070}"/>
              </a:ext>
            </a:extLst>
          </p:cNvPr>
          <p:cNvGrpSpPr/>
          <p:nvPr/>
        </p:nvGrpSpPr>
        <p:grpSpPr>
          <a:xfrm>
            <a:off x="5664547" y="1253604"/>
            <a:ext cx="6226016" cy="3748449"/>
            <a:chOff x="2982992" y="2052667"/>
            <a:chExt cx="6226016" cy="3748449"/>
          </a:xfrm>
        </p:grpSpPr>
        <p:grpSp>
          <p:nvGrpSpPr>
            <p:cNvPr id="595" name="Group 594">
              <a:extLst>
                <a:ext uri="{FF2B5EF4-FFF2-40B4-BE49-F238E27FC236}">
                  <a16:creationId xmlns:a16="http://schemas.microsoft.com/office/drawing/2014/main" id="{F4CCBE8E-CCFB-D621-F137-36E8C45A5B04}"/>
                </a:ext>
              </a:extLst>
            </p:cNvPr>
            <p:cNvGrpSpPr/>
            <p:nvPr/>
          </p:nvGrpSpPr>
          <p:grpSpPr>
            <a:xfrm>
              <a:off x="2982992" y="2052667"/>
              <a:ext cx="6226016" cy="3748449"/>
              <a:chOff x="2982992" y="2052667"/>
              <a:chExt cx="6226016" cy="3748449"/>
            </a:xfrm>
          </p:grpSpPr>
          <p:grpSp>
            <p:nvGrpSpPr>
              <p:cNvPr id="15" name="Group 14">
                <a:extLst>
                  <a:ext uri="{FF2B5EF4-FFF2-40B4-BE49-F238E27FC236}">
                    <a16:creationId xmlns:a16="http://schemas.microsoft.com/office/drawing/2014/main" id="{ACC0CDA1-BDF2-5CC5-88BF-1671A7012CE5}"/>
                  </a:ext>
                </a:extLst>
              </p:cNvPr>
              <p:cNvGrpSpPr/>
              <p:nvPr/>
            </p:nvGrpSpPr>
            <p:grpSpPr>
              <a:xfrm>
                <a:off x="2982992" y="2052667"/>
                <a:ext cx="6226016" cy="3402935"/>
                <a:chOff x="2659109" y="2047530"/>
                <a:chExt cx="6226016" cy="3402935"/>
              </a:xfrm>
            </p:grpSpPr>
            <p:sp>
              <p:nvSpPr>
                <p:cNvPr id="2" name="TextBox 1">
                  <a:extLst>
                    <a:ext uri="{FF2B5EF4-FFF2-40B4-BE49-F238E27FC236}">
                      <a16:creationId xmlns:a16="http://schemas.microsoft.com/office/drawing/2014/main" id="{89094A8C-A448-48CF-67C9-1CB62064197A}"/>
                    </a:ext>
                  </a:extLst>
                </p:cNvPr>
                <p:cNvSpPr txBox="1"/>
                <p:nvPr/>
              </p:nvSpPr>
              <p:spPr>
                <a:xfrm>
                  <a:off x="2659109" y="5050355"/>
                  <a:ext cx="1282552" cy="400110"/>
                </a:xfrm>
                <a:prstGeom prst="rect">
                  <a:avLst/>
                </a:prstGeom>
                <a:noFill/>
              </p:spPr>
              <p:txBody>
                <a:bodyPr wrap="square">
                  <a:spAutoFit/>
                </a:bodyPr>
                <a:lstStyle/>
                <a:p>
                  <a:pPr algn="r"/>
                  <a:r>
                    <a:rPr lang="en-US" sz="1000" noProof="0" dirty="0">
                      <a:solidFill>
                        <a:schemeClr val="bg2">
                          <a:lumMod val="25000"/>
                        </a:schemeClr>
                      </a:solidFill>
                      <a:latin typeface="Aptos" panose="020B0004020202020204" pitchFamily="34" charset="0"/>
                    </a:rPr>
                    <a:t>Predictor variable</a:t>
                  </a:r>
                </a:p>
                <a:p>
                  <a:pPr algn="r"/>
                  <a:r>
                    <a:rPr lang="en-US" sz="1000" noProof="0" dirty="0">
                      <a:solidFill>
                        <a:schemeClr val="bg2">
                          <a:lumMod val="25000"/>
                        </a:schemeClr>
                      </a:solidFill>
                      <a:latin typeface="Aptos" panose="020B0004020202020204" pitchFamily="34" charset="0"/>
                    </a:rPr>
                    <a:t>(Feature)</a:t>
                  </a:r>
                </a:p>
              </p:txBody>
            </p:sp>
            <p:pic>
              <p:nvPicPr>
                <p:cNvPr id="3" name="Picture 2">
                  <a:extLst>
                    <a:ext uri="{FF2B5EF4-FFF2-40B4-BE49-F238E27FC236}">
                      <a16:creationId xmlns:a16="http://schemas.microsoft.com/office/drawing/2014/main" id="{8E2C9662-58BA-410C-DC99-364865AE5B42}"/>
                    </a:ext>
                  </a:extLst>
                </p:cNvPr>
                <p:cNvPicPr>
                  <a:picLocks noChangeAspect="1"/>
                </p:cNvPicPr>
                <p:nvPr/>
              </p:nvPicPr>
              <p:blipFill rotWithShape="1">
                <a:blip r:embed="rId5"/>
                <a:srcRect l="23551"/>
                <a:stretch/>
              </p:blipFill>
              <p:spPr>
                <a:xfrm>
                  <a:off x="4000305" y="3128866"/>
                  <a:ext cx="2894991" cy="1902444"/>
                </a:xfrm>
                <a:prstGeom prst="rect">
                  <a:avLst/>
                </a:prstGeom>
              </p:spPr>
            </p:pic>
            <p:sp>
              <p:nvSpPr>
                <p:cNvPr id="4" name="TextBox 3">
                  <a:extLst>
                    <a:ext uri="{FF2B5EF4-FFF2-40B4-BE49-F238E27FC236}">
                      <a16:creationId xmlns:a16="http://schemas.microsoft.com/office/drawing/2014/main" id="{8ACA0E96-C3EC-70DB-BCCF-73E5154AF752}"/>
                    </a:ext>
                  </a:extLst>
                </p:cNvPr>
                <p:cNvSpPr txBox="1"/>
                <p:nvPr/>
              </p:nvSpPr>
              <p:spPr>
                <a:xfrm>
                  <a:off x="6987545" y="3039041"/>
                  <a:ext cx="1897580" cy="954107"/>
                </a:xfrm>
                <a:prstGeom prst="rect">
                  <a:avLst/>
                </a:prstGeom>
                <a:noFill/>
              </p:spPr>
              <p:txBody>
                <a:bodyPr wrap="square">
                  <a:spAutoFit/>
                </a:bodyPr>
                <a:lstStyle/>
                <a:p>
                  <a:r>
                    <a:rPr lang="en-US" sz="1400" noProof="0" dirty="0">
                      <a:solidFill>
                        <a:schemeClr val="accent1">
                          <a:lumMod val="75000"/>
                        </a:schemeClr>
                      </a:solidFill>
                      <a:latin typeface="Aptos" panose="020B0004020202020204" pitchFamily="34" charset="0"/>
                    </a:rPr>
                    <a:t>Observations/values </a:t>
                  </a:r>
                </a:p>
                <a:p>
                  <a:r>
                    <a:rPr lang="en-US" sz="1400" noProof="0" dirty="0">
                      <a:solidFill>
                        <a:schemeClr val="tx1">
                          <a:lumMod val="65000"/>
                          <a:lumOff val="35000"/>
                        </a:schemeClr>
                      </a:solidFill>
                      <a:latin typeface="Aptos" panose="020B0004020202020204" pitchFamily="34" charset="0"/>
                    </a:rPr>
                    <a:t>(patient 1</a:t>
                  </a:r>
                </a:p>
                <a:p>
                  <a:r>
                    <a:rPr lang="en-US" sz="1400" noProof="0" dirty="0">
                      <a:solidFill>
                        <a:schemeClr val="tx1">
                          <a:lumMod val="65000"/>
                          <a:lumOff val="35000"/>
                        </a:schemeClr>
                      </a:solidFill>
                      <a:latin typeface="Aptos" panose="020B0004020202020204" pitchFamily="34" charset="0"/>
                    </a:rPr>
                    <a:t> patient 2 </a:t>
                  </a:r>
                </a:p>
                <a:p>
                  <a:r>
                    <a:rPr lang="en-US" sz="1400" noProof="0" dirty="0">
                      <a:solidFill>
                        <a:schemeClr val="tx1">
                          <a:lumMod val="65000"/>
                          <a:lumOff val="35000"/>
                        </a:schemeClr>
                      </a:solidFill>
                      <a:latin typeface="Aptos" panose="020B0004020202020204" pitchFamily="34" charset="0"/>
                    </a:rPr>
                    <a:t>… )</a:t>
                  </a:r>
                  <a:endParaRPr lang="en-US" sz="1400" noProof="0" dirty="0">
                    <a:latin typeface="Aptos" panose="020B0004020202020204" pitchFamily="34" charset="0"/>
                  </a:endParaRPr>
                </a:p>
              </p:txBody>
            </p:sp>
            <p:sp>
              <p:nvSpPr>
                <p:cNvPr id="5" name="TextBox 4">
                  <a:extLst>
                    <a:ext uri="{FF2B5EF4-FFF2-40B4-BE49-F238E27FC236}">
                      <a16:creationId xmlns:a16="http://schemas.microsoft.com/office/drawing/2014/main" id="{74DEA321-6403-FB37-7272-160A49AC9E1E}"/>
                    </a:ext>
                  </a:extLst>
                </p:cNvPr>
                <p:cNvSpPr txBox="1"/>
                <p:nvPr/>
              </p:nvSpPr>
              <p:spPr>
                <a:xfrm rot="16200000">
                  <a:off x="3035517" y="3184106"/>
                  <a:ext cx="1499728"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n </a:t>
                  </a:r>
                  <a:r>
                    <a:rPr lang="en-US" sz="1000" noProof="0" dirty="0">
                      <a:solidFill>
                        <a:srgbClr val="C00000"/>
                      </a:solidFill>
                      <a:latin typeface="Aptos" panose="020B0004020202020204" pitchFamily="34" charset="0"/>
                    </a:rPr>
                    <a:t>data points</a:t>
                  </a:r>
                </a:p>
              </p:txBody>
            </p:sp>
            <p:sp>
              <p:nvSpPr>
                <p:cNvPr id="6" name="TextBox 5">
                  <a:extLst>
                    <a:ext uri="{FF2B5EF4-FFF2-40B4-BE49-F238E27FC236}">
                      <a16:creationId xmlns:a16="http://schemas.microsoft.com/office/drawing/2014/main" id="{74EFFBD6-0D6E-5543-B28B-8388D6A2809A}"/>
                    </a:ext>
                  </a:extLst>
                </p:cNvPr>
                <p:cNvSpPr txBox="1"/>
                <p:nvPr/>
              </p:nvSpPr>
              <p:spPr>
                <a:xfrm>
                  <a:off x="6062632" y="4978917"/>
                  <a:ext cx="1282552" cy="246221"/>
                </a:xfrm>
                <a:prstGeom prst="rect">
                  <a:avLst/>
                </a:prstGeom>
                <a:noFill/>
              </p:spPr>
              <p:txBody>
                <a:bodyPr wrap="square">
                  <a:spAutoFit/>
                </a:bodyPr>
                <a:lstStyle/>
                <a:p>
                  <a:r>
                    <a:rPr lang="en-US" sz="1000" i="1" noProof="0" dirty="0">
                      <a:solidFill>
                        <a:srgbClr val="C00000"/>
                      </a:solidFill>
                      <a:latin typeface="Aptos" panose="020B0004020202020204" pitchFamily="34" charset="0"/>
                    </a:rPr>
                    <a:t>p </a:t>
                  </a:r>
                  <a:r>
                    <a:rPr lang="en-US" sz="1000" noProof="0" dirty="0">
                      <a:solidFill>
                        <a:srgbClr val="C00000"/>
                      </a:solidFill>
                      <a:latin typeface="Aptos" panose="020B0004020202020204" pitchFamily="34" charset="0"/>
                    </a:rPr>
                    <a:t>variables</a:t>
                  </a:r>
                </a:p>
              </p:txBody>
            </p:sp>
            <p:cxnSp>
              <p:nvCxnSpPr>
                <p:cNvPr id="7" name="Google Shape;209;p9">
                  <a:extLst>
                    <a:ext uri="{FF2B5EF4-FFF2-40B4-BE49-F238E27FC236}">
                      <a16:creationId xmlns:a16="http://schemas.microsoft.com/office/drawing/2014/main" id="{97F955A1-AC7C-3FCE-13FD-CBF41FFDAD6E}"/>
                    </a:ext>
                  </a:extLst>
                </p:cNvPr>
                <p:cNvCxnSpPr>
                  <a:cxnSpLocks/>
                </p:cNvCxnSpPr>
                <p:nvPr/>
              </p:nvCxnSpPr>
              <p:spPr>
                <a:xfrm>
                  <a:off x="3915951" y="3280727"/>
                  <a:ext cx="0" cy="1552708"/>
                </a:xfrm>
                <a:prstGeom prst="straightConnector1">
                  <a:avLst/>
                </a:prstGeom>
                <a:noFill/>
                <a:ln w="9525" cap="flat" cmpd="sng">
                  <a:solidFill>
                    <a:schemeClr val="bg2">
                      <a:lumMod val="25000"/>
                    </a:schemeClr>
                  </a:solidFill>
                  <a:prstDash val="solid"/>
                  <a:round/>
                  <a:headEnd type="none" w="sm" len="sm"/>
                  <a:tailEnd type="stealth" w="med" len="med"/>
                </a:ln>
              </p:spPr>
            </p:cxnSp>
            <p:cxnSp>
              <p:nvCxnSpPr>
                <p:cNvPr id="8" name="Google Shape;209;p9">
                  <a:extLst>
                    <a:ext uri="{FF2B5EF4-FFF2-40B4-BE49-F238E27FC236}">
                      <a16:creationId xmlns:a16="http://schemas.microsoft.com/office/drawing/2014/main" id="{B3B85F20-4F9C-49B5-6A8B-1BE2A1AE01C4}"/>
                    </a:ext>
                  </a:extLst>
                </p:cNvPr>
                <p:cNvCxnSpPr>
                  <a:cxnSpLocks/>
                </p:cNvCxnSpPr>
                <p:nvPr/>
              </p:nvCxnSpPr>
              <p:spPr>
                <a:xfrm>
                  <a:off x="4280227" y="4949976"/>
                  <a:ext cx="2423681" cy="0"/>
                </a:xfrm>
                <a:prstGeom prst="straightConnector1">
                  <a:avLst/>
                </a:prstGeom>
                <a:noFill/>
                <a:ln w="9525" cap="flat" cmpd="sng">
                  <a:solidFill>
                    <a:schemeClr val="bg2">
                      <a:lumMod val="25000"/>
                    </a:schemeClr>
                  </a:solidFill>
                  <a:prstDash val="solid"/>
                  <a:round/>
                  <a:headEnd type="none" w="sm" len="sm"/>
                  <a:tailEnd type="stealth" w="med" len="med"/>
                </a:ln>
              </p:spPr>
            </p:cxnSp>
            <p:grpSp>
              <p:nvGrpSpPr>
                <p:cNvPr id="9" name="Group 8">
                  <a:extLst>
                    <a:ext uri="{FF2B5EF4-FFF2-40B4-BE49-F238E27FC236}">
                      <a16:creationId xmlns:a16="http://schemas.microsoft.com/office/drawing/2014/main" id="{3883207F-BD9F-3B39-8856-324C9E62F53B}"/>
                    </a:ext>
                  </a:extLst>
                </p:cNvPr>
                <p:cNvGrpSpPr/>
                <p:nvPr/>
              </p:nvGrpSpPr>
              <p:grpSpPr>
                <a:xfrm>
                  <a:off x="4252103" y="2047530"/>
                  <a:ext cx="2325780" cy="2887976"/>
                  <a:chOff x="6544936" y="1043358"/>
                  <a:chExt cx="2325780" cy="2887976"/>
                </a:xfrm>
              </p:grpSpPr>
              <p:sp>
                <p:nvSpPr>
                  <p:cNvPr id="10" name="TextBox 9">
                    <a:extLst>
                      <a:ext uri="{FF2B5EF4-FFF2-40B4-BE49-F238E27FC236}">
                        <a16:creationId xmlns:a16="http://schemas.microsoft.com/office/drawing/2014/main" id="{0DA9CE4A-F31C-CF2D-D021-04421E0FC807}"/>
                      </a:ext>
                    </a:extLst>
                  </p:cNvPr>
                  <p:cNvSpPr txBox="1"/>
                  <p:nvPr/>
                </p:nvSpPr>
                <p:spPr>
                  <a:xfrm rot="16200000">
                    <a:off x="6132416" y="1458650"/>
                    <a:ext cx="1132818" cy="307777"/>
                  </a:xfrm>
                  <a:prstGeom prst="rect">
                    <a:avLst/>
                  </a:prstGeom>
                  <a:noFill/>
                </p:spPr>
                <p:txBody>
                  <a:bodyPr wrap="square">
                    <a:spAutoFit/>
                  </a:bodyPr>
                  <a:lstStyle/>
                  <a:p>
                    <a:r>
                      <a:rPr lang="en-US" sz="1400" noProof="0" dirty="0">
                        <a:solidFill>
                          <a:schemeClr val="accent1">
                            <a:lumMod val="75000"/>
                          </a:schemeClr>
                        </a:solidFill>
                        <a:latin typeface="Aptos" panose="020B0004020202020204" pitchFamily="34" charset="0"/>
                      </a:rPr>
                      <a:t>Feature 1</a:t>
                    </a:r>
                    <a:endParaRPr lang="en-US" sz="1400" noProof="0" dirty="0">
                      <a:latin typeface="Aptos" panose="020B0004020202020204" pitchFamily="34" charset="0"/>
                    </a:endParaRPr>
                  </a:p>
                </p:txBody>
              </p:sp>
              <p:sp>
                <p:nvSpPr>
                  <p:cNvPr id="11" name="Arc 10">
                    <a:extLst>
                      <a:ext uri="{FF2B5EF4-FFF2-40B4-BE49-F238E27FC236}">
                        <a16:creationId xmlns:a16="http://schemas.microsoft.com/office/drawing/2014/main" id="{F713B5C8-82C9-28AF-B1B3-287CD711804A}"/>
                      </a:ext>
                    </a:extLst>
                  </p:cNvPr>
                  <p:cNvSpPr/>
                  <p:nvPr/>
                </p:nvSpPr>
                <p:spPr>
                  <a:xfrm rot="8392032" flipH="1" flipV="1">
                    <a:off x="6551355" y="2053817"/>
                    <a:ext cx="2098397" cy="1877517"/>
                  </a:xfrm>
                  <a:prstGeom prst="arc">
                    <a:avLst>
                      <a:gd name="adj1" fmla="val 16041280"/>
                      <a:gd name="adj2" fmla="val 0"/>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2" name="TextBox 11">
                    <a:extLst>
                      <a:ext uri="{FF2B5EF4-FFF2-40B4-BE49-F238E27FC236}">
                        <a16:creationId xmlns:a16="http://schemas.microsoft.com/office/drawing/2014/main" id="{343EF793-6E7D-F62B-0FE7-9F09A49C696D}"/>
                      </a:ext>
                    </a:extLst>
                  </p:cNvPr>
                  <p:cNvSpPr txBox="1"/>
                  <p:nvPr/>
                </p:nvSpPr>
                <p:spPr>
                  <a:xfrm rot="16200000">
                    <a:off x="8150419" y="1455878"/>
                    <a:ext cx="1132818" cy="307777"/>
                  </a:xfrm>
                  <a:prstGeom prst="rect">
                    <a:avLst/>
                  </a:prstGeom>
                  <a:noFill/>
                </p:spPr>
                <p:txBody>
                  <a:bodyPr wrap="square">
                    <a:spAutoFit/>
                  </a:bodyPr>
                  <a:lstStyle/>
                  <a:p>
                    <a:r>
                      <a:rPr lang="en-US" sz="1400" noProof="0" dirty="0">
                        <a:solidFill>
                          <a:schemeClr val="accent1">
                            <a:lumMod val="75000"/>
                          </a:schemeClr>
                        </a:solidFill>
                        <a:latin typeface="Aptos" panose="020B0004020202020204" pitchFamily="34" charset="0"/>
                      </a:rPr>
                      <a:t>Feature 2</a:t>
                    </a:r>
                    <a:endParaRPr lang="en-US" sz="1400" noProof="0" dirty="0">
                      <a:latin typeface="Aptos" panose="020B0004020202020204" pitchFamily="34" charset="0"/>
                    </a:endParaRPr>
                  </a:p>
                </p:txBody>
              </p: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ADAB834-553B-1757-CD87-BACB9CB8495B}"/>
                        </a:ext>
                      </a:extLst>
                    </p:cNvPr>
                    <p:cNvSpPr txBox="1"/>
                    <p:nvPr/>
                  </p:nvSpPr>
                  <p:spPr>
                    <a:xfrm>
                      <a:off x="4998659" y="2669397"/>
                      <a:ext cx="840692" cy="384914"/>
                    </a:xfrm>
                    <a:prstGeom prst="rect">
                      <a:avLst/>
                    </a:prstGeom>
                    <a:noFill/>
                  </p:spPr>
                  <p:txBody>
                    <a:bodyPr wrap="square">
                      <a:spAutoFit/>
                    </a:bodyPr>
                    <a:lstStyle/>
                    <a:p>
                      <a:pPr algn="ctr"/>
                      <a14:m>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𝑓</m:t>
                              </m:r>
                            </m:e>
                          </m:acc>
                        </m:oMath>
                      </a14:m>
                      <a:r>
                        <a:rPr lang="en-US" b="0" i="1" u="none" strike="noStrike" baseline="0" noProof="0" dirty="0">
                          <a:solidFill>
                            <a:schemeClr val="tx1"/>
                          </a:solidFill>
                          <a:latin typeface="Aptos" panose="020B0004020202020204" pitchFamily="34" charset="0"/>
                          <a:cs typeface="Times New Roman" panose="02020603050405020304" pitchFamily="18" charset="0"/>
                        </a:rPr>
                        <a:t> </a:t>
                      </a:r>
                      <a:endParaRPr lang="sk-SK" dirty="0">
                        <a:solidFill>
                          <a:schemeClr val="tx1"/>
                        </a:solidFill>
                      </a:endParaRPr>
                    </a:p>
                  </p:txBody>
                </p:sp>
              </mc:Choice>
              <mc:Fallback xmlns="">
                <p:sp>
                  <p:nvSpPr>
                    <p:cNvPr id="13" name="TextBox 12">
                      <a:extLst>
                        <a:ext uri="{FF2B5EF4-FFF2-40B4-BE49-F238E27FC236}">
                          <a16:creationId xmlns:a16="http://schemas.microsoft.com/office/drawing/2014/main" id="{8ADAB834-553B-1757-CD87-BACB9CB8495B}"/>
                        </a:ext>
                      </a:extLst>
                    </p:cNvPr>
                    <p:cNvSpPr txBox="1">
                      <a:spLocks noRot="1" noChangeAspect="1" noMove="1" noResize="1" noEditPoints="1" noAdjustHandles="1" noChangeArrowheads="1" noChangeShapeType="1" noTextEdit="1"/>
                    </p:cNvSpPr>
                    <p:nvPr/>
                  </p:nvSpPr>
                  <p:spPr>
                    <a:xfrm>
                      <a:off x="4998659" y="2669397"/>
                      <a:ext cx="840692" cy="384914"/>
                    </a:xfrm>
                    <a:prstGeom prst="rect">
                      <a:avLst/>
                    </a:prstGeom>
                    <a:blipFill>
                      <a:blip r:embed="rId6"/>
                      <a:stretch>
                        <a:fillRect t="-6250" b="-9375"/>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18D235CB-2254-E190-7BE9-DB5505CD9ED6}"/>
                    </a:ext>
                  </a:extLst>
                </p:cNvPr>
                <p:cNvGrpSpPr/>
                <p:nvPr/>
              </p:nvGrpSpPr>
              <p:grpSpPr>
                <a:xfrm>
                  <a:off x="6648127" y="4755010"/>
                  <a:ext cx="1538691" cy="691971"/>
                  <a:chOff x="9120822" y="4534650"/>
                  <a:chExt cx="1538691" cy="691971"/>
                </a:xfrm>
              </p:grpSpPr>
              <p:sp>
                <p:nvSpPr>
                  <p:cNvPr id="17" name="TextBox 16">
                    <a:extLst>
                      <a:ext uri="{FF2B5EF4-FFF2-40B4-BE49-F238E27FC236}">
                        <a16:creationId xmlns:a16="http://schemas.microsoft.com/office/drawing/2014/main" id="{BA54EAFD-9776-A7B8-46BA-BE94BD853A88}"/>
                      </a:ext>
                    </a:extLst>
                  </p:cNvPr>
                  <p:cNvSpPr txBox="1"/>
                  <p:nvPr/>
                </p:nvSpPr>
                <p:spPr>
                  <a:xfrm>
                    <a:off x="9376961" y="4826511"/>
                    <a:ext cx="1282552" cy="400110"/>
                  </a:xfrm>
                  <a:prstGeom prst="rect">
                    <a:avLst/>
                  </a:prstGeom>
                  <a:noFill/>
                </p:spPr>
                <p:txBody>
                  <a:bodyPr wrap="square">
                    <a:spAutoFit/>
                  </a:bodyPr>
                  <a:lstStyle/>
                  <a:p>
                    <a:r>
                      <a:rPr lang="en-US" sz="1000" noProof="0" dirty="0">
                        <a:solidFill>
                          <a:schemeClr val="bg2">
                            <a:lumMod val="25000"/>
                          </a:schemeClr>
                        </a:solidFill>
                        <a:latin typeface="Aptos" panose="020B0004020202020204" pitchFamily="34" charset="0"/>
                      </a:rPr>
                      <a:t>Dependent variable</a:t>
                    </a:r>
                  </a:p>
                  <a:p>
                    <a:r>
                      <a:rPr lang="en-US" sz="1000" noProof="0" dirty="0">
                        <a:solidFill>
                          <a:schemeClr val="bg2">
                            <a:lumMod val="25000"/>
                          </a:schemeClr>
                        </a:solidFill>
                        <a:latin typeface="Aptos" panose="020B0004020202020204" pitchFamily="34" charset="0"/>
                      </a:rPr>
                      <a:t>(Feature)</a:t>
                    </a:r>
                  </a:p>
                </p:txBody>
              </p:sp>
              <p:grpSp>
                <p:nvGrpSpPr>
                  <p:cNvPr id="18" name="Group 17">
                    <a:extLst>
                      <a:ext uri="{FF2B5EF4-FFF2-40B4-BE49-F238E27FC236}">
                        <a16:creationId xmlns:a16="http://schemas.microsoft.com/office/drawing/2014/main" id="{E40881D8-703A-43EC-9B86-08063AE95178}"/>
                      </a:ext>
                    </a:extLst>
                  </p:cNvPr>
                  <p:cNvGrpSpPr/>
                  <p:nvPr/>
                </p:nvGrpSpPr>
                <p:grpSpPr>
                  <a:xfrm>
                    <a:off x="9120822" y="4534650"/>
                    <a:ext cx="321986" cy="412282"/>
                    <a:chOff x="9120822" y="4534650"/>
                    <a:chExt cx="321986" cy="412282"/>
                  </a:xfrm>
                </p:grpSpPr>
                <p:cxnSp>
                  <p:nvCxnSpPr>
                    <p:cNvPr id="19" name="Straight Connector 18">
                      <a:extLst>
                        <a:ext uri="{FF2B5EF4-FFF2-40B4-BE49-F238E27FC236}">
                          <a16:creationId xmlns:a16="http://schemas.microsoft.com/office/drawing/2014/main" id="{3F6312AA-5476-AC47-1F88-2680C62A26C3}"/>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B520FD8D-1E63-AD51-6093-FD70021ADE97}"/>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grpSp>
              <p:nvGrpSpPr>
                <p:cNvPr id="21" name="Group 20">
                  <a:extLst>
                    <a:ext uri="{FF2B5EF4-FFF2-40B4-BE49-F238E27FC236}">
                      <a16:creationId xmlns:a16="http://schemas.microsoft.com/office/drawing/2014/main" id="{E9936C64-9428-C1BE-383C-407C640C7254}"/>
                    </a:ext>
                  </a:extLst>
                </p:cNvPr>
                <p:cNvGrpSpPr/>
                <p:nvPr/>
              </p:nvGrpSpPr>
              <p:grpSpPr>
                <a:xfrm flipH="1">
                  <a:off x="3894962" y="4755010"/>
                  <a:ext cx="321986" cy="412282"/>
                  <a:chOff x="9120822" y="4534650"/>
                  <a:chExt cx="321986" cy="412282"/>
                </a:xfrm>
              </p:grpSpPr>
              <p:cxnSp>
                <p:nvCxnSpPr>
                  <p:cNvPr id="22" name="Straight Connector 21">
                    <a:extLst>
                      <a:ext uri="{FF2B5EF4-FFF2-40B4-BE49-F238E27FC236}">
                        <a16:creationId xmlns:a16="http://schemas.microsoft.com/office/drawing/2014/main" id="{F1BEC1C6-1EFE-A099-2B12-C108EEFA5E8A}"/>
                      </a:ext>
                    </a:extLst>
                  </p:cNvPr>
                  <p:cNvCxnSpPr>
                    <a:cxnSpLocks/>
                  </p:cNvCxnSpPr>
                  <p:nvPr/>
                </p:nvCxnSpPr>
                <p:spPr>
                  <a:xfrm>
                    <a:off x="9120822" y="4534650"/>
                    <a:ext cx="249639" cy="412282"/>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C100715-61B4-A0E3-1C95-3D57AC8AC695}"/>
                      </a:ext>
                    </a:extLst>
                  </p:cNvPr>
                  <p:cNvCxnSpPr>
                    <a:cxnSpLocks/>
                  </p:cNvCxnSpPr>
                  <p:nvPr/>
                </p:nvCxnSpPr>
                <p:spPr>
                  <a:xfrm flipH="1">
                    <a:off x="9370461" y="494693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cxnSp>
            <p:nvCxnSpPr>
              <p:cNvPr id="591" name="Straight Connector 590">
                <a:extLst>
                  <a:ext uri="{FF2B5EF4-FFF2-40B4-BE49-F238E27FC236}">
                    <a16:creationId xmlns:a16="http://schemas.microsoft.com/office/drawing/2014/main" id="{C4300532-B9A9-168D-526E-53E0777609D8}"/>
                  </a:ext>
                </a:extLst>
              </p:cNvPr>
              <p:cNvCxnSpPr>
                <a:cxnSpLocks/>
              </p:cNvCxnSpPr>
              <p:nvPr/>
            </p:nvCxnSpPr>
            <p:spPr>
              <a:xfrm>
                <a:off x="5756420" y="4790207"/>
                <a:ext cx="0" cy="783523"/>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sp>
            <p:nvSpPr>
              <p:cNvPr id="594" name="TextBox 593">
                <a:extLst>
                  <a:ext uri="{FF2B5EF4-FFF2-40B4-BE49-F238E27FC236}">
                    <a16:creationId xmlns:a16="http://schemas.microsoft.com/office/drawing/2014/main" id="{80239862-9E5E-B7DF-EAE3-75C8A4686892}"/>
                  </a:ext>
                </a:extLst>
              </p:cNvPr>
              <p:cNvSpPr txBox="1"/>
              <p:nvPr/>
            </p:nvSpPr>
            <p:spPr>
              <a:xfrm>
                <a:off x="5115144" y="5554895"/>
                <a:ext cx="1282552" cy="246221"/>
              </a:xfrm>
              <a:prstGeom prst="rect">
                <a:avLst/>
              </a:prstGeom>
              <a:noFill/>
            </p:spPr>
            <p:txBody>
              <a:bodyPr wrap="square">
                <a:spAutoFit/>
              </a:bodyPr>
              <a:lstStyle/>
              <a:p>
                <a:pPr algn="ctr"/>
                <a:r>
                  <a:rPr lang="en-US" sz="1000" noProof="0" dirty="0">
                    <a:solidFill>
                      <a:schemeClr val="bg2">
                        <a:lumMod val="25000"/>
                      </a:schemeClr>
                    </a:solidFill>
                    <a:latin typeface="Aptos" panose="020B0004020202020204" pitchFamily="34" charset="0"/>
                  </a:rPr>
                  <a:t>Feature space</a:t>
                </a:r>
              </a:p>
            </p:txBody>
          </p:sp>
        </p:grpSp>
        <p:sp>
          <p:nvSpPr>
            <p:cNvPr id="588" name="Rounded Rectangle 587">
              <a:extLst>
                <a:ext uri="{FF2B5EF4-FFF2-40B4-BE49-F238E27FC236}">
                  <a16:creationId xmlns:a16="http://schemas.microsoft.com/office/drawing/2014/main" id="{41CB912C-3607-44E1-FE10-A4F880324347}"/>
                </a:ext>
              </a:extLst>
            </p:cNvPr>
            <p:cNvSpPr/>
            <p:nvPr/>
          </p:nvSpPr>
          <p:spPr>
            <a:xfrm>
              <a:off x="4540831" y="3349283"/>
              <a:ext cx="2431179" cy="1449995"/>
            </a:xfrm>
            <a:prstGeom prst="roundRect">
              <a:avLst>
                <a:gd name="adj" fmla="val 3598"/>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89" name="Rectangle: Rounded Corners 7">
              <a:extLst>
                <a:ext uri="{FF2B5EF4-FFF2-40B4-BE49-F238E27FC236}">
                  <a16:creationId xmlns:a16="http://schemas.microsoft.com/office/drawing/2014/main" id="{913026A9-A1CD-5636-A746-691CDB4600B2}"/>
                </a:ext>
              </a:extLst>
            </p:cNvPr>
            <p:cNvSpPr/>
            <p:nvPr/>
          </p:nvSpPr>
          <p:spPr>
            <a:xfrm rot="5400000">
              <a:off x="4033954" y="3873368"/>
              <a:ext cx="1440193" cy="415191"/>
            </a:xfrm>
            <a:prstGeom prst="roundRect">
              <a:avLst>
                <a:gd name="adj" fmla="val 5906"/>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0" name="Rectangle: Rounded Corners 7">
              <a:extLst>
                <a:ext uri="{FF2B5EF4-FFF2-40B4-BE49-F238E27FC236}">
                  <a16:creationId xmlns:a16="http://schemas.microsoft.com/office/drawing/2014/main" id="{1E03D376-9B0A-FC53-B3E7-F54B50749B81}"/>
                </a:ext>
              </a:extLst>
            </p:cNvPr>
            <p:cNvSpPr/>
            <p:nvPr/>
          </p:nvSpPr>
          <p:spPr>
            <a:xfrm rot="5400000">
              <a:off x="6028094" y="3871586"/>
              <a:ext cx="1440193" cy="415191"/>
            </a:xfrm>
            <a:prstGeom prst="roundRect">
              <a:avLst>
                <a:gd name="adj" fmla="val 5906"/>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11724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61000"/>
          </a:schemeClr>
        </a:solidFill>
        <a:effectLst/>
      </p:bgPr>
    </p:bg>
    <p:spTree>
      <p:nvGrpSpPr>
        <p:cNvPr id="1" name="">
          <a:extLst>
            <a:ext uri="{FF2B5EF4-FFF2-40B4-BE49-F238E27FC236}">
              <a16:creationId xmlns:a16="http://schemas.microsoft.com/office/drawing/2014/main" id="{5544D344-4409-7D6A-0163-FA2123ED9331}"/>
            </a:ext>
          </a:extLst>
        </p:cNvPr>
        <p:cNvGrpSpPr/>
        <p:nvPr/>
      </p:nvGrpSpPr>
      <p:grpSpPr>
        <a:xfrm>
          <a:off x="0" y="0"/>
          <a:ext cx="0" cy="0"/>
          <a:chOff x="0" y="0"/>
          <a:chExt cx="0" cy="0"/>
        </a:xfrm>
      </p:grpSpPr>
      <p:sp>
        <p:nvSpPr>
          <p:cNvPr id="27" name="Rounded Rectangle 26">
            <a:extLst>
              <a:ext uri="{FF2B5EF4-FFF2-40B4-BE49-F238E27FC236}">
                <a16:creationId xmlns:a16="http://schemas.microsoft.com/office/drawing/2014/main" id="{DDEB7A0C-C00C-78DB-7663-DE1207E7DDF7}"/>
              </a:ext>
            </a:extLst>
          </p:cNvPr>
          <p:cNvSpPr/>
          <p:nvPr/>
        </p:nvSpPr>
        <p:spPr>
          <a:xfrm>
            <a:off x="8942807" y="1926124"/>
            <a:ext cx="2457680" cy="2347926"/>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85" name="Rounded Rectangle 484">
            <a:extLst>
              <a:ext uri="{FF2B5EF4-FFF2-40B4-BE49-F238E27FC236}">
                <a16:creationId xmlns:a16="http://schemas.microsoft.com/office/drawing/2014/main" id="{1B9EEB40-D725-D626-AA0D-115D895E15B3}"/>
              </a:ext>
            </a:extLst>
          </p:cNvPr>
          <p:cNvSpPr/>
          <p:nvPr/>
        </p:nvSpPr>
        <p:spPr>
          <a:xfrm>
            <a:off x="9951454" y="2855902"/>
            <a:ext cx="485119" cy="447458"/>
          </a:xfrm>
          <a:prstGeom prst="roundRect">
            <a:avLst>
              <a:gd name="adj" fmla="val 3598"/>
            </a:avLst>
          </a:prstGeom>
          <a:solidFill>
            <a:srgbClr val="A5D7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ounded Rectangle 23">
            <a:extLst>
              <a:ext uri="{FF2B5EF4-FFF2-40B4-BE49-F238E27FC236}">
                <a16:creationId xmlns:a16="http://schemas.microsoft.com/office/drawing/2014/main" id="{85D93174-FF87-D160-668A-110AC049D4EA}"/>
              </a:ext>
            </a:extLst>
          </p:cNvPr>
          <p:cNvSpPr/>
          <p:nvPr/>
        </p:nvSpPr>
        <p:spPr>
          <a:xfrm>
            <a:off x="898142" y="1926124"/>
            <a:ext cx="2457680" cy="2347926"/>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44" name="Rounded Rectangle 343">
            <a:extLst>
              <a:ext uri="{FF2B5EF4-FFF2-40B4-BE49-F238E27FC236}">
                <a16:creationId xmlns:a16="http://schemas.microsoft.com/office/drawing/2014/main" id="{7CEE443D-D15C-F0E6-C677-3F54DB5C0605}"/>
              </a:ext>
            </a:extLst>
          </p:cNvPr>
          <p:cNvSpPr/>
          <p:nvPr/>
        </p:nvSpPr>
        <p:spPr>
          <a:xfrm>
            <a:off x="2135251" y="3233175"/>
            <a:ext cx="591955" cy="447458"/>
          </a:xfrm>
          <a:prstGeom prst="roundRect">
            <a:avLst>
              <a:gd name="adj" fmla="val 3598"/>
            </a:avLst>
          </a:prstGeom>
          <a:solidFill>
            <a:srgbClr val="DEBF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3" name="Slide Number Placeholder 8">
            <a:extLst>
              <a:ext uri="{FF2B5EF4-FFF2-40B4-BE49-F238E27FC236}">
                <a16:creationId xmlns:a16="http://schemas.microsoft.com/office/drawing/2014/main" id="{D94BEFD3-774E-00A3-F22A-36361007BC85}"/>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16</a:t>
            </a:fld>
            <a:endParaRPr lang="en-US" noProof="0" dirty="0"/>
          </a:p>
        </p:txBody>
      </p:sp>
      <p:grpSp>
        <p:nvGrpSpPr>
          <p:cNvPr id="34" name="Group 33">
            <a:extLst>
              <a:ext uri="{FF2B5EF4-FFF2-40B4-BE49-F238E27FC236}">
                <a16:creationId xmlns:a16="http://schemas.microsoft.com/office/drawing/2014/main" id="{51873637-3B7E-63FD-B64E-54C75B9328E7}"/>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79666D14-6976-73AF-CE86-BEE4AC79E1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76C7FB45-5E47-A003-A322-398FF4CEA997}"/>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25" name="Rounded Rectangle 24">
            <a:extLst>
              <a:ext uri="{FF2B5EF4-FFF2-40B4-BE49-F238E27FC236}">
                <a16:creationId xmlns:a16="http://schemas.microsoft.com/office/drawing/2014/main" id="{F587C529-A423-D777-A693-71CA6AC8E1A4}"/>
              </a:ext>
            </a:extLst>
          </p:cNvPr>
          <p:cNvSpPr/>
          <p:nvPr/>
        </p:nvSpPr>
        <p:spPr>
          <a:xfrm>
            <a:off x="3579697" y="1926124"/>
            <a:ext cx="2457680" cy="2347926"/>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Rounded Rectangle 25">
            <a:extLst>
              <a:ext uri="{FF2B5EF4-FFF2-40B4-BE49-F238E27FC236}">
                <a16:creationId xmlns:a16="http://schemas.microsoft.com/office/drawing/2014/main" id="{E9FBBBBA-32BF-AF0D-084A-C8DACD7F82D6}"/>
              </a:ext>
            </a:extLst>
          </p:cNvPr>
          <p:cNvSpPr/>
          <p:nvPr/>
        </p:nvSpPr>
        <p:spPr>
          <a:xfrm>
            <a:off x="6261252" y="1926124"/>
            <a:ext cx="2457680" cy="2347926"/>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0" name="Rounded Rectangle 59">
            <a:extLst>
              <a:ext uri="{FF2B5EF4-FFF2-40B4-BE49-F238E27FC236}">
                <a16:creationId xmlns:a16="http://schemas.microsoft.com/office/drawing/2014/main" id="{BD2345C7-44E1-921C-0A45-BF9BE0B77092}"/>
              </a:ext>
            </a:extLst>
          </p:cNvPr>
          <p:cNvSpPr/>
          <p:nvPr/>
        </p:nvSpPr>
        <p:spPr>
          <a:xfrm>
            <a:off x="1464067" y="3237090"/>
            <a:ext cx="598636" cy="447458"/>
          </a:xfrm>
          <a:prstGeom prst="roundRect">
            <a:avLst>
              <a:gd name="adj" fmla="val 3598"/>
            </a:avLst>
          </a:prstGeom>
          <a:solidFill>
            <a:srgbClr val="DEBF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9" name="TextBox 28">
            <a:extLst>
              <a:ext uri="{FF2B5EF4-FFF2-40B4-BE49-F238E27FC236}">
                <a16:creationId xmlns:a16="http://schemas.microsoft.com/office/drawing/2014/main" id="{E8380EBD-4809-3033-54AB-35F1B126B595}"/>
              </a:ext>
            </a:extLst>
          </p:cNvPr>
          <p:cNvSpPr txBox="1"/>
          <p:nvPr/>
        </p:nvSpPr>
        <p:spPr>
          <a:xfrm>
            <a:off x="887868" y="2573847"/>
            <a:ext cx="2457680" cy="615553"/>
          </a:xfrm>
          <a:prstGeom prst="rect">
            <a:avLst/>
          </a:prstGeom>
          <a:noFill/>
        </p:spPr>
        <p:txBody>
          <a:bodyPr wrap="square">
            <a:spAutoFit/>
          </a:bodyPr>
          <a:lstStyle/>
          <a:p>
            <a:pPr algn="ctr"/>
            <a:r>
              <a:rPr lang="en-US" sz="1200" b="1" dirty="0">
                <a:solidFill>
                  <a:schemeClr val="accent1">
                    <a:lumMod val="75000"/>
                  </a:schemeClr>
                </a:solidFill>
                <a:latin typeface="Aptos" panose="020B0004020202020204" pitchFamily="34" charset="0"/>
              </a:rPr>
              <a:t>Learning Goal Clarification</a:t>
            </a:r>
            <a:br>
              <a:rPr lang="en-US" sz="1200" dirty="0">
                <a:latin typeface="Aptos" panose="020B0004020202020204" pitchFamily="34" charset="0"/>
              </a:rPr>
            </a:br>
            <a:r>
              <a:rPr lang="en-US" sz="1200" dirty="0">
                <a:latin typeface="Aptos" panose="020B0004020202020204" pitchFamily="34" charset="0"/>
              </a:rPr>
              <a:t>e.g. </a:t>
            </a:r>
            <a:r>
              <a:rPr lang="en-US" sz="1000" dirty="0">
                <a:latin typeface="Aptos" panose="020B0004020202020204" pitchFamily="34" charset="0"/>
              </a:rPr>
              <a:t>prediction, classification, clustering, inference</a:t>
            </a:r>
            <a:endParaRPr lang="en-GB" sz="1000" dirty="0">
              <a:latin typeface="Aptos" panose="020B0004020202020204" pitchFamily="34" charset="0"/>
            </a:endParaRPr>
          </a:p>
        </p:txBody>
      </p:sp>
      <p:grpSp>
        <p:nvGrpSpPr>
          <p:cNvPr id="322" name="Group 321">
            <a:extLst>
              <a:ext uri="{FF2B5EF4-FFF2-40B4-BE49-F238E27FC236}">
                <a16:creationId xmlns:a16="http://schemas.microsoft.com/office/drawing/2014/main" id="{AD1E0096-30F7-95F7-A796-179FB93AAF15}"/>
              </a:ext>
            </a:extLst>
          </p:cNvPr>
          <p:cNvGrpSpPr/>
          <p:nvPr/>
        </p:nvGrpSpPr>
        <p:grpSpPr>
          <a:xfrm>
            <a:off x="2231553" y="3350891"/>
            <a:ext cx="399028" cy="236306"/>
            <a:chOff x="2144362" y="3677919"/>
            <a:chExt cx="314846" cy="186453"/>
          </a:xfrm>
        </p:grpSpPr>
        <p:grpSp>
          <p:nvGrpSpPr>
            <p:cNvPr id="39" name="Group 38">
              <a:extLst>
                <a:ext uri="{FF2B5EF4-FFF2-40B4-BE49-F238E27FC236}">
                  <a16:creationId xmlns:a16="http://schemas.microsoft.com/office/drawing/2014/main" id="{D5865ABD-C8C7-7EFB-0B91-26C032614469}"/>
                </a:ext>
              </a:extLst>
            </p:cNvPr>
            <p:cNvGrpSpPr/>
            <p:nvPr/>
          </p:nvGrpSpPr>
          <p:grpSpPr>
            <a:xfrm>
              <a:off x="2195193" y="3702286"/>
              <a:ext cx="104811" cy="98260"/>
              <a:chOff x="3073920" y="4270375"/>
              <a:chExt cx="104811" cy="98260"/>
            </a:xfrm>
          </p:grpSpPr>
          <p:cxnSp>
            <p:nvCxnSpPr>
              <p:cNvPr id="40" name="Straight Connector 39">
                <a:extLst>
                  <a:ext uri="{FF2B5EF4-FFF2-40B4-BE49-F238E27FC236}">
                    <a16:creationId xmlns:a16="http://schemas.microsoft.com/office/drawing/2014/main" id="{FDD223EE-D34A-2DDB-2D31-352940F271A4}"/>
                  </a:ext>
                </a:extLst>
              </p:cNvPr>
              <p:cNvCxnSpPr>
                <a:cxnSpLocks/>
              </p:cNvCxnSpPr>
              <p:nvPr/>
            </p:nvCxnSpPr>
            <p:spPr>
              <a:xfrm flipH="1">
                <a:off x="3091597" y="4270375"/>
                <a:ext cx="87134" cy="75400"/>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7802786D-DFB1-DACA-67B1-A76BD55CBDD7}"/>
                  </a:ext>
                </a:extLst>
              </p:cNvPr>
              <p:cNvSpPr/>
              <p:nvPr/>
            </p:nvSpPr>
            <p:spPr>
              <a:xfrm flipV="1">
                <a:off x="3073920" y="432291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2" name="Straight Connector 41">
              <a:extLst>
                <a:ext uri="{FF2B5EF4-FFF2-40B4-BE49-F238E27FC236}">
                  <a16:creationId xmlns:a16="http://schemas.microsoft.com/office/drawing/2014/main" id="{0B1255EF-0184-91DC-0B0B-DEA4C60DE98F}"/>
                </a:ext>
              </a:extLst>
            </p:cNvPr>
            <p:cNvCxnSpPr>
              <a:cxnSpLocks/>
            </p:cNvCxnSpPr>
            <p:nvPr/>
          </p:nvCxnSpPr>
          <p:spPr>
            <a:xfrm>
              <a:off x="2300004" y="3702286"/>
              <a:ext cx="87134" cy="75400"/>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grpSp>
          <p:nvGrpSpPr>
            <p:cNvPr id="43" name="Group 42">
              <a:extLst>
                <a:ext uri="{FF2B5EF4-FFF2-40B4-BE49-F238E27FC236}">
                  <a16:creationId xmlns:a16="http://schemas.microsoft.com/office/drawing/2014/main" id="{5A10C119-F5FD-6828-2B36-DA3E512B476A}"/>
                </a:ext>
              </a:extLst>
            </p:cNvPr>
            <p:cNvGrpSpPr/>
            <p:nvPr/>
          </p:nvGrpSpPr>
          <p:grpSpPr>
            <a:xfrm>
              <a:off x="2144362" y="3784460"/>
              <a:ext cx="150530" cy="79912"/>
              <a:chOff x="3559498" y="4304606"/>
              <a:chExt cx="150530" cy="79912"/>
            </a:xfrm>
          </p:grpSpPr>
          <p:cxnSp>
            <p:nvCxnSpPr>
              <p:cNvPr id="44" name="Straight Connector 43">
                <a:extLst>
                  <a:ext uri="{FF2B5EF4-FFF2-40B4-BE49-F238E27FC236}">
                    <a16:creationId xmlns:a16="http://schemas.microsoft.com/office/drawing/2014/main" id="{567BEB1B-6CDD-B407-C55D-444E6C5A416D}"/>
                  </a:ext>
                </a:extLst>
              </p:cNvPr>
              <p:cNvCxnSpPr>
                <a:cxnSpLocks/>
              </p:cNvCxnSpPr>
              <p:nvPr/>
            </p:nvCxnSpPr>
            <p:spPr>
              <a:xfrm>
                <a:off x="3629494" y="4304606"/>
                <a:ext cx="66840" cy="68385"/>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96CB980F-92AD-48F2-6175-92FBD50DA9D4}"/>
                  </a:ext>
                </a:extLst>
              </p:cNvPr>
              <p:cNvCxnSpPr>
                <a:cxnSpLocks/>
                <a:endCxn id="46" idx="1"/>
              </p:cNvCxnSpPr>
              <p:nvPr/>
            </p:nvCxnSpPr>
            <p:spPr>
              <a:xfrm flipH="1">
                <a:off x="3566193" y="4309438"/>
                <a:ext cx="66840" cy="68385"/>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sp>
            <p:nvSpPr>
              <p:cNvPr id="46" name="Oval 45">
                <a:extLst>
                  <a:ext uri="{FF2B5EF4-FFF2-40B4-BE49-F238E27FC236}">
                    <a16:creationId xmlns:a16="http://schemas.microsoft.com/office/drawing/2014/main" id="{B6E57C97-3D1D-E6F4-BFD7-1CD00DC2A198}"/>
                  </a:ext>
                </a:extLst>
              </p:cNvPr>
              <p:cNvSpPr/>
              <p:nvPr/>
            </p:nvSpPr>
            <p:spPr>
              <a:xfrm flipV="1">
                <a:off x="3559498" y="433879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B906037B-1AC1-01AB-B0AC-E82E6D64B1B3}"/>
                  </a:ext>
                </a:extLst>
              </p:cNvPr>
              <p:cNvSpPr/>
              <p:nvPr/>
            </p:nvSpPr>
            <p:spPr>
              <a:xfrm flipV="1">
                <a:off x="3664309" y="433879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 name="Straight Connector 47">
              <a:extLst>
                <a:ext uri="{FF2B5EF4-FFF2-40B4-BE49-F238E27FC236}">
                  <a16:creationId xmlns:a16="http://schemas.microsoft.com/office/drawing/2014/main" id="{16A6E995-BC7F-4C79-3BA7-E3447C043427}"/>
                </a:ext>
              </a:extLst>
            </p:cNvPr>
            <p:cNvCxnSpPr>
              <a:cxnSpLocks/>
            </p:cNvCxnSpPr>
            <p:nvPr/>
          </p:nvCxnSpPr>
          <p:spPr>
            <a:xfrm>
              <a:off x="2378674" y="3784460"/>
              <a:ext cx="66840" cy="68385"/>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FDB503C0-D46D-138D-BE00-FB99CBAD6FB2}"/>
                </a:ext>
              </a:extLst>
            </p:cNvPr>
            <p:cNvCxnSpPr>
              <a:cxnSpLocks/>
              <a:endCxn id="50" idx="1"/>
            </p:cNvCxnSpPr>
            <p:nvPr/>
          </p:nvCxnSpPr>
          <p:spPr>
            <a:xfrm flipH="1">
              <a:off x="2315373" y="3789292"/>
              <a:ext cx="66840" cy="68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50" name="Oval 49">
              <a:extLst>
                <a:ext uri="{FF2B5EF4-FFF2-40B4-BE49-F238E27FC236}">
                  <a16:creationId xmlns:a16="http://schemas.microsoft.com/office/drawing/2014/main" id="{915D296D-FA82-869A-6B90-22D80300376B}"/>
                </a:ext>
              </a:extLst>
            </p:cNvPr>
            <p:cNvSpPr/>
            <p:nvPr/>
          </p:nvSpPr>
          <p:spPr>
            <a:xfrm flipV="1">
              <a:off x="2308678" y="38186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E276F22-194D-269A-11C8-67A4FF8276D3}"/>
                </a:ext>
              </a:extLst>
            </p:cNvPr>
            <p:cNvSpPr/>
            <p:nvPr/>
          </p:nvSpPr>
          <p:spPr>
            <a:xfrm flipV="1">
              <a:off x="2413489" y="381865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4FFD7A2-709E-2286-8B5F-699DE1BAE9CF}"/>
                </a:ext>
              </a:extLst>
            </p:cNvPr>
            <p:cNvSpPr/>
            <p:nvPr/>
          </p:nvSpPr>
          <p:spPr>
            <a:xfrm flipV="1">
              <a:off x="2272897" y="3677919"/>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4C75E7A3-654B-AA1D-0326-CEEBB6F093EB}"/>
                </a:ext>
              </a:extLst>
            </p:cNvPr>
            <p:cNvSpPr/>
            <p:nvPr/>
          </p:nvSpPr>
          <p:spPr>
            <a:xfrm flipH="1" flipV="1">
              <a:off x="2359096" y="3754827"/>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Arc 60">
            <a:extLst>
              <a:ext uri="{FF2B5EF4-FFF2-40B4-BE49-F238E27FC236}">
                <a16:creationId xmlns:a16="http://schemas.microsoft.com/office/drawing/2014/main" id="{1139EF74-88AE-FEA0-A00A-E156B93BB811}"/>
              </a:ext>
            </a:extLst>
          </p:cNvPr>
          <p:cNvSpPr/>
          <p:nvPr/>
        </p:nvSpPr>
        <p:spPr>
          <a:xfrm rot="5569220" flipH="1" flipV="1">
            <a:off x="2406482" y="2648439"/>
            <a:ext cx="2098397" cy="1877517"/>
          </a:xfrm>
          <a:prstGeom prst="arc">
            <a:avLst>
              <a:gd name="adj1" fmla="val 19929062"/>
              <a:gd name="adj2" fmla="val 2440658"/>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28" name="Oval 327">
            <a:extLst>
              <a:ext uri="{FF2B5EF4-FFF2-40B4-BE49-F238E27FC236}">
                <a16:creationId xmlns:a16="http://schemas.microsoft.com/office/drawing/2014/main" id="{50FA5106-680E-FB79-D68D-281A04012DA4}"/>
              </a:ext>
            </a:extLst>
          </p:cNvPr>
          <p:cNvSpPr/>
          <p:nvPr/>
        </p:nvSpPr>
        <p:spPr>
          <a:xfrm flipV="1">
            <a:off x="1756950" y="3546021"/>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9" name="Straight Connector 328">
            <a:extLst>
              <a:ext uri="{FF2B5EF4-FFF2-40B4-BE49-F238E27FC236}">
                <a16:creationId xmlns:a16="http://schemas.microsoft.com/office/drawing/2014/main" id="{67BD1B0F-D076-DDD8-29C0-480190EDD54A}"/>
              </a:ext>
            </a:extLst>
          </p:cNvPr>
          <p:cNvCxnSpPr>
            <a:cxnSpLocks/>
          </p:cNvCxnSpPr>
          <p:nvPr/>
        </p:nvCxnSpPr>
        <p:spPr>
          <a:xfrm>
            <a:off x="1524268" y="3310442"/>
            <a:ext cx="0" cy="329072"/>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330" name="Straight Connector 329">
            <a:extLst>
              <a:ext uri="{FF2B5EF4-FFF2-40B4-BE49-F238E27FC236}">
                <a16:creationId xmlns:a16="http://schemas.microsoft.com/office/drawing/2014/main" id="{E80AC696-2300-276C-4E8D-396CF5A501E8}"/>
              </a:ext>
            </a:extLst>
          </p:cNvPr>
          <p:cNvCxnSpPr>
            <a:cxnSpLocks/>
          </p:cNvCxnSpPr>
          <p:nvPr/>
        </p:nvCxnSpPr>
        <p:spPr>
          <a:xfrm flipH="1">
            <a:off x="1524268" y="3635856"/>
            <a:ext cx="469905" cy="0"/>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sp>
        <p:nvSpPr>
          <p:cNvPr id="331" name="Oval 330">
            <a:extLst>
              <a:ext uri="{FF2B5EF4-FFF2-40B4-BE49-F238E27FC236}">
                <a16:creationId xmlns:a16="http://schemas.microsoft.com/office/drawing/2014/main" id="{F35896E6-83F1-66F8-1FEC-255930BCE7E4}"/>
              </a:ext>
            </a:extLst>
          </p:cNvPr>
          <p:cNvSpPr/>
          <p:nvPr/>
        </p:nvSpPr>
        <p:spPr>
          <a:xfrm flipV="1">
            <a:off x="1743086" y="344467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Oval 331">
            <a:extLst>
              <a:ext uri="{FF2B5EF4-FFF2-40B4-BE49-F238E27FC236}">
                <a16:creationId xmlns:a16="http://schemas.microsoft.com/office/drawing/2014/main" id="{9C767517-9892-D7A1-FB35-2726A54A42FD}"/>
              </a:ext>
            </a:extLst>
          </p:cNvPr>
          <p:cNvSpPr/>
          <p:nvPr/>
        </p:nvSpPr>
        <p:spPr>
          <a:xfrm flipV="1">
            <a:off x="1662102" y="3501432"/>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Oval 332">
            <a:extLst>
              <a:ext uri="{FF2B5EF4-FFF2-40B4-BE49-F238E27FC236}">
                <a16:creationId xmlns:a16="http://schemas.microsoft.com/office/drawing/2014/main" id="{765FFCD4-4002-0085-28C6-B612CA668C43}"/>
              </a:ext>
            </a:extLst>
          </p:cNvPr>
          <p:cNvSpPr/>
          <p:nvPr/>
        </p:nvSpPr>
        <p:spPr>
          <a:xfrm flipV="1">
            <a:off x="1768337" y="3392312"/>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Oval 333">
            <a:extLst>
              <a:ext uri="{FF2B5EF4-FFF2-40B4-BE49-F238E27FC236}">
                <a16:creationId xmlns:a16="http://schemas.microsoft.com/office/drawing/2014/main" id="{5C0C518A-E674-1534-9135-25749225A8B3}"/>
              </a:ext>
            </a:extLst>
          </p:cNvPr>
          <p:cNvSpPr/>
          <p:nvPr/>
        </p:nvSpPr>
        <p:spPr>
          <a:xfrm flipV="1">
            <a:off x="1836531" y="3381711"/>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Oval 334">
            <a:extLst>
              <a:ext uri="{FF2B5EF4-FFF2-40B4-BE49-F238E27FC236}">
                <a16:creationId xmlns:a16="http://schemas.microsoft.com/office/drawing/2014/main" id="{38034DE8-1022-E808-7893-963794AF77A2}"/>
              </a:ext>
            </a:extLst>
          </p:cNvPr>
          <p:cNvSpPr/>
          <p:nvPr/>
        </p:nvSpPr>
        <p:spPr>
          <a:xfrm flipV="1">
            <a:off x="2006464" y="3325427"/>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a:extLst>
              <a:ext uri="{FF2B5EF4-FFF2-40B4-BE49-F238E27FC236}">
                <a16:creationId xmlns:a16="http://schemas.microsoft.com/office/drawing/2014/main" id="{8F0A35C8-127E-CC58-E124-AC3B24BB47FC}"/>
              </a:ext>
            </a:extLst>
          </p:cNvPr>
          <p:cNvSpPr/>
          <p:nvPr/>
        </p:nvSpPr>
        <p:spPr>
          <a:xfrm flipV="1">
            <a:off x="1634846" y="3551007"/>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9FF1289C-7FA6-7329-121C-6C5D21B9EAE9}"/>
              </a:ext>
            </a:extLst>
          </p:cNvPr>
          <p:cNvSpPr/>
          <p:nvPr/>
        </p:nvSpPr>
        <p:spPr>
          <a:xfrm flipV="1">
            <a:off x="1838717" y="3299821"/>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Freeform 342">
            <a:extLst>
              <a:ext uri="{FF2B5EF4-FFF2-40B4-BE49-F238E27FC236}">
                <a16:creationId xmlns:a16="http://schemas.microsoft.com/office/drawing/2014/main" id="{D4DCCEC0-9FD3-A750-F774-222DA35F01BA}"/>
              </a:ext>
            </a:extLst>
          </p:cNvPr>
          <p:cNvSpPr/>
          <p:nvPr/>
        </p:nvSpPr>
        <p:spPr>
          <a:xfrm>
            <a:off x="1618180" y="3344238"/>
            <a:ext cx="364732" cy="236306"/>
          </a:xfrm>
          <a:custGeom>
            <a:avLst/>
            <a:gdLst>
              <a:gd name="csX0" fmla="*/ 0 w 364732"/>
              <a:gd name="csY0" fmla="*/ 236306 h 236306"/>
              <a:gd name="csX1" fmla="*/ 143838 w 364732"/>
              <a:gd name="csY1" fmla="*/ 51371 h 236306"/>
              <a:gd name="csX2" fmla="*/ 364732 w 364732"/>
              <a:gd name="csY2" fmla="*/ 0 h 236306"/>
            </a:gdLst>
            <a:ahLst/>
            <a:cxnLst>
              <a:cxn ang="0">
                <a:pos x="csX0" y="csY0"/>
              </a:cxn>
              <a:cxn ang="0">
                <a:pos x="csX1" y="csY1"/>
              </a:cxn>
              <a:cxn ang="0">
                <a:pos x="csX2" y="csY2"/>
              </a:cxn>
            </a:cxnLst>
            <a:rect l="l" t="t" r="r" b="b"/>
            <a:pathLst>
              <a:path w="364732" h="236306">
                <a:moveTo>
                  <a:pt x="0" y="236306"/>
                </a:moveTo>
                <a:cubicBezTo>
                  <a:pt x="41524" y="163530"/>
                  <a:pt x="83049" y="90755"/>
                  <a:pt x="143838" y="51371"/>
                </a:cubicBezTo>
                <a:cubicBezTo>
                  <a:pt x="204627" y="11987"/>
                  <a:pt x="319355" y="8562"/>
                  <a:pt x="364732" y="0"/>
                </a:cubicBezTo>
              </a:path>
            </a:pathLst>
          </a:custGeom>
          <a:noFill/>
          <a:ln w="9525">
            <a:solidFill>
              <a:schemeClr val="bg1">
                <a:lumMod val="9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ounded Rectangle 428">
            <a:extLst>
              <a:ext uri="{FF2B5EF4-FFF2-40B4-BE49-F238E27FC236}">
                <a16:creationId xmlns:a16="http://schemas.microsoft.com/office/drawing/2014/main" id="{D7478480-1D3D-5A19-9405-8FB734CE817C}"/>
              </a:ext>
            </a:extLst>
          </p:cNvPr>
          <p:cNvSpPr/>
          <p:nvPr/>
        </p:nvSpPr>
        <p:spPr>
          <a:xfrm>
            <a:off x="4222840" y="2632669"/>
            <a:ext cx="591955" cy="447458"/>
          </a:xfrm>
          <a:prstGeom prst="roundRect">
            <a:avLst>
              <a:gd name="adj" fmla="val 3598"/>
            </a:avLst>
          </a:prstGeom>
          <a:solidFill>
            <a:srgbClr val="F3DE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45" name="TextBox 344">
            <a:extLst>
              <a:ext uri="{FF2B5EF4-FFF2-40B4-BE49-F238E27FC236}">
                <a16:creationId xmlns:a16="http://schemas.microsoft.com/office/drawing/2014/main" id="{BE13AD0B-1ADA-22F4-41C1-8C2DCA0D4F0D}"/>
              </a:ext>
            </a:extLst>
          </p:cNvPr>
          <p:cNvSpPr txBox="1"/>
          <p:nvPr/>
        </p:nvSpPr>
        <p:spPr>
          <a:xfrm>
            <a:off x="4848658" y="2614448"/>
            <a:ext cx="1188719" cy="400110"/>
          </a:xfrm>
          <a:prstGeom prst="rect">
            <a:avLst/>
          </a:prstGeom>
          <a:noFill/>
        </p:spPr>
        <p:txBody>
          <a:bodyPr wrap="square">
            <a:spAutoFit/>
          </a:bodyPr>
          <a:lstStyle/>
          <a:p>
            <a:r>
              <a:rPr lang="en-US" sz="1000" dirty="0">
                <a:latin typeface="Aptos" panose="020B0004020202020204" pitchFamily="34" charset="0"/>
              </a:rPr>
              <a:t>Define outcome </a:t>
            </a:r>
            <a:br>
              <a:rPr lang="en-US" sz="1000" dirty="0">
                <a:latin typeface="Aptos" panose="020B0004020202020204" pitchFamily="34" charset="0"/>
              </a:rPr>
            </a:br>
            <a:r>
              <a:rPr lang="en-US" sz="1000" dirty="0">
                <a:latin typeface="Aptos" panose="020B0004020202020204" pitchFamily="34" charset="0"/>
              </a:rPr>
              <a:t>to be modeled</a:t>
            </a:r>
            <a:endParaRPr lang="en-GB" sz="1000" dirty="0">
              <a:latin typeface="Aptos" panose="020B0004020202020204" pitchFamily="34" charset="0"/>
            </a:endParaRPr>
          </a:p>
        </p:txBody>
      </p:sp>
      <p:grpSp>
        <p:nvGrpSpPr>
          <p:cNvPr id="346" name="Group 345">
            <a:extLst>
              <a:ext uri="{FF2B5EF4-FFF2-40B4-BE49-F238E27FC236}">
                <a16:creationId xmlns:a16="http://schemas.microsoft.com/office/drawing/2014/main" id="{FE692F12-6D61-B9E5-D3DE-316A5A0CB3AA}"/>
              </a:ext>
            </a:extLst>
          </p:cNvPr>
          <p:cNvGrpSpPr/>
          <p:nvPr/>
        </p:nvGrpSpPr>
        <p:grpSpPr>
          <a:xfrm>
            <a:off x="4187919" y="2678523"/>
            <a:ext cx="615458" cy="339693"/>
            <a:chOff x="4235846" y="3511436"/>
            <a:chExt cx="615458" cy="339693"/>
          </a:xfrm>
        </p:grpSpPr>
        <p:sp>
          <p:nvSpPr>
            <p:cNvPr id="347" name="Oval 346">
              <a:extLst>
                <a:ext uri="{FF2B5EF4-FFF2-40B4-BE49-F238E27FC236}">
                  <a16:creationId xmlns:a16="http://schemas.microsoft.com/office/drawing/2014/main" id="{9CE1F945-D305-3618-67B7-5D749E007A86}"/>
                </a:ext>
              </a:extLst>
            </p:cNvPr>
            <p:cNvSpPr/>
            <p:nvPr/>
          </p:nvSpPr>
          <p:spPr>
            <a:xfrm flipV="1">
              <a:off x="4614081" y="375763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8" name="Straight Connector 347">
              <a:extLst>
                <a:ext uri="{FF2B5EF4-FFF2-40B4-BE49-F238E27FC236}">
                  <a16:creationId xmlns:a16="http://schemas.microsoft.com/office/drawing/2014/main" id="{FAA5BED0-C510-57F7-CB0D-D93FBE0C04A7}"/>
                </a:ext>
              </a:extLst>
            </p:cNvPr>
            <p:cNvCxnSpPr>
              <a:cxnSpLocks/>
            </p:cNvCxnSpPr>
            <p:nvPr/>
          </p:nvCxnSpPr>
          <p:spPr>
            <a:xfrm>
              <a:off x="4381399" y="3522057"/>
              <a:ext cx="0" cy="329072"/>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cxnSp>
          <p:nvCxnSpPr>
            <p:cNvPr id="349" name="Straight Connector 348">
              <a:extLst>
                <a:ext uri="{FF2B5EF4-FFF2-40B4-BE49-F238E27FC236}">
                  <a16:creationId xmlns:a16="http://schemas.microsoft.com/office/drawing/2014/main" id="{E0E5A6B2-0ED1-E11D-4408-0FB8B71FF62B}"/>
                </a:ext>
              </a:extLst>
            </p:cNvPr>
            <p:cNvCxnSpPr>
              <a:cxnSpLocks/>
            </p:cNvCxnSpPr>
            <p:nvPr/>
          </p:nvCxnSpPr>
          <p:spPr>
            <a:xfrm flipH="1">
              <a:off x="4381399" y="3847471"/>
              <a:ext cx="469905" cy="0"/>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sp>
          <p:nvSpPr>
            <p:cNvPr id="350" name="Oval 349">
              <a:extLst>
                <a:ext uri="{FF2B5EF4-FFF2-40B4-BE49-F238E27FC236}">
                  <a16:creationId xmlns:a16="http://schemas.microsoft.com/office/drawing/2014/main" id="{8EB95289-872E-F8B3-21DE-2B9A09BC3C78}"/>
                </a:ext>
              </a:extLst>
            </p:cNvPr>
            <p:cNvSpPr/>
            <p:nvPr/>
          </p:nvSpPr>
          <p:spPr>
            <a:xfrm flipV="1">
              <a:off x="4600217" y="365629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Oval 350">
              <a:extLst>
                <a:ext uri="{FF2B5EF4-FFF2-40B4-BE49-F238E27FC236}">
                  <a16:creationId xmlns:a16="http://schemas.microsoft.com/office/drawing/2014/main" id="{757E8BBA-F6B4-263E-4DA8-C74DBA0B743A}"/>
                </a:ext>
              </a:extLst>
            </p:cNvPr>
            <p:cNvSpPr/>
            <p:nvPr/>
          </p:nvSpPr>
          <p:spPr>
            <a:xfrm flipV="1">
              <a:off x="4519233" y="3713047"/>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Oval 351">
              <a:extLst>
                <a:ext uri="{FF2B5EF4-FFF2-40B4-BE49-F238E27FC236}">
                  <a16:creationId xmlns:a16="http://schemas.microsoft.com/office/drawing/2014/main" id="{1976D218-765C-0BAC-C44A-FAB3F23D57C9}"/>
                </a:ext>
              </a:extLst>
            </p:cNvPr>
            <p:cNvSpPr/>
            <p:nvPr/>
          </p:nvSpPr>
          <p:spPr>
            <a:xfrm flipV="1">
              <a:off x="4625468" y="3603927"/>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Oval 352">
              <a:extLst>
                <a:ext uri="{FF2B5EF4-FFF2-40B4-BE49-F238E27FC236}">
                  <a16:creationId xmlns:a16="http://schemas.microsoft.com/office/drawing/2014/main" id="{B1BBFD55-E653-603C-35C0-68EC3C2B230A}"/>
                </a:ext>
              </a:extLst>
            </p:cNvPr>
            <p:cNvSpPr/>
            <p:nvPr/>
          </p:nvSpPr>
          <p:spPr>
            <a:xfrm flipV="1">
              <a:off x="4693662" y="359332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Oval 353">
              <a:extLst>
                <a:ext uri="{FF2B5EF4-FFF2-40B4-BE49-F238E27FC236}">
                  <a16:creationId xmlns:a16="http://schemas.microsoft.com/office/drawing/2014/main" id="{C1D5CFA6-9286-9571-5AEF-BAE17CDFC026}"/>
                </a:ext>
              </a:extLst>
            </p:cNvPr>
            <p:cNvSpPr/>
            <p:nvPr/>
          </p:nvSpPr>
          <p:spPr>
            <a:xfrm flipV="1">
              <a:off x="4755718" y="3537042"/>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Oval 354">
              <a:extLst>
                <a:ext uri="{FF2B5EF4-FFF2-40B4-BE49-F238E27FC236}">
                  <a16:creationId xmlns:a16="http://schemas.microsoft.com/office/drawing/2014/main" id="{9E187880-C823-7F92-D7D4-CBB636A97294}"/>
                </a:ext>
              </a:extLst>
            </p:cNvPr>
            <p:cNvSpPr/>
            <p:nvPr/>
          </p:nvSpPr>
          <p:spPr>
            <a:xfrm flipV="1">
              <a:off x="4491977" y="3762622"/>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Oval 355">
              <a:extLst>
                <a:ext uri="{FF2B5EF4-FFF2-40B4-BE49-F238E27FC236}">
                  <a16:creationId xmlns:a16="http://schemas.microsoft.com/office/drawing/2014/main" id="{ADAD0F8E-0BFB-33D3-29DB-6691D0E55189}"/>
                </a:ext>
              </a:extLst>
            </p:cNvPr>
            <p:cNvSpPr/>
            <p:nvPr/>
          </p:nvSpPr>
          <p:spPr>
            <a:xfrm flipV="1">
              <a:off x="4695848" y="351143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Oval 356">
              <a:extLst>
                <a:ext uri="{FF2B5EF4-FFF2-40B4-BE49-F238E27FC236}">
                  <a16:creationId xmlns:a16="http://schemas.microsoft.com/office/drawing/2014/main" id="{D460F024-6364-3EC0-BA59-1D3EC79A489B}"/>
                </a:ext>
              </a:extLst>
            </p:cNvPr>
            <p:cNvSpPr/>
            <p:nvPr/>
          </p:nvSpPr>
          <p:spPr>
            <a:xfrm flipV="1">
              <a:off x="4653386" y="368057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Oval 357">
              <a:extLst>
                <a:ext uri="{FF2B5EF4-FFF2-40B4-BE49-F238E27FC236}">
                  <a16:creationId xmlns:a16="http://schemas.microsoft.com/office/drawing/2014/main" id="{37C866A5-CEFE-9A8A-2587-179CCA37DFC6}"/>
                </a:ext>
              </a:extLst>
            </p:cNvPr>
            <p:cNvSpPr/>
            <p:nvPr/>
          </p:nvSpPr>
          <p:spPr>
            <a:xfrm flipV="1">
              <a:off x="4591221" y="3701981"/>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Oval 358">
              <a:extLst>
                <a:ext uri="{FF2B5EF4-FFF2-40B4-BE49-F238E27FC236}">
                  <a16:creationId xmlns:a16="http://schemas.microsoft.com/office/drawing/2014/main" id="{BE0DA6D2-633E-400E-019D-72D61E188D95}"/>
                </a:ext>
              </a:extLst>
            </p:cNvPr>
            <p:cNvSpPr/>
            <p:nvPr/>
          </p:nvSpPr>
          <p:spPr>
            <a:xfrm flipV="1">
              <a:off x="4660317" y="3625764"/>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Oval 359">
              <a:extLst>
                <a:ext uri="{FF2B5EF4-FFF2-40B4-BE49-F238E27FC236}">
                  <a16:creationId xmlns:a16="http://schemas.microsoft.com/office/drawing/2014/main" id="{836FFBCC-55BC-524B-ED8F-35CE787EBD26}"/>
                </a:ext>
              </a:extLst>
            </p:cNvPr>
            <p:cNvSpPr/>
            <p:nvPr/>
          </p:nvSpPr>
          <p:spPr>
            <a:xfrm flipV="1">
              <a:off x="4750274" y="359332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Oval 360">
              <a:extLst>
                <a:ext uri="{FF2B5EF4-FFF2-40B4-BE49-F238E27FC236}">
                  <a16:creationId xmlns:a16="http://schemas.microsoft.com/office/drawing/2014/main" id="{AB41C208-2307-F210-468E-181095AC2008}"/>
                </a:ext>
              </a:extLst>
            </p:cNvPr>
            <p:cNvSpPr/>
            <p:nvPr/>
          </p:nvSpPr>
          <p:spPr>
            <a:xfrm flipV="1">
              <a:off x="4654750" y="355585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Oval 362">
              <a:extLst>
                <a:ext uri="{FF2B5EF4-FFF2-40B4-BE49-F238E27FC236}">
                  <a16:creationId xmlns:a16="http://schemas.microsoft.com/office/drawing/2014/main" id="{BF107182-F2A1-CFBA-B5AE-91E68E6D8F4C}"/>
                </a:ext>
              </a:extLst>
            </p:cNvPr>
            <p:cNvSpPr/>
            <p:nvPr/>
          </p:nvSpPr>
          <p:spPr>
            <a:xfrm flipV="1">
              <a:off x="4731646" y="3711917"/>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4FA2A824-80CD-0F2E-4E57-EA852862F6F5}"/>
                </a:ext>
              </a:extLst>
            </p:cNvPr>
            <p:cNvSpPr/>
            <p:nvPr/>
          </p:nvSpPr>
          <p:spPr>
            <a:xfrm flipV="1">
              <a:off x="4479049" y="3612690"/>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3DD7F982-9258-25E5-482E-8238F990D914}"/>
                </a:ext>
              </a:extLst>
            </p:cNvPr>
            <p:cNvSpPr/>
            <p:nvPr/>
          </p:nvSpPr>
          <p:spPr>
            <a:xfrm flipV="1">
              <a:off x="4472805" y="371191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Oval 365">
              <a:extLst>
                <a:ext uri="{FF2B5EF4-FFF2-40B4-BE49-F238E27FC236}">
                  <a16:creationId xmlns:a16="http://schemas.microsoft.com/office/drawing/2014/main" id="{6E35DF1C-3D36-228A-4E61-B392F32452E8}"/>
                </a:ext>
              </a:extLst>
            </p:cNvPr>
            <p:cNvSpPr/>
            <p:nvPr/>
          </p:nvSpPr>
          <p:spPr>
            <a:xfrm flipV="1">
              <a:off x="4564514" y="3675850"/>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DBF43F1D-33C6-970B-302C-25B29C88B9EF}"/>
                </a:ext>
              </a:extLst>
            </p:cNvPr>
            <p:cNvSpPr/>
            <p:nvPr/>
          </p:nvSpPr>
          <p:spPr>
            <a:xfrm flipV="1">
              <a:off x="4593033" y="362434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3C48E570-7F8C-E478-ED9D-9751F7A40DB7}"/>
                </a:ext>
              </a:extLst>
            </p:cNvPr>
            <p:cNvSpPr/>
            <p:nvPr/>
          </p:nvSpPr>
          <p:spPr>
            <a:xfrm flipV="1">
              <a:off x="4680989" y="3566785"/>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9" name="Straight Connector 368">
              <a:extLst>
                <a:ext uri="{FF2B5EF4-FFF2-40B4-BE49-F238E27FC236}">
                  <a16:creationId xmlns:a16="http://schemas.microsoft.com/office/drawing/2014/main" id="{9C7CF4D9-0A56-6167-A0C3-DE0851E89986}"/>
                </a:ext>
              </a:extLst>
            </p:cNvPr>
            <p:cNvCxnSpPr>
              <a:cxnSpLocks/>
            </p:cNvCxnSpPr>
            <p:nvPr/>
          </p:nvCxnSpPr>
          <p:spPr>
            <a:xfrm flipH="1">
              <a:off x="4235846" y="3582098"/>
              <a:ext cx="143325" cy="0"/>
            </a:xfrm>
            <a:prstGeom prst="line">
              <a:avLst/>
            </a:prstGeom>
            <a:ln w="9525">
              <a:solidFill>
                <a:schemeClr val="bg1"/>
              </a:solidFill>
              <a:headEnd type="triangle" w="sm" len="sm"/>
              <a:tailEnd type="none"/>
            </a:ln>
          </p:spPr>
          <p:style>
            <a:lnRef idx="1">
              <a:schemeClr val="dk1"/>
            </a:lnRef>
            <a:fillRef idx="0">
              <a:schemeClr val="dk1"/>
            </a:fillRef>
            <a:effectRef idx="0">
              <a:schemeClr val="dk1"/>
            </a:effectRef>
            <a:fontRef idx="minor">
              <a:schemeClr val="tx1"/>
            </a:fontRef>
          </p:style>
        </p:cxnSp>
      </p:grpSp>
      <p:sp>
        <p:nvSpPr>
          <p:cNvPr id="430" name="Rounded Rectangle 429">
            <a:extLst>
              <a:ext uri="{FF2B5EF4-FFF2-40B4-BE49-F238E27FC236}">
                <a16:creationId xmlns:a16="http://schemas.microsoft.com/office/drawing/2014/main" id="{B40DA793-951A-A95A-157E-A76D9A56E181}"/>
              </a:ext>
            </a:extLst>
          </p:cNvPr>
          <p:cNvSpPr/>
          <p:nvPr/>
        </p:nvSpPr>
        <p:spPr>
          <a:xfrm>
            <a:off x="4215456" y="3521440"/>
            <a:ext cx="591955" cy="447458"/>
          </a:xfrm>
          <a:prstGeom prst="roundRect">
            <a:avLst>
              <a:gd name="adj" fmla="val 3598"/>
            </a:avLst>
          </a:prstGeom>
          <a:solidFill>
            <a:srgbClr val="F3DE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71" name="Arc 370">
            <a:extLst>
              <a:ext uri="{FF2B5EF4-FFF2-40B4-BE49-F238E27FC236}">
                <a16:creationId xmlns:a16="http://schemas.microsoft.com/office/drawing/2014/main" id="{C4BFBEA9-902F-6A64-9423-EA34AE785490}"/>
              </a:ext>
            </a:extLst>
          </p:cNvPr>
          <p:cNvSpPr/>
          <p:nvPr/>
        </p:nvSpPr>
        <p:spPr>
          <a:xfrm rot="6959062" flipH="1" flipV="1">
            <a:off x="2133321" y="2673675"/>
            <a:ext cx="2238368" cy="2142988"/>
          </a:xfrm>
          <a:prstGeom prst="arc">
            <a:avLst>
              <a:gd name="adj1" fmla="val 19324220"/>
              <a:gd name="adj2" fmla="val 3210296"/>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73" name="TextBox 372">
            <a:extLst>
              <a:ext uri="{FF2B5EF4-FFF2-40B4-BE49-F238E27FC236}">
                <a16:creationId xmlns:a16="http://schemas.microsoft.com/office/drawing/2014/main" id="{D29B6A7A-E395-C836-028A-344451BBB5E0}"/>
              </a:ext>
            </a:extLst>
          </p:cNvPr>
          <p:cNvSpPr txBox="1"/>
          <p:nvPr/>
        </p:nvSpPr>
        <p:spPr>
          <a:xfrm>
            <a:off x="4848658" y="3486307"/>
            <a:ext cx="1456615" cy="553998"/>
          </a:xfrm>
          <a:prstGeom prst="rect">
            <a:avLst/>
          </a:prstGeom>
          <a:noFill/>
        </p:spPr>
        <p:txBody>
          <a:bodyPr wrap="square">
            <a:spAutoFit/>
          </a:bodyPr>
          <a:lstStyle/>
          <a:p>
            <a:r>
              <a:rPr lang="en-US" sz="1000" dirty="0">
                <a:latin typeface="Aptos" panose="020B0004020202020204" pitchFamily="34" charset="0"/>
              </a:rPr>
              <a:t>Identify </a:t>
            </a:r>
            <a:br>
              <a:rPr lang="en-US" sz="1000" dirty="0">
                <a:latin typeface="Aptos" panose="020B0004020202020204" pitchFamily="34" charset="0"/>
              </a:rPr>
            </a:br>
            <a:r>
              <a:rPr lang="en-US" sz="1000" dirty="0">
                <a:latin typeface="Aptos" panose="020B0004020202020204" pitchFamily="34" charset="0"/>
              </a:rPr>
              <a:t>relevant independent </a:t>
            </a:r>
            <a:br>
              <a:rPr lang="en-US" sz="1000" dirty="0">
                <a:latin typeface="Aptos" panose="020B0004020202020204" pitchFamily="34" charset="0"/>
              </a:rPr>
            </a:br>
            <a:r>
              <a:rPr lang="en-US" sz="1000" dirty="0">
                <a:latin typeface="Aptos" panose="020B0004020202020204" pitchFamily="34" charset="0"/>
              </a:rPr>
              <a:t>variables</a:t>
            </a:r>
          </a:p>
        </p:txBody>
      </p:sp>
      <p:grpSp>
        <p:nvGrpSpPr>
          <p:cNvPr id="384" name="Group 383">
            <a:extLst>
              <a:ext uri="{FF2B5EF4-FFF2-40B4-BE49-F238E27FC236}">
                <a16:creationId xmlns:a16="http://schemas.microsoft.com/office/drawing/2014/main" id="{4DEB81F1-BBC4-E105-CE75-7F48D98B60AE}"/>
              </a:ext>
            </a:extLst>
          </p:cNvPr>
          <p:cNvGrpSpPr/>
          <p:nvPr/>
        </p:nvGrpSpPr>
        <p:grpSpPr>
          <a:xfrm>
            <a:off x="4315992" y="3594771"/>
            <a:ext cx="470067" cy="346156"/>
            <a:chOff x="4392146" y="4081007"/>
            <a:chExt cx="470067" cy="346156"/>
          </a:xfrm>
        </p:grpSpPr>
        <p:sp>
          <p:nvSpPr>
            <p:cNvPr id="374" name="Oval 373">
              <a:extLst>
                <a:ext uri="{FF2B5EF4-FFF2-40B4-BE49-F238E27FC236}">
                  <a16:creationId xmlns:a16="http://schemas.microsoft.com/office/drawing/2014/main" id="{55D8312D-490A-9A0C-DE24-B437D354266B}"/>
                </a:ext>
              </a:extLst>
            </p:cNvPr>
            <p:cNvSpPr/>
            <p:nvPr/>
          </p:nvSpPr>
          <p:spPr>
            <a:xfrm flipV="1">
              <a:off x="4624990" y="4205984"/>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5" name="Straight Connector 374">
              <a:extLst>
                <a:ext uri="{FF2B5EF4-FFF2-40B4-BE49-F238E27FC236}">
                  <a16:creationId xmlns:a16="http://schemas.microsoft.com/office/drawing/2014/main" id="{FEC8973E-6FA1-A33F-9450-8A2519EE777E}"/>
                </a:ext>
              </a:extLst>
            </p:cNvPr>
            <p:cNvCxnSpPr>
              <a:cxnSpLocks/>
            </p:cNvCxnSpPr>
            <p:nvPr/>
          </p:nvCxnSpPr>
          <p:spPr>
            <a:xfrm flipH="1">
              <a:off x="4392308" y="4295819"/>
              <a:ext cx="469905" cy="0"/>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376" name="Oval 375">
              <a:extLst>
                <a:ext uri="{FF2B5EF4-FFF2-40B4-BE49-F238E27FC236}">
                  <a16:creationId xmlns:a16="http://schemas.microsoft.com/office/drawing/2014/main" id="{684F8B9F-735B-0A7E-D0DD-FAF91EC869D5}"/>
                </a:ext>
              </a:extLst>
            </p:cNvPr>
            <p:cNvSpPr/>
            <p:nvPr/>
          </p:nvSpPr>
          <p:spPr>
            <a:xfrm flipV="1">
              <a:off x="4611126" y="4104641"/>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Oval 376">
              <a:extLst>
                <a:ext uri="{FF2B5EF4-FFF2-40B4-BE49-F238E27FC236}">
                  <a16:creationId xmlns:a16="http://schemas.microsoft.com/office/drawing/2014/main" id="{480CDA9D-A52E-1B48-7882-A3C505590CB8}"/>
                </a:ext>
              </a:extLst>
            </p:cNvPr>
            <p:cNvSpPr/>
            <p:nvPr/>
          </p:nvSpPr>
          <p:spPr>
            <a:xfrm flipV="1">
              <a:off x="4502886" y="4210970"/>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2679C110-1420-A087-DC12-A788B1FEB500}"/>
                </a:ext>
              </a:extLst>
            </p:cNvPr>
            <p:cNvSpPr/>
            <p:nvPr/>
          </p:nvSpPr>
          <p:spPr>
            <a:xfrm>
              <a:off x="4392146" y="4338930"/>
              <a:ext cx="18765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379" name="Rectangle 378">
              <a:extLst>
                <a:ext uri="{FF2B5EF4-FFF2-40B4-BE49-F238E27FC236}">
                  <a16:creationId xmlns:a16="http://schemas.microsoft.com/office/drawing/2014/main" id="{09E0A97E-C0CB-EB41-1980-AB2889B30F20}"/>
                </a:ext>
              </a:extLst>
            </p:cNvPr>
            <p:cNvSpPr/>
            <p:nvPr/>
          </p:nvSpPr>
          <p:spPr>
            <a:xfrm>
              <a:off x="4579669" y="4338930"/>
              <a:ext cx="91040" cy="457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solidFill>
                  <a:schemeClr val="bg2">
                    <a:lumMod val="25000"/>
                  </a:schemeClr>
                </a:solidFill>
              </a:endParaRPr>
            </a:p>
          </p:txBody>
        </p:sp>
        <p:sp>
          <p:nvSpPr>
            <p:cNvPr id="380" name="Rectangle 379">
              <a:extLst>
                <a:ext uri="{FF2B5EF4-FFF2-40B4-BE49-F238E27FC236}">
                  <a16:creationId xmlns:a16="http://schemas.microsoft.com/office/drawing/2014/main" id="{AA829714-DA40-7E03-4CAF-CA323D8047B4}"/>
                </a:ext>
              </a:extLst>
            </p:cNvPr>
            <p:cNvSpPr/>
            <p:nvPr/>
          </p:nvSpPr>
          <p:spPr>
            <a:xfrm>
              <a:off x="4660286" y="4338930"/>
              <a:ext cx="45719" cy="45719"/>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solidFill>
                  <a:schemeClr val="bg2">
                    <a:lumMod val="25000"/>
                  </a:schemeClr>
                </a:solidFill>
              </a:endParaRPr>
            </a:p>
          </p:txBody>
        </p:sp>
        <p:sp>
          <p:nvSpPr>
            <p:cNvPr id="381" name="Rectangle 380">
              <a:extLst>
                <a:ext uri="{FF2B5EF4-FFF2-40B4-BE49-F238E27FC236}">
                  <a16:creationId xmlns:a16="http://schemas.microsoft.com/office/drawing/2014/main" id="{E240E96E-8AF1-D1EC-3B65-404006F4149D}"/>
                </a:ext>
              </a:extLst>
            </p:cNvPr>
            <p:cNvSpPr/>
            <p:nvPr/>
          </p:nvSpPr>
          <p:spPr>
            <a:xfrm flipH="1">
              <a:off x="4706003" y="4338930"/>
              <a:ext cx="45719" cy="45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solidFill>
                  <a:schemeClr val="bg2">
                    <a:lumMod val="25000"/>
                  </a:schemeClr>
                </a:solidFill>
              </a:endParaRPr>
            </a:p>
          </p:txBody>
        </p:sp>
        <p:cxnSp>
          <p:nvCxnSpPr>
            <p:cNvPr id="382" name="Straight Connector 381">
              <a:extLst>
                <a:ext uri="{FF2B5EF4-FFF2-40B4-BE49-F238E27FC236}">
                  <a16:creationId xmlns:a16="http://schemas.microsoft.com/office/drawing/2014/main" id="{1D565EE7-9A60-3CF5-D15B-930EF1381732}"/>
                </a:ext>
              </a:extLst>
            </p:cNvPr>
            <p:cNvCxnSpPr>
              <a:cxnSpLocks/>
            </p:cNvCxnSpPr>
            <p:nvPr/>
          </p:nvCxnSpPr>
          <p:spPr>
            <a:xfrm rot="16200000" flipH="1">
              <a:off x="4725384" y="4355501"/>
              <a:ext cx="143325" cy="0"/>
            </a:xfrm>
            <a:prstGeom prst="line">
              <a:avLst/>
            </a:prstGeom>
            <a:ln w="9525">
              <a:solidFill>
                <a:schemeClr val="bg1"/>
              </a:solidFill>
              <a:headEnd type="triangle" w="sm" len="sm"/>
              <a:tailEnd type="none"/>
            </a:ln>
          </p:spPr>
          <p:style>
            <a:lnRef idx="1">
              <a:schemeClr val="dk1"/>
            </a:lnRef>
            <a:fillRef idx="0">
              <a:schemeClr val="dk1"/>
            </a:fillRef>
            <a:effectRef idx="0">
              <a:schemeClr val="dk1"/>
            </a:effectRef>
            <a:fontRef idx="minor">
              <a:schemeClr val="tx1"/>
            </a:fontRef>
          </p:style>
        </p:cxnSp>
        <p:cxnSp>
          <p:nvCxnSpPr>
            <p:cNvPr id="383" name="Straight Connector 382">
              <a:extLst>
                <a:ext uri="{FF2B5EF4-FFF2-40B4-BE49-F238E27FC236}">
                  <a16:creationId xmlns:a16="http://schemas.microsoft.com/office/drawing/2014/main" id="{CE53CB0C-F7DA-BBD6-EC7E-776D5942736B}"/>
                </a:ext>
              </a:extLst>
            </p:cNvPr>
            <p:cNvCxnSpPr>
              <a:cxnSpLocks/>
            </p:cNvCxnSpPr>
            <p:nvPr/>
          </p:nvCxnSpPr>
          <p:spPr>
            <a:xfrm flipV="1">
              <a:off x="4392146" y="4081007"/>
              <a:ext cx="0" cy="206113"/>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grpSp>
      <p:sp>
        <p:nvSpPr>
          <p:cNvPr id="387" name="TextBox 386">
            <a:extLst>
              <a:ext uri="{FF2B5EF4-FFF2-40B4-BE49-F238E27FC236}">
                <a16:creationId xmlns:a16="http://schemas.microsoft.com/office/drawing/2014/main" id="{686EE1D2-5BDB-D6EA-2057-C126306C07AB}"/>
              </a:ext>
            </a:extLst>
          </p:cNvPr>
          <p:cNvSpPr txBox="1"/>
          <p:nvPr/>
        </p:nvSpPr>
        <p:spPr>
          <a:xfrm>
            <a:off x="6270954" y="1927366"/>
            <a:ext cx="2457680" cy="276999"/>
          </a:xfrm>
          <a:prstGeom prst="rect">
            <a:avLst/>
          </a:prstGeom>
          <a:noFill/>
        </p:spPr>
        <p:txBody>
          <a:bodyPr wrap="square">
            <a:spAutoFit/>
          </a:bodyPr>
          <a:lstStyle/>
          <a:p>
            <a:pPr algn="ctr"/>
            <a:r>
              <a:rPr lang="en-US" sz="1200" b="1" dirty="0">
                <a:solidFill>
                  <a:schemeClr val="accent1">
                    <a:lumMod val="75000"/>
                  </a:schemeClr>
                </a:solidFill>
                <a:latin typeface="Aptos" panose="020B0004020202020204" pitchFamily="34" charset="0"/>
              </a:rPr>
              <a:t>Choose Modeling Method</a:t>
            </a:r>
            <a:endParaRPr lang="en-GB" sz="1000" dirty="0">
              <a:latin typeface="Aptos" panose="020B0004020202020204" pitchFamily="34" charset="0"/>
            </a:endParaRPr>
          </a:p>
        </p:txBody>
      </p:sp>
      <p:sp>
        <p:nvSpPr>
          <p:cNvPr id="388" name="Arc 387">
            <a:extLst>
              <a:ext uri="{FF2B5EF4-FFF2-40B4-BE49-F238E27FC236}">
                <a16:creationId xmlns:a16="http://schemas.microsoft.com/office/drawing/2014/main" id="{587D25A5-9EAC-A34A-3CD5-180F229DD277}"/>
              </a:ext>
            </a:extLst>
          </p:cNvPr>
          <p:cNvSpPr/>
          <p:nvPr/>
        </p:nvSpPr>
        <p:spPr>
          <a:xfrm rot="15987548" flipH="1">
            <a:off x="4400046" y="696366"/>
            <a:ext cx="2098397" cy="3048092"/>
          </a:xfrm>
          <a:prstGeom prst="arc">
            <a:avLst>
              <a:gd name="adj1" fmla="val 21518332"/>
              <a:gd name="adj2" fmla="val 272030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89" name="Arc 388">
            <a:extLst>
              <a:ext uri="{FF2B5EF4-FFF2-40B4-BE49-F238E27FC236}">
                <a16:creationId xmlns:a16="http://schemas.microsoft.com/office/drawing/2014/main" id="{171B1503-4C3B-9E0C-3358-D17B718D7342}"/>
              </a:ext>
            </a:extLst>
          </p:cNvPr>
          <p:cNvSpPr/>
          <p:nvPr/>
        </p:nvSpPr>
        <p:spPr>
          <a:xfrm rot="5612452" flipH="1" flipV="1">
            <a:off x="4400046" y="2794106"/>
            <a:ext cx="2098397" cy="3048092"/>
          </a:xfrm>
          <a:prstGeom prst="arc">
            <a:avLst>
              <a:gd name="adj1" fmla="val 21518332"/>
              <a:gd name="adj2" fmla="val 272030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90" name="TextBox 389">
            <a:extLst>
              <a:ext uri="{FF2B5EF4-FFF2-40B4-BE49-F238E27FC236}">
                <a16:creationId xmlns:a16="http://schemas.microsoft.com/office/drawing/2014/main" id="{65F05BD8-DA90-9675-F491-25EECD486189}"/>
              </a:ext>
            </a:extLst>
          </p:cNvPr>
          <p:cNvSpPr txBox="1"/>
          <p:nvPr/>
        </p:nvSpPr>
        <p:spPr>
          <a:xfrm>
            <a:off x="3748765" y="3130898"/>
            <a:ext cx="2288612" cy="276999"/>
          </a:xfrm>
          <a:prstGeom prst="rect">
            <a:avLst/>
          </a:prstGeom>
          <a:noFill/>
        </p:spPr>
        <p:txBody>
          <a:bodyPr wrap="square">
            <a:spAutoFit/>
          </a:bodyPr>
          <a:lstStyle/>
          <a:p>
            <a:pPr algn="ctr"/>
            <a:r>
              <a:rPr lang="en-US" sz="1200" b="1" dirty="0">
                <a:solidFill>
                  <a:schemeClr val="accent1">
                    <a:lumMod val="75000"/>
                  </a:schemeClr>
                </a:solidFill>
                <a:latin typeface="Aptos" panose="020B0004020202020204" pitchFamily="34" charset="0"/>
              </a:rPr>
              <a:t>Select Features</a:t>
            </a:r>
            <a:endParaRPr lang="en-GB" sz="1000" dirty="0">
              <a:latin typeface="Aptos" panose="020B0004020202020204" pitchFamily="34" charset="0"/>
            </a:endParaRPr>
          </a:p>
        </p:txBody>
      </p:sp>
      <p:graphicFrame>
        <p:nvGraphicFramePr>
          <p:cNvPr id="431" name="Chart 430">
            <a:extLst>
              <a:ext uri="{FF2B5EF4-FFF2-40B4-BE49-F238E27FC236}">
                <a16:creationId xmlns:a16="http://schemas.microsoft.com/office/drawing/2014/main" id="{26C2745D-DE2C-ED0E-A41C-FFE1603B4FB4}"/>
              </a:ext>
            </a:extLst>
          </p:cNvPr>
          <p:cNvGraphicFramePr/>
          <p:nvPr>
            <p:extLst>
              <p:ext uri="{D42A27DB-BD31-4B8C-83A1-F6EECF244321}">
                <p14:modId xmlns:p14="http://schemas.microsoft.com/office/powerpoint/2010/main" val="1767281555"/>
              </p:ext>
            </p:extLst>
          </p:nvPr>
        </p:nvGraphicFramePr>
        <p:xfrm>
          <a:off x="7114572" y="2460343"/>
          <a:ext cx="2457680" cy="1638453"/>
        </p:xfrm>
        <a:graphic>
          <a:graphicData uri="http://schemas.openxmlformats.org/drawingml/2006/chart">
            <c:chart xmlns:c="http://schemas.openxmlformats.org/drawingml/2006/chart" xmlns:r="http://schemas.openxmlformats.org/officeDocument/2006/relationships" r:id="rId5"/>
          </a:graphicData>
        </a:graphic>
      </p:graphicFrame>
      <p:sp>
        <p:nvSpPr>
          <p:cNvPr id="433" name="TextBox 432">
            <a:extLst>
              <a:ext uri="{FF2B5EF4-FFF2-40B4-BE49-F238E27FC236}">
                <a16:creationId xmlns:a16="http://schemas.microsoft.com/office/drawing/2014/main" id="{4EC2FF1F-C27E-73B7-424D-D426B54E9731}"/>
              </a:ext>
            </a:extLst>
          </p:cNvPr>
          <p:cNvSpPr txBox="1"/>
          <p:nvPr/>
        </p:nvSpPr>
        <p:spPr>
          <a:xfrm>
            <a:off x="6340643" y="2884446"/>
            <a:ext cx="1981458" cy="246221"/>
          </a:xfrm>
          <a:prstGeom prst="rect">
            <a:avLst/>
          </a:prstGeom>
          <a:noFill/>
        </p:spPr>
        <p:txBody>
          <a:bodyPr wrap="square">
            <a:spAutoFit/>
          </a:bodyPr>
          <a:lstStyle/>
          <a:p>
            <a:r>
              <a:rPr lang="en-US" sz="1000" dirty="0">
                <a:latin typeface="Aptos" panose="020B0004020202020204" pitchFamily="34" charset="0"/>
              </a:rPr>
              <a:t>Parametric</a:t>
            </a:r>
          </a:p>
        </p:txBody>
      </p:sp>
      <p:sp>
        <p:nvSpPr>
          <p:cNvPr id="434" name="TextBox 433">
            <a:extLst>
              <a:ext uri="{FF2B5EF4-FFF2-40B4-BE49-F238E27FC236}">
                <a16:creationId xmlns:a16="http://schemas.microsoft.com/office/drawing/2014/main" id="{73B2574D-01B8-0B50-5466-4BCCB7624108}"/>
              </a:ext>
            </a:extLst>
          </p:cNvPr>
          <p:cNvSpPr txBox="1"/>
          <p:nvPr/>
        </p:nvSpPr>
        <p:spPr>
          <a:xfrm>
            <a:off x="6340643" y="3396128"/>
            <a:ext cx="1981458" cy="246221"/>
          </a:xfrm>
          <a:prstGeom prst="rect">
            <a:avLst/>
          </a:prstGeom>
          <a:noFill/>
        </p:spPr>
        <p:txBody>
          <a:bodyPr wrap="square">
            <a:spAutoFit/>
          </a:bodyPr>
          <a:lstStyle/>
          <a:p>
            <a:r>
              <a:rPr lang="en-US" sz="1000" dirty="0">
                <a:latin typeface="Aptos" panose="020B0004020202020204" pitchFamily="34" charset="0"/>
              </a:rPr>
              <a:t>Non-parametric</a:t>
            </a:r>
          </a:p>
        </p:txBody>
      </p:sp>
      <p:cxnSp>
        <p:nvCxnSpPr>
          <p:cNvPr id="438" name="Straight Connector 437">
            <a:extLst>
              <a:ext uri="{FF2B5EF4-FFF2-40B4-BE49-F238E27FC236}">
                <a16:creationId xmlns:a16="http://schemas.microsoft.com/office/drawing/2014/main" id="{956C4138-C573-C63E-E0D4-69287541C852}"/>
              </a:ext>
            </a:extLst>
          </p:cNvPr>
          <p:cNvCxnSpPr>
            <a:cxnSpLocks/>
          </p:cNvCxnSpPr>
          <p:nvPr/>
        </p:nvCxnSpPr>
        <p:spPr>
          <a:xfrm flipV="1">
            <a:off x="7417066" y="3427430"/>
            <a:ext cx="251202" cy="106291"/>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439" name="Straight Connector 438">
            <a:extLst>
              <a:ext uri="{FF2B5EF4-FFF2-40B4-BE49-F238E27FC236}">
                <a16:creationId xmlns:a16="http://schemas.microsoft.com/office/drawing/2014/main" id="{BD19DB6C-00D4-7643-085B-84ADFD887AD4}"/>
              </a:ext>
            </a:extLst>
          </p:cNvPr>
          <p:cNvCxnSpPr>
            <a:cxnSpLocks/>
          </p:cNvCxnSpPr>
          <p:nvPr/>
        </p:nvCxnSpPr>
        <p:spPr>
          <a:xfrm flipH="1">
            <a:off x="7349158" y="3533023"/>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441" name="TextBox 440">
            <a:extLst>
              <a:ext uri="{FF2B5EF4-FFF2-40B4-BE49-F238E27FC236}">
                <a16:creationId xmlns:a16="http://schemas.microsoft.com/office/drawing/2014/main" id="{54D9B500-CB20-AECC-2666-DB6C9BCDCDC6}"/>
              </a:ext>
            </a:extLst>
          </p:cNvPr>
          <p:cNvSpPr txBox="1"/>
          <p:nvPr/>
        </p:nvSpPr>
        <p:spPr>
          <a:xfrm>
            <a:off x="7892143" y="3197979"/>
            <a:ext cx="867434" cy="276999"/>
          </a:xfrm>
          <a:prstGeom prst="rect">
            <a:avLst/>
          </a:prstGeom>
          <a:noFill/>
        </p:spPr>
        <p:txBody>
          <a:bodyPr wrap="square">
            <a:spAutoFit/>
          </a:bodyPr>
          <a:lstStyle/>
          <a:p>
            <a:pPr algn="ctr"/>
            <a:r>
              <a:rPr lang="en-US" sz="600" dirty="0">
                <a:latin typeface="Aptos" panose="020B0004020202020204" pitchFamily="34" charset="0"/>
              </a:rPr>
              <a:t>Approx. number of method families</a:t>
            </a:r>
          </a:p>
        </p:txBody>
      </p:sp>
      <p:cxnSp>
        <p:nvCxnSpPr>
          <p:cNvPr id="442" name="Straight Connector 441">
            <a:extLst>
              <a:ext uri="{FF2B5EF4-FFF2-40B4-BE49-F238E27FC236}">
                <a16:creationId xmlns:a16="http://schemas.microsoft.com/office/drawing/2014/main" id="{642D2FC8-5EBB-2737-23D6-55BA0E36C53C}"/>
              </a:ext>
            </a:extLst>
          </p:cNvPr>
          <p:cNvCxnSpPr>
            <a:cxnSpLocks/>
          </p:cNvCxnSpPr>
          <p:nvPr/>
        </p:nvCxnSpPr>
        <p:spPr>
          <a:xfrm flipV="1">
            <a:off x="7104870" y="2989666"/>
            <a:ext cx="643460" cy="1006"/>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445" name="TextBox 444">
            <a:extLst>
              <a:ext uri="{FF2B5EF4-FFF2-40B4-BE49-F238E27FC236}">
                <a16:creationId xmlns:a16="http://schemas.microsoft.com/office/drawing/2014/main" id="{FE19794D-5732-E675-3F1C-D6D87600F267}"/>
              </a:ext>
            </a:extLst>
          </p:cNvPr>
          <p:cNvSpPr txBox="1"/>
          <p:nvPr/>
        </p:nvSpPr>
        <p:spPr>
          <a:xfrm>
            <a:off x="8965172" y="2524962"/>
            <a:ext cx="2457680" cy="276999"/>
          </a:xfrm>
          <a:prstGeom prst="rect">
            <a:avLst/>
          </a:prstGeom>
          <a:noFill/>
        </p:spPr>
        <p:txBody>
          <a:bodyPr wrap="square">
            <a:spAutoFit/>
          </a:bodyPr>
          <a:lstStyle/>
          <a:p>
            <a:pPr algn="ctr"/>
            <a:r>
              <a:rPr lang="en-US" sz="1200" b="1" dirty="0">
                <a:solidFill>
                  <a:schemeClr val="accent1">
                    <a:lumMod val="75000"/>
                  </a:schemeClr>
                </a:solidFill>
                <a:latin typeface="Aptos" panose="020B0004020202020204" pitchFamily="34" charset="0"/>
              </a:rPr>
              <a:t>Validate Assumptions</a:t>
            </a:r>
            <a:endParaRPr lang="en-GB" sz="1000" dirty="0">
              <a:latin typeface="Aptos" panose="020B0004020202020204" pitchFamily="34" charset="0"/>
            </a:endParaRPr>
          </a:p>
        </p:txBody>
      </p:sp>
      <p:sp>
        <p:nvSpPr>
          <p:cNvPr id="446" name="TextBox 445">
            <a:extLst>
              <a:ext uri="{FF2B5EF4-FFF2-40B4-BE49-F238E27FC236}">
                <a16:creationId xmlns:a16="http://schemas.microsoft.com/office/drawing/2014/main" id="{79246119-BF1B-C36C-6CD5-90E8E53A2ED8}"/>
              </a:ext>
            </a:extLst>
          </p:cNvPr>
          <p:cNvSpPr txBox="1"/>
          <p:nvPr/>
        </p:nvSpPr>
        <p:spPr>
          <a:xfrm>
            <a:off x="7703807" y="2887267"/>
            <a:ext cx="269775" cy="184666"/>
          </a:xfrm>
          <a:prstGeom prst="rect">
            <a:avLst/>
          </a:prstGeom>
          <a:noFill/>
        </p:spPr>
        <p:txBody>
          <a:bodyPr wrap="square">
            <a:spAutoFit/>
          </a:bodyPr>
          <a:lstStyle/>
          <a:p>
            <a:pPr algn="ctr"/>
            <a:r>
              <a:rPr lang="en-US" sz="600" b="1" dirty="0">
                <a:solidFill>
                  <a:schemeClr val="bg1"/>
                </a:solidFill>
                <a:latin typeface="Aptos" panose="020B0004020202020204" pitchFamily="34" charset="0"/>
              </a:rPr>
              <a:t>12</a:t>
            </a:r>
          </a:p>
        </p:txBody>
      </p:sp>
      <p:sp>
        <p:nvSpPr>
          <p:cNvPr id="447" name="TextBox 446">
            <a:extLst>
              <a:ext uri="{FF2B5EF4-FFF2-40B4-BE49-F238E27FC236}">
                <a16:creationId xmlns:a16="http://schemas.microsoft.com/office/drawing/2014/main" id="{4443A833-EC45-CB04-3A64-B48AD64C342B}"/>
              </a:ext>
            </a:extLst>
          </p:cNvPr>
          <p:cNvSpPr txBox="1"/>
          <p:nvPr/>
        </p:nvSpPr>
        <p:spPr>
          <a:xfrm>
            <a:off x="7602497" y="3291689"/>
            <a:ext cx="269775" cy="184666"/>
          </a:xfrm>
          <a:prstGeom prst="rect">
            <a:avLst/>
          </a:prstGeom>
          <a:noFill/>
        </p:spPr>
        <p:txBody>
          <a:bodyPr wrap="square">
            <a:spAutoFit/>
          </a:bodyPr>
          <a:lstStyle/>
          <a:p>
            <a:pPr algn="ctr"/>
            <a:r>
              <a:rPr lang="en-US" sz="600" b="1" dirty="0">
                <a:solidFill>
                  <a:schemeClr val="bg1"/>
                </a:solidFill>
                <a:latin typeface="Aptos" panose="020B0004020202020204" pitchFamily="34" charset="0"/>
              </a:rPr>
              <a:t>25</a:t>
            </a:r>
          </a:p>
        </p:txBody>
      </p:sp>
      <p:sp>
        <p:nvSpPr>
          <p:cNvPr id="448" name="TextBox 447">
            <a:extLst>
              <a:ext uri="{FF2B5EF4-FFF2-40B4-BE49-F238E27FC236}">
                <a16:creationId xmlns:a16="http://schemas.microsoft.com/office/drawing/2014/main" id="{319FD199-70F2-0113-0D5A-31F2008A738D}"/>
              </a:ext>
            </a:extLst>
          </p:cNvPr>
          <p:cNvSpPr txBox="1"/>
          <p:nvPr/>
        </p:nvSpPr>
        <p:spPr>
          <a:xfrm>
            <a:off x="8344236" y="2653871"/>
            <a:ext cx="269775" cy="184666"/>
          </a:xfrm>
          <a:prstGeom prst="rect">
            <a:avLst/>
          </a:prstGeom>
          <a:noFill/>
        </p:spPr>
        <p:txBody>
          <a:bodyPr wrap="square">
            <a:spAutoFit/>
          </a:bodyPr>
          <a:lstStyle/>
          <a:p>
            <a:pPr algn="ctr"/>
            <a:r>
              <a:rPr lang="en-US" sz="600" b="1" dirty="0">
                <a:solidFill>
                  <a:schemeClr val="bg1"/>
                </a:solidFill>
                <a:latin typeface="Aptos" panose="020B0004020202020204" pitchFamily="34" charset="0"/>
              </a:rPr>
              <a:t>12</a:t>
            </a:r>
          </a:p>
        </p:txBody>
      </p:sp>
      <p:cxnSp>
        <p:nvCxnSpPr>
          <p:cNvPr id="449" name="Straight Connector 448">
            <a:extLst>
              <a:ext uri="{FF2B5EF4-FFF2-40B4-BE49-F238E27FC236}">
                <a16:creationId xmlns:a16="http://schemas.microsoft.com/office/drawing/2014/main" id="{9475A9D3-1DB6-4E2C-5459-755C4A909BD7}"/>
              </a:ext>
            </a:extLst>
          </p:cNvPr>
          <p:cNvCxnSpPr>
            <a:cxnSpLocks/>
          </p:cNvCxnSpPr>
          <p:nvPr/>
        </p:nvCxnSpPr>
        <p:spPr>
          <a:xfrm flipH="1">
            <a:off x="8513272" y="2435432"/>
            <a:ext cx="71475" cy="243351"/>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451" name="Straight Connector 450">
            <a:extLst>
              <a:ext uri="{FF2B5EF4-FFF2-40B4-BE49-F238E27FC236}">
                <a16:creationId xmlns:a16="http://schemas.microsoft.com/office/drawing/2014/main" id="{27252CB2-25D9-37DB-5A39-8A44E02EC919}"/>
              </a:ext>
            </a:extLst>
          </p:cNvPr>
          <p:cNvCxnSpPr>
            <a:cxnSpLocks/>
          </p:cNvCxnSpPr>
          <p:nvPr/>
        </p:nvCxnSpPr>
        <p:spPr>
          <a:xfrm flipH="1">
            <a:off x="8580339" y="2431975"/>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452" name="TextBox 451">
            <a:extLst>
              <a:ext uri="{FF2B5EF4-FFF2-40B4-BE49-F238E27FC236}">
                <a16:creationId xmlns:a16="http://schemas.microsoft.com/office/drawing/2014/main" id="{31FAC73C-F907-9033-02A5-C0263159587D}"/>
              </a:ext>
            </a:extLst>
          </p:cNvPr>
          <p:cNvSpPr txBox="1"/>
          <p:nvPr/>
        </p:nvSpPr>
        <p:spPr>
          <a:xfrm>
            <a:off x="8596155" y="2303890"/>
            <a:ext cx="573530" cy="246221"/>
          </a:xfrm>
          <a:prstGeom prst="rect">
            <a:avLst/>
          </a:prstGeom>
          <a:noFill/>
        </p:spPr>
        <p:txBody>
          <a:bodyPr wrap="square">
            <a:spAutoFit/>
          </a:bodyPr>
          <a:lstStyle/>
          <a:p>
            <a:r>
              <a:rPr lang="en-US" sz="1000" dirty="0">
                <a:latin typeface="Aptos" panose="020B0004020202020204" pitchFamily="34" charset="0"/>
              </a:rPr>
              <a:t>Hybrid</a:t>
            </a:r>
          </a:p>
        </p:txBody>
      </p:sp>
      <p:cxnSp>
        <p:nvCxnSpPr>
          <p:cNvPr id="453" name="Straight Connector 452">
            <a:extLst>
              <a:ext uri="{FF2B5EF4-FFF2-40B4-BE49-F238E27FC236}">
                <a16:creationId xmlns:a16="http://schemas.microsoft.com/office/drawing/2014/main" id="{B1AEB2B0-E8C8-F9A4-4822-77EDD5F72CF0}"/>
              </a:ext>
            </a:extLst>
          </p:cNvPr>
          <p:cNvCxnSpPr>
            <a:cxnSpLocks/>
          </p:cNvCxnSpPr>
          <p:nvPr/>
        </p:nvCxnSpPr>
        <p:spPr>
          <a:xfrm flipH="1" flipV="1">
            <a:off x="8728634" y="3873127"/>
            <a:ext cx="69689" cy="103108"/>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455" name="Straight Connector 454">
            <a:extLst>
              <a:ext uri="{FF2B5EF4-FFF2-40B4-BE49-F238E27FC236}">
                <a16:creationId xmlns:a16="http://schemas.microsoft.com/office/drawing/2014/main" id="{5C1B7937-06B0-14CC-68C0-3B988F00E2CD}"/>
              </a:ext>
            </a:extLst>
          </p:cNvPr>
          <p:cNvCxnSpPr>
            <a:cxnSpLocks/>
          </p:cNvCxnSpPr>
          <p:nvPr/>
        </p:nvCxnSpPr>
        <p:spPr>
          <a:xfrm flipH="1">
            <a:off x="8793186" y="3976173"/>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457" name="TextBox 456">
            <a:extLst>
              <a:ext uri="{FF2B5EF4-FFF2-40B4-BE49-F238E27FC236}">
                <a16:creationId xmlns:a16="http://schemas.microsoft.com/office/drawing/2014/main" id="{B9AA0858-1CB6-839A-E5F0-E099EF29C23A}"/>
              </a:ext>
            </a:extLst>
          </p:cNvPr>
          <p:cNvSpPr txBox="1"/>
          <p:nvPr/>
        </p:nvSpPr>
        <p:spPr>
          <a:xfrm>
            <a:off x="8860181" y="3849276"/>
            <a:ext cx="1136574" cy="246221"/>
          </a:xfrm>
          <a:prstGeom prst="rect">
            <a:avLst/>
          </a:prstGeom>
          <a:noFill/>
        </p:spPr>
        <p:txBody>
          <a:bodyPr wrap="square">
            <a:spAutoFit/>
          </a:bodyPr>
          <a:lstStyle/>
          <a:p>
            <a:r>
              <a:rPr lang="en-US" sz="1000" dirty="0">
                <a:latin typeface="Aptos" panose="020B0004020202020204" pitchFamily="34" charset="0"/>
              </a:rPr>
              <a:t>Semi-parametric</a:t>
            </a:r>
          </a:p>
        </p:txBody>
      </p:sp>
      <p:sp>
        <p:nvSpPr>
          <p:cNvPr id="458" name="TextBox 457">
            <a:extLst>
              <a:ext uri="{FF2B5EF4-FFF2-40B4-BE49-F238E27FC236}">
                <a16:creationId xmlns:a16="http://schemas.microsoft.com/office/drawing/2014/main" id="{4603DD5B-A74C-A1CF-F225-5C807571D7B0}"/>
              </a:ext>
            </a:extLst>
          </p:cNvPr>
          <p:cNvSpPr txBox="1"/>
          <p:nvPr/>
        </p:nvSpPr>
        <p:spPr>
          <a:xfrm>
            <a:off x="8549009" y="3718860"/>
            <a:ext cx="269775" cy="184666"/>
          </a:xfrm>
          <a:prstGeom prst="rect">
            <a:avLst/>
          </a:prstGeom>
          <a:noFill/>
        </p:spPr>
        <p:txBody>
          <a:bodyPr wrap="square">
            <a:spAutoFit/>
          </a:bodyPr>
          <a:lstStyle/>
          <a:p>
            <a:pPr algn="ctr"/>
            <a:r>
              <a:rPr lang="en-US" sz="600" b="1" dirty="0">
                <a:solidFill>
                  <a:schemeClr val="bg1"/>
                </a:solidFill>
                <a:latin typeface="Aptos" panose="020B0004020202020204" pitchFamily="34" charset="0"/>
              </a:rPr>
              <a:t>15</a:t>
            </a:r>
          </a:p>
        </p:txBody>
      </p:sp>
      <p:grpSp>
        <p:nvGrpSpPr>
          <p:cNvPr id="484" name="Group 483">
            <a:extLst>
              <a:ext uri="{FF2B5EF4-FFF2-40B4-BE49-F238E27FC236}">
                <a16:creationId xmlns:a16="http://schemas.microsoft.com/office/drawing/2014/main" id="{635800C2-1FF9-4D15-7051-3D1B92718742}"/>
              </a:ext>
            </a:extLst>
          </p:cNvPr>
          <p:cNvGrpSpPr/>
          <p:nvPr/>
        </p:nvGrpSpPr>
        <p:grpSpPr>
          <a:xfrm>
            <a:off x="10041022" y="2917135"/>
            <a:ext cx="305983" cy="324272"/>
            <a:chOff x="4545321" y="4593302"/>
            <a:chExt cx="305983" cy="324272"/>
          </a:xfrm>
        </p:grpSpPr>
        <p:sp>
          <p:nvSpPr>
            <p:cNvPr id="459" name="Rectangle 458">
              <a:extLst>
                <a:ext uri="{FF2B5EF4-FFF2-40B4-BE49-F238E27FC236}">
                  <a16:creationId xmlns:a16="http://schemas.microsoft.com/office/drawing/2014/main" id="{EF130610-A660-6588-63EE-EA07A46FB133}"/>
                </a:ext>
              </a:extLst>
            </p:cNvPr>
            <p:cNvSpPr/>
            <p:nvPr/>
          </p:nvSpPr>
          <p:spPr>
            <a:xfrm>
              <a:off x="4545321" y="4593302"/>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0" name="Rectangle 459">
              <a:extLst>
                <a:ext uri="{FF2B5EF4-FFF2-40B4-BE49-F238E27FC236}">
                  <a16:creationId xmlns:a16="http://schemas.microsoft.com/office/drawing/2014/main" id="{D683D738-C7CB-EEB7-762C-C13967B358CA}"/>
                </a:ext>
              </a:extLst>
            </p:cNvPr>
            <p:cNvSpPr/>
            <p:nvPr/>
          </p:nvSpPr>
          <p:spPr>
            <a:xfrm>
              <a:off x="4610387" y="4593302"/>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1" name="Rectangle 460">
              <a:extLst>
                <a:ext uri="{FF2B5EF4-FFF2-40B4-BE49-F238E27FC236}">
                  <a16:creationId xmlns:a16="http://schemas.microsoft.com/office/drawing/2014/main" id="{9D793A70-85B8-498D-0A29-310BBFEB1DD7}"/>
                </a:ext>
              </a:extLst>
            </p:cNvPr>
            <p:cNvSpPr/>
            <p:nvPr/>
          </p:nvSpPr>
          <p:spPr>
            <a:xfrm>
              <a:off x="4675453" y="4593302"/>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2" name="Rectangle 461">
              <a:extLst>
                <a:ext uri="{FF2B5EF4-FFF2-40B4-BE49-F238E27FC236}">
                  <a16:creationId xmlns:a16="http://schemas.microsoft.com/office/drawing/2014/main" id="{B54F4936-D263-1F75-E09B-54CD767E656C}"/>
                </a:ext>
              </a:extLst>
            </p:cNvPr>
            <p:cNvSpPr/>
            <p:nvPr/>
          </p:nvSpPr>
          <p:spPr>
            <a:xfrm>
              <a:off x="4740519" y="4593302"/>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3" name="Rectangle 462">
              <a:extLst>
                <a:ext uri="{FF2B5EF4-FFF2-40B4-BE49-F238E27FC236}">
                  <a16:creationId xmlns:a16="http://schemas.microsoft.com/office/drawing/2014/main" id="{8B8B6D5B-754A-CB55-7E1D-8C8B303EC906}"/>
                </a:ext>
              </a:extLst>
            </p:cNvPr>
            <p:cNvSpPr/>
            <p:nvPr/>
          </p:nvSpPr>
          <p:spPr>
            <a:xfrm>
              <a:off x="4805585" y="459330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4" name="Rectangle 463">
              <a:extLst>
                <a:ext uri="{FF2B5EF4-FFF2-40B4-BE49-F238E27FC236}">
                  <a16:creationId xmlns:a16="http://schemas.microsoft.com/office/drawing/2014/main" id="{DA25F183-1AB0-9E1C-3AD9-5139C07FCBB1}"/>
                </a:ext>
              </a:extLst>
            </p:cNvPr>
            <p:cNvSpPr/>
            <p:nvPr/>
          </p:nvSpPr>
          <p:spPr>
            <a:xfrm>
              <a:off x="4545321" y="4662940"/>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5" name="Rectangle 464">
              <a:extLst>
                <a:ext uri="{FF2B5EF4-FFF2-40B4-BE49-F238E27FC236}">
                  <a16:creationId xmlns:a16="http://schemas.microsoft.com/office/drawing/2014/main" id="{1E63CCAF-E00B-E6CF-BA63-9C8D0A454B76}"/>
                </a:ext>
              </a:extLst>
            </p:cNvPr>
            <p:cNvSpPr/>
            <p:nvPr/>
          </p:nvSpPr>
          <p:spPr>
            <a:xfrm>
              <a:off x="4610387" y="4662940"/>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6" name="Rectangle 465">
              <a:extLst>
                <a:ext uri="{FF2B5EF4-FFF2-40B4-BE49-F238E27FC236}">
                  <a16:creationId xmlns:a16="http://schemas.microsoft.com/office/drawing/2014/main" id="{62BBDA2E-EB59-09E3-FBC9-5401F26EB6C9}"/>
                </a:ext>
              </a:extLst>
            </p:cNvPr>
            <p:cNvSpPr/>
            <p:nvPr/>
          </p:nvSpPr>
          <p:spPr>
            <a:xfrm>
              <a:off x="4675453" y="466294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7" name="Rectangle 466">
              <a:extLst>
                <a:ext uri="{FF2B5EF4-FFF2-40B4-BE49-F238E27FC236}">
                  <a16:creationId xmlns:a16="http://schemas.microsoft.com/office/drawing/2014/main" id="{C6B75F4D-6017-EF68-EC07-7325CBFB5EBC}"/>
                </a:ext>
              </a:extLst>
            </p:cNvPr>
            <p:cNvSpPr/>
            <p:nvPr/>
          </p:nvSpPr>
          <p:spPr>
            <a:xfrm>
              <a:off x="4740519" y="4662940"/>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8" name="Rectangle 467">
              <a:extLst>
                <a:ext uri="{FF2B5EF4-FFF2-40B4-BE49-F238E27FC236}">
                  <a16:creationId xmlns:a16="http://schemas.microsoft.com/office/drawing/2014/main" id="{5ED2E57E-A277-64AC-3DC4-0A494565BF05}"/>
                </a:ext>
              </a:extLst>
            </p:cNvPr>
            <p:cNvSpPr/>
            <p:nvPr/>
          </p:nvSpPr>
          <p:spPr>
            <a:xfrm>
              <a:off x="4805585" y="4662940"/>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69" name="Rectangle 468">
              <a:extLst>
                <a:ext uri="{FF2B5EF4-FFF2-40B4-BE49-F238E27FC236}">
                  <a16:creationId xmlns:a16="http://schemas.microsoft.com/office/drawing/2014/main" id="{A3726BEB-C101-89FD-40B4-04D01E0478EE}"/>
                </a:ext>
              </a:extLst>
            </p:cNvPr>
            <p:cNvSpPr/>
            <p:nvPr/>
          </p:nvSpPr>
          <p:spPr>
            <a:xfrm>
              <a:off x="4545321" y="4732578"/>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0" name="Rectangle 469">
              <a:extLst>
                <a:ext uri="{FF2B5EF4-FFF2-40B4-BE49-F238E27FC236}">
                  <a16:creationId xmlns:a16="http://schemas.microsoft.com/office/drawing/2014/main" id="{1082E247-11E0-738F-2983-7B1CBF2C5179}"/>
                </a:ext>
              </a:extLst>
            </p:cNvPr>
            <p:cNvSpPr/>
            <p:nvPr/>
          </p:nvSpPr>
          <p:spPr>
            <a:xfrm>
              <a:off x="4610387" y="4732578"/>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1" name="Rectangle 470">
              <a:extLst>
                <a:ext uri="{FF2B5EF4-FFF2-40B4-BE49-F238E27FC236}">
                  <a16:creationId xmlns:a16="http://schemas.microsoft.com/office/drawing/2014/main" id="{9A2C13DA-7037-B861-58F3-015004BF8E36}"/>
                </a:ext>
              </a:extLst>
            </p:cNvPr>
            <p:cNvSpPr/>
            <p:nvPr/>
          </p:nvSpPr>
          <p:spPr>
            <a:xfrm>
              <a:off x="4675453" y="4732578"/>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72" name="Rectangle 471">
              <a:extLst>
                <a:ext uri="{FF2B5EF4-FFF2-40B4-BE49-F238E27FC236}">
                  <a16:creationId xmlns:a16="http://schemas.microsoft.com/office/drawing/2014/main" id="{DABBE39F-C39C-06EE-9813-F6D06EEEC64D}"/>
                </a:ext>
              </a:extLst>
            </p:cNvPr>
            <p:cNvSpPr/>
            <p:nvPr/>
          </p:nvSpPr>
          <p:spPr>
            <a:xfrm>
              <a:off x="4740519" y="4732578"/>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3" name="Rectangle 472">
              <a:extLst>
                <a:ext uri="{FF2B5EF4-FFF2-40B4-BE49-F238E27FC236}">
                  <a16:creationId xmlns:a16="http://schemas.microsoft.com/office/drawing/2014/main" id="{3A0EA722-0013-8E42-DA50-45014B860B7B}"/>
                </a:ext>
              </a:extLst>
            </p:cNvPr>
            <p:cNvSpPr/>
            <p:nvPr/>
          </p:nvSpPr>
          <p:spPr>
            <a:xfrm>
              <a:off x="4805585" y="4732578"/>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4" name="Rectangle 473">
              <a:extLst>
                <a:ext uri="{FF2B5EF4-FFF2-40B4-BE49-F238E27FC236}">
                  <a16:creationId xmlns:a16="http://schemas.microsoft.com/office/drawing/2014/main" id="{7288D257-9850-75F6-DDC1-A3B564C09EE9}"/>
                </a:ext>
              </a:extLst>
            </p:cNvPr>
            <p:cNvSpPr/>
            <p:nvPr/>
          </p:nvSpPr>
          <p:spPr>
            <a:xfrm>
              <a:off x="4545321" y="4802216"/>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5" name="Rectangle 474">
              <a:extLst>
                <a:ext uri="{FF2B5EF4-FFF2-40B4-BE49-F238E27FC236}">
                  <a16:creationId xmlns:a16="http://schemas.microsoft.com/office/drawing/2014/main" id="{65BC97BC-0824-5E07-24F7-A8DFDDF12B5D}"/>
                </a:ext>
              </a:extLst>
            </p:cNvPr>
            <p:cNvSpPr/>
            <p:nvPr/>
          </p:nvSpPr>
          <p:spPr>
            <a:xfrm>
              <a:off x="4610387" y="4802216"/>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6" name="Rectangle 475">
              <a:extLst>
                <a:ext uri="{FF2B5EF4-FFF2-40B4-BE49-F238E27FC236}">
                  <a16:creationId xmlns:a16="http://schemas.microsoft.com/office/drawing/2014/main" id="{6C88266A-D38D-2351-9DC3-6FEFC03C98DF}"/>
                </a:ext>
              </a:extLst>
            </p:cNvPr>
            <p:cNvSpPr/>
            <p:nvPr/>
          </p:nvSpPr>
          <p:spPr>
            <a:xfrm>
              <a:off x="4675453" y="4802216"/>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7" name="Rectangle 476">
              <a:extLst>
                <a:ext uri="{FF2B5EF4-FFF2-40B4-BE49-F238E27FC236}">
                  <a16:creationId xmlns:a16="http://schemas.microsoft.com/office/drawing/2014/main" id="{F6D1DDF0-0BEA-28EC-02AC-745FB9559272}"/>
                </a:ext>
              </a:extLst>
            </p:cNvPr>
            <p:cNvSpPr/>
            <p:nvPr/>
          </p:nvSpPr>
          <p:spPr>
            <a:xfrm>
              <a:off x="4740519" y="4802216"/>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8" name="Rectangle 477">
              <a:extLst>
                <a:ext uri="{FF2B5EF4-FFF2-40B4-BE49-F238E27FC236}">
                  <a16:creationId xmlns:a16="http://schemas.microsoft.com/office/drawing/2014/main" id="{4B434C13-9D2F-BAFB-4778-ACE8A9F226EF}"/>
                </a:ext>
              </a:extLst>
            </p:cNvPr>
            <p:cNvSpPr/>
            <p:nvPr/>
          </p:nvSpPr>
          <p:spPr>
            <a:xfrm>
              <a:off x="4805585" y="4802216"/>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79" name="Rectangle 478">
              <a:extLst>
                <a:ext uri="{FF2B5EF4-FFF2-40B4-BE49-F238E27FC236}">
                  <a16:creationId xmlns:a16="http://schemas.microsoft.com/office/drawing/2014/main" id="{C6E1212A-2839-CD48-2F9A-AF80A3988500}"/>
                </a:ext>
              </a:extLst>
            </p:cNvPr>
            <p:cNvSpPr/>
            <p:nvPr/>
          </p:nvSpPr>
          <p:spPr>
            <a:xfrm>
              <a:off x="4545321" y="4871855"/>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0" name="Rectangle 479">
              <a:extLst>
                <a:ext uri="{FF2B5EF4-FFF2-40B4-BE49-F238E27FC236}">
                  <a16:creationId xmlns:a16="http://schemas.microsoft.com/office/drawing/2014/main" id="{542F1FCB-AEE5-44E4-CD9D-DA703D75B38F}"/>
                </a:ext>
              </a:extLst>
            </p:cNvPr>
            <p:cNvSpPr/>
            <p:nvPr/>
          </p:nvSpPr>
          <p:spPr>
            <a:xfrm>
              <a:off x="4610387" y="4871855"/>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1" name="Rectangle 480">
              <a:extLst>
                <a:ext uri="{FF2B5EF4-FFF2-40B4-BE49-F238E27FC236}">
                  <a16:creationId xmlns:a16="http://schemas.microsoft.com/office/drawing/2014/main" id="{445CBFAB-5980-1412-3A48-6F290B275E02}"/>
                </a:ext>
              </a:extLst>
            </p:cNvPr>
            <p:cNvSpPr/>
            <p:nvPr/>
          </p:nvSpPr>
          <p:spPr>
            <a:xfrm>
              <a:off x="4675453" y="4871855"/>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2" name="Rectangle 481">
              <a:extLst>
                <a:ext uri="{FF2B5EF4-FFF2-40B4-BE49-F238E27FC236}">
                  <a16:creationId xmlns:a16="http://schemas.microsoft.com/office/drawing/2014/main" id="{DBC031FC-D011-9729-D91A-4573B0CFAA4F}"/>
                </a:ext>
              </a:extLst>
            </p:cNvPr>
            <p:cNvSpPr/>
            <p:nvPr/>
          </p:nvSpPr>
          <p:spPr>
            <a:xfrm>
              <a:off x="4740519" y="4871855"/>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3" name="Rectangle 482">
              <a:extLst>
                <a:ext uri="{FF2B5EF4-FFF2-40B4-BE49-F238E27FC236}">
                  <a16:creationId xmlns:a16="http://schemas.microsoft.com/office/drawing/2014/main" id="{08E1E571-C0CF-1FA4-3287-E659C708D430}"/>
                </a:ext>
              </a:extLst>
            </p:cNvPr>
            <p:cNvSpPr/>
            <p:nvPr/>
          </p:nvSpPr>
          <p:spPr>
            <a:xfrm>
              <a:off x="4805585" y="4871855"/>
              <a:ext cx="45719" cy="45719"/>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grpSp>
      <p:sp>
        <p:nvSpPr>
          <p:cNvPr id="486" name="TextBox 485">
            <a:extLst>
              <a:ext uri="{FF2B5EF4-FFF2-40B4-BE49-F238E27FC236}">
                <a16:creationId xmlns:a16="http://schemas.microsoft.com/office/drawing/2014/main" id="{3F1F442D-AEC2-CB91-4FE6-82EFDCE7B38B}"/>
              </a:ext>
            </a:extLst>
          </p:cNvPr>
          <p:cNvSpPr txBox="1"/>
          <p:nvPr/>
        </p:nvSpPr>
        <p:spPr>
          <a:xfrm>
            <a:off x="9249693" y="3380178"/>
            <a:ext cx="1888639" cy="246221"/>
          </a:xfrm>
          <a:prstGeom prst="rect">
            <a:avLst/>
          </a:prstGeom>
          <a:noFill/>
        </p:spPr>
        <p:txBody>
          <a:bodyPr wrap="square">
            <a:spAutoFit/>
          </a:bodyPr>
          <a:lstStyle/>
          <a:p>
            <a:pPr algn="ctr"/>
            <a:r>
              <a:rPr lang="en-US" sz="1000" dirty="0">
                <a:latin typeface="Aptos" panose="020B0004020202020204" pitchFamily="34" charset="0"/>
              </a:rPr>
              <a:t>e.g. co-linearity, normality, etc.</a:t>
            </a:r>
          </a:p>
        </p:txBody>
      </p:sp>
    </p:spTree>
    <p:extLst>
      <p:ext uri="{BB962C8B-B14F-4D97-AF65-F5344CB8AC3E}">
        <p14:creationId xmlns:p14="http://schemas.microsoft.com/office/powerpoint/2010/main" val="1995314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CF9C0-8394-A5CC-AB2E-CB34067FEFEC}"/>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389217E2-D801-F81E-1AE0-226017B118C2}"/>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17</a:t>
            </a:fld>
            <a:endParaRPr lang="en-US" noProof="0" dirty="0"/>
          </a:p>
        </p:txBody>
      </p:sp>
      <p:grpSp>
        <p:nvGrpSpPr>
          <p:cNvPr id="34" name="Group 33">
            <a:extLst>
              <a:ext uri="{FF2B5EF4-FFF2-40B4-BE49-F238E27FC236}">
                <a16:creationId xmlns:a16="http://schemas.microsoft.com/office/drawing/2014/main" id="{8257C6B4-8A2E-04BD-CCE8-FCDB7B52A31E}"/>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D3307647-E212-66BC-52EE-F7D249D65E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76B30763-0E7B-DD4D-EB25-FD5FBC6AC40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aphicFrame>
        <p:nvGraphicFramePr>
          <p:cNvPr id="3" name="Table 2">
            <a:extLst>
              <a:ext uri="{FF2B5EF4-FFF2-40B4-BE49-F238E27FC236}">
                <a16:creationId xmlns:a16="http://schemas.microsoft.com/office/drawing/2014/main" id="{70F72E8F-D184-8148-E20A-2FA6C9353267}"/>
              </a:ext>
            </a:extLst>
          </p:cNvPr>
          <p:cNvGraphicFramePr>
            <a:graphicFrameLocks noGrp="1"/>
          </p:cNvGraphicFramePr>
          <p:nvPr>
            <p:extLst>
              <p:ext uri="{D42A27DB-BD31-4B8C-83A1-F6EECF244321}">
                <p14:modId xmlns:p14="http://schemas.microsoft.com/office/powerpoint/2010/main" val="1381289552"/>
              </p:ext>
            </p:extLst>
          </p:nvPr>
        </p:nvGraphicFramePr>
        <p:xfrm>
          <a:off x="1528248" y="1625403"/>
          <a:ext cx="9072442" cy="4165600"/>
        </p:xfrm>
        <a:graphic>
          <a:graphicData uri="http://schemas.openxmlformats.org/drawingml/2006/table">
            <a:tbl>
              <a:tblPr firstRow="1" bandRow="1">
                <a:tableStyleId>{5C22544A-7EE6-4342-B048-85BDC9FD1C3A}</a:tableStyleId>
              </a:tblPr>
              <a:tblGrid>
                <a:gridCol w="1673278">
                  <a:extLst>
                    <a:ext uri="{9D8B030D-6E8A-4147-A177-3AD203B41FA5}">
                      <a16:colId xmlns:a16="http://schemas.microsoft.com/office/drawing/2014/main" val="1058555330"/>
                    </a:ext>
                  </a:extLst>
                </a:gridCol>
                <a:gridCol w="1666752">
                  <a:extLst>
                    <a:ext uri="{9D8B030D-6E8A-4147-A177-3AD203B41FA5}">
                      <a16:colId xmlns:a16="http://schemas.microsoft.com/office/drawing/2014/main" val="660335785"/>
                    </a:ext>
                  </a:extLst>
                </a:gridCol>
                <a:gridCol w="1910804">
                  <a:extLst>
                    <a:ext uri="{9D8B030D-6E8A-4147-A177-3AD203B41FA5}">
                      <a16:colId xmlns:a16="http://schemas.microsoft.com/office/drawing/2014/main" val="2281043628"/>
                    </a:ext>
                  </a:extLst>
                </a:gridCol>
                <a:gridCol w="1910804">
                  <a:extLst>
                    <a:ext uri="{9D8B030D-6E8A-4147-A177-3AD203B41FA5}">
                      <a16:colId xmlns:a16="http://schemas.microsoft.com/office/drawing/2014/main" val="3802168303"/>
                    </a:ext>
                  </a:extLst>
                </a:gridCol>
                <a:gridCol w="1910804">
                  <a:extLst>
                    <a:ext uri="{9D8B030D-6E8A-4147-A177-3AD203B41FA5}">
                      <a16:colId xmlns:a16="http://schemas.microsoft.com/office/drawing/2014/main" val="3175033788"/>
                    </a:ext>
                  </a:extLst>
                </a:gridCol>
              </a:tblGrid>
              <a:tr h="370840">
                <a:tc>
                  <a:txBody>
                    <a:bodyPr/>
                    <a:lstStyle/>
                    <a:p>
                      <a:endParaRPr lang="en-US" sz="2000" b="1" i="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Linear Regression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Polynomial Regression</a:t>
                      </a:r>
                      <a:endParaRPr lang="en-US" sz="8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noProof="0" dirty="0">
                          <a:solidFill>
                            <a:schemeClr val="accent1">
                              <a:lumMod val="75000"/>
                            </a:schemeClr>
                          </a:solidFill>
                          <a:latin typeface="Aptos" panose="020B0004020202020204" pitchFamily="34" charset="0"/>
                        </a:rPr>
                        <a:t>Poisson Regression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8034327"/>
                  </a:ext>
                </a:extLst>
              </a:tr>
              <a:tr h="370840">
                <a:tc>
                  <a:txBody>
                    <a:bodyPr/>
                    <a:lstStyle/>
                    <a:p>
                      <a:endParaRPr lang="en-US" sz="800" b="1" i="0" noProof="0" dirty="0">
                        <a:solidFill>
                          <a:schemeClr val="bg2">
                            <a:lumMod val="25000"/>
                          </a:schemeClr>
                        </a:solidFill>
                        <a:latin typeface="Aptos" panose="020B0004020202020204" pitchFamily="34" charset="0"/>
                        <a:cs typeface="Times New Roman" panose="02020603050405020304" pitchFamily="18" charset="0"/>
                      </a:endParaRPr>
                    </a:p>
                    <a:p>
                      <a:r>
                        <a:rPr lang="en-US" sz="1400" b="1" i="0" noProof="0" dirty="0">
                          <a:solidFill>
                            <a:schemeClr val="bg2">
                              <a:lumMod val="25000"/>
                            </a:schemeClr>
                          </a:solidFill>
                          <a:latin typeface="Aptos" panose="020B0004020202020204" pitchFamily="34" charset="0"/>
                          <a:cs typeface="Times New Roman" panose="02020603050405020304" pitchFamily="18" charset="0"/>
                        </a:rPr>
                        <a:t>Target Variable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800" noProof="0" dirty="0">
                        <a:solidFill>
                          <a:schemeClr val="bg2">
                            <a:lumMod val="25000"/>
                          </a:schemeClr>
                        </a:solidFill>
                        <a:latin typeface="Aptos" panose="020B00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Continuous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Continuous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Continuous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6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Predictor Variable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Independence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Observations should be independent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Observations should be independent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Observations should be independent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03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noProof="0" dirty="0">
                        <a:solidFill>
                          <a:schemeClr val="bg2">
                            <a:lumMod val="25000"/>
                          </a:schemeClr>
                        </a:solidFill>
                        <a:latin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Normality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9868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noProof="0" dirty="0">
                        <a:solidFill>
                          <a:schemeClr val="bg2">
                            <a:lumMod val="25000"/>
                          </a:schemeClr>
                        </a:solidFill>
                        <a:latin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Collinearity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No severe </a:t>
                      </a:r>
                      <a:r>
                        <a:rPr lang="en-US" sz="1400" b="0" noProof="0" dirty="0" err="1">
                          <a:solidFill>
                            <a:schemeClr val="bg2">
                              <a:lumMod val="25000"/>
                            </a:schemeClr>
                          </a:solidFill>
                          <a:latin typeface="Aptos" panose="020B0004020202020204" pitchFamily="34" charset="0"/>
                        </a:rPr>
                        <a:t>multicolinearity</a:t>
                      </a:r>
                      <a:endParaRPr lang="en-US" sz="1400" b="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No severe </a:t>
                      </a:r>
                      <a:r>
                        <a:rPr lang="en-US" sz="1400" b="0" noProof="0" dirty="0" err="1">
                          <a:solidFill>
                            <a:schemeClr val="bg2">
                              <a:lumMod val="25000"/>
                            </a:schemeClr>
                          </a:solidFill>
                          <a:latin typeface="Aptos" panose="020B0004020202020204" pitchFamily="34" charset="0"/>
                        </a:rPr>
                        <a:t>multicolinearity</a:t>
                      </a:r>
                      <a:endParaRPr lang="en-US" sz="1400" b="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No severe </a:t>
                      </a:r>
                      <a:r>
                        <a:rPr lang="en-US" sz="1400" b="0" noProof="0" dirty="0" err="1">
                          <a:solidFill>
                            <a:schemeClr val="bg2">
                              <a:lumMod val="25000"/>
                            </a:schemeClr>
                          </a:solidFill>
                          <a:latin typeface="Aptos" panose="020B0004020202020204" pitchFamily="34" charset="0"/>
                        </a:rPr>
                        <a:t>multicolinearity</a:t>
                      </a:r>
                      <a:endParaRPr lang="en-US" sz="1400" b="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9676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noProof="0" dirty="0">
                        <a:solidFill>
                          <a:schemeClr val="bg2">
                            <a:lumMod val="25000"/>
                          </a:schemeClr>
                        </a:solidFill>
                        <a:latin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Feature Scaling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54257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 extreme 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 extreme 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 extreme 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6784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Homoscedasticity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rgbClr val="C00000"/>
                          </a:solidFill>
                          <a:latin typeface="Aptos" panose="020B0004020202020204" pitchFamily="34" charset="0"/>
                        </a:rPr>
                        <a:t>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rgbClr val="C00000"/>
                          </a:solidFill>
                          <a:latin typeface="Aptos" panose="020B0004020202020204" pitchFamily="34" charset="0"/>
                        </a:rPr>
                        <a:t>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rgbClr val="C00000"/>
                          </a:solidFill>
                          <a:latin typeface="Aptos" panose="020B0004020202020204" pitchFamily="34" charset="0"/>
                        </a:rPr>
                        <a:t>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50819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Sample Size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Large sample size is recommended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Large sample size is recommended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Large sample size is recommended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402502"/>
                  </a:ext>
                </a:extLst>
              </a:tr>
            </a:tbl>
          </a:graphicData>
        </a:graphic>
      </p:graphicFrame>
      <p:sp>
        <p:nvSpPr>
          <p:cNvPr id="4" name="Google Shape;158;p6">
            <a:extLst>
              <a:ext uri="{FF2B5EF4-FFF2-40B4-BE49-F238E27FC236}">
                <a16:creationId xmlns:a16="http://schemas.microsoft.com/office/drawing/2014/main" id="{5DA5E3FC-598C-5209-571A-C76D3AC89888}"/>
              </a:ext>
            </a:extLst>
          </p:cNvPr>
          <p:cNvSpPr txBox="1"/>
          <p:nvPr/>
        </p:nvSpPr>
        <p:spPr>
          <a:xfrm>
            <a:off x="4659329" y="583031"/>
            <a:ext cx="6033827"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rgbClr val="2F5496"/>
                </a:solidFill>
                <a:latin typeface="Aptos" panose="020B0004020202020204" pitchFamily="34" charset="0"/>
                <a:ea typeface="Calibri"/>
                <a:cs typeface="Calibri"/>
                <a:sym typeface="Calibri"/>
              </a:rPr>
              <a:t>Statistical Assumptions</a:t>
            </a:r>
            <a:endParaRPr lang="en-US" sz="4400" noProof="0" dirty="0">
              <a:solidFill>
                <a:srgbClr val="2F5496"/>
              </a:solidFill>
              <a:latin typeface="Aptos" panose="020B0004020202020204" pitchFamily="34" charset="0"/>
              <a:ea typeface="Calibri"/>
              <a:cs typeface="Calibri"/>
              <a:sym typeface="Calibri"/>
            </a:endParaRPr>
          </a:p>
        </p:txBody>
      </p:sp>
    </p:spTree>
    <p:extLst>
      <p:ext uri="{BB962C8B-B14F-4D97-AF65-F5344CB8AC3E}">
        <p14:creationId xmlns:p14="http://schemas.microsoft.com/office/powerpoint/2010/main" val="1258973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841DE-1E38-6649-2587-E773B07C6EFA}"/>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DFF03977-A7E3-E89B-FC3F-4BFCFAD8577A}"/>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18</a:t>
            </a:fld>
            <a:endParaRPr lang="en-US" noProof="0" dirty="0"/>
          </a:p>
        </p:txBody>
      </p:sp>
      <p:grpSp>
        <p:nvGrpSpPr>
          <p:cNvPr id="34" name="Group 33">
            <a:extLst>
              <a:ext uri="{FF2B5EF4-FFF2-40B4-BE49-F238E27FC236}">
                <a16:creationId xmlns:a16="http://schemas.microsoft.com/office/drawing/2014/main" id="{C8380780-D8FB-03C3-6EE8-83079B391F3C}"/>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12E10EEB-9E13-47DB-6A9C-6C46E3E6D2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B8FBA97A-5F53-7064-5FE6-64F5E47434A1}"/>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aphicFrame>
        <p:nvGraphicFramePr>
          <p:cNvPr id="3" name="Table 2">
            <a:extLst>
              <a:ext uri="{FF2B5EF4-FFF2-40B4-BE49-F238E27FC236}">
                <a16:creationId xmlns:a16="http://schemas.microsoft.com/office/drawing/2014/main" id="{266B2AFC-EB97-0FEA-2900-151DAF4B283B}"/>
              </a:ext>
            </a:extLst>
          </p:cNvPr>
          <p:cNvGraphicFramePr>
            <a:graphicFrameLocks noGrp="1"/>
          </p:cNvGraphicFramePr>
          <p:nvPr>
            <p:extLst>
              <p:ext uri="{D42A27DB-BD31-4B8C-83A1-F6EECF244321}">
                <p14:modId xmlns:p14="http://schemas.microsoft.com/office/powerpoint/2010/main" val="1133551984"/>
              </p:ext>
            </p:extLst>
          </p:nvPr>
        </p:nvGraphicFramePr>
        <p:xfrm>
          <a:off x="1528248" y="1375030"/>
          <a:ext cx="9072442" cy="4526280"/>
        </p:xfrm>
        <a:graphic>
          <a:graphicData uri="http://schemas.openxmlformats.org/drawingml/2006/table">
            <a:tbl>
              <a:tblPr firstRow="1" bandRow="1">
                <a:tableStyleId>{5C22544A-7EE6-4342-B048-85BDC9FD1C3A}</a:tableStyleId>
              </a:tblPr>
              <a:tblGrid>
                <a:gridCol w="1673278">
                  <a:extLst>
                    <a:ext uri="{9D8B030D-6E8A-4147-A177-3AD203B41FA5}">
                      <a16:colId xmlns:a16="http://schemas.microsoft.com/office/drawing/2014/main" val="1058555330"/>
                    </a:ext>
                  </a:extLst>
                </a:gridCol>
                <a:gridCol w="1666752">
                  <a:extLst>
                    <a:ext uri="{9D8B030D-6E8A-4147-A177-3AD203B41FA5}">
                      <a16:colId xmlns:a16="http://schemas.microsoft.com/office/drawing/2014/main" val="660335785"/>
                    </a:ext>
                  </a:extLst>
                </a:gridCol>
                <a:gridCol w="1910804">
                  <a:extLst>
                    <a:ext uri="{9D8B030D-6E8A-4147-A177-3AD203B41FA5}">
                      <a16:colId xmlns:a16="http://schemas.microsoft.com/office/drawing/2014/main" val="2281043628"/>
                    </a:ext>
                  </a:extLst>
                </a:gridCol>
                <a:gridCol w="1910804">
                  <a:extLst>
                    <a:ext uri="{9D8B030D-6E8A-4147-A177-3AD203B41FA5}">
                      <a16:colId xmlns:a16="http://schemas.microsoft.com/office/drawing/2014/main" val="3802168303"/>
                    </a:ext>
                  </a:extLst>
                </a:gridCol>
                <a:gridCol w="1910804">
                  <a:extLst>
                    <a:ext uri="{9D8B030D-6E8A-4147-A177-3AD203B41FA5}">
                      <a16:colId xmlns:a16="http://schemas.microsoft.com/office/drawing/2014/main" val="3175033788"/>
                    </a:ext>
                  </a:extLst>
                </a:gridCol>
              </a:tblGrid>
              <a:tr h="370840">
                <a:tc>
                  <a:txBody>
                    <a:bodyPr/>
                    <a:lstStyle/>
                    <a:p>
                      <a:endParaRPr lang="en-US" sz="2000" b="1" i="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Logistic Regression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LDA/QDA</a:t>
                      </a:r>
                      <a:endParaRPr lang="en-US" sz="8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noProof="0" dirty="0">
                          <a:solidFill>
                            <a:schemeClr val="accent1">
                              <a:lumMod val="75000"/>
                            </a:schemeClr>
                          </a:solidFill>
                          <a:latin typeface="Aptos" panose="020B0004020202020204" pitchFamily="34" charset="0"/>
                        </a:rPr>
                        <a:t>Support Vector Machines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8034327"/>
                  </a:ext>
                </a:extLst>
              </a:tr>
              <a:tr h="370840">
                <a:tc>
                  <a:txBody>
                    <a:bodyPr/>
                    <a:lstStyle/>
                    <a:p>
                      <a:endParaRPr lang="en-US" sz="800" b="1" i="0" noProof="0" dirty="0">
                        <a:solidFill>
                          <a:schemeClr val="bg2">
                            <a:lumMod val="25000"/>
                          </a:schemeClr>
                        </a:solidFill>
                        <a:latin typeface="Aptos" panose="020B0004020202020204" pitchFamily="34" charset="0"/>
                        <a:cs typeface="Times New Roman" panose="02020603050405020304" pitchFamily="18" charset="0"/>
                      </a:endParaRPr>
                    </a:p>
                    <a:p>
                      <a:r>
                        <a:rPr lang="en-US" sz="1400" b="1" i="0" noProof="0" dirty="0">
                          <a:solidFill>
                            <a:schemeClr val="bg2">
                              <a:lumMod val="25000"/>
                            </a:schemeClr>
                          </a:solidFill>
                          <a:latin typeface="Aptos" panose="020B0004020202020204" pitchFamily="34" charset="0"/>
                          <a:cs typeface="Times New Roman" panose="02020603050405020304" pitchFamily="18" charset="0"/>
                        </a:rPr>
                        <a:t>Target Variable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800" noProof="0" dirty="0">
                        <a:solidFill>
                          <a:schemeClr val="bg2">
                            <a:lumMod val="25000"/>
                          </a:schemeClr>
                        </a:solidFill>
                        <a:latin typeface="Aptos" panose="020B00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Binary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Binary of multiclass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Binary of multiclass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6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Predictor Variable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Independence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Observations should be independent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Observations should be independent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Observations should be independent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03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noProof="0" dirty="0">
                        <a:solidFill>
                          <a:schemeClr val="bg2">
                            <a:lumMod val="25000"/>
                          </a:schemeClr>
                        </a:solidFill>
                        <a:latin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Normality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rgbClr val="C00000"/>
                          </a:solidFill>
                          <a:latin typeface="Aptos" panose="020B0004020202020204" pitchFamily="34" charset="0"/>
                        </a:rPr>
                        <a:t>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9868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noProof="0" dirty="0">
                        <a:solidFill>
                          <a:schemeClr val="bg2">
                            <a:lumMod val="25000"/>
                          </a:schemeClr>
                        </a:solidFill>
                        <a:latin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Collinearity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No severe </a:t>
                      </a:r>
                      <a:r>
                        <a:rPr lang="en-US" sz="1400" b="0" noProof="0" dirty="0" err="1">
                          <a:solidFill>
                            <a:schemeClr val="bg2">
                              <a:lumMod val="25000"/>
                            </a:schemeClr>
                          </a:solidFill>
                          <a:latin typeface="Aptos" panose="020B0004020202020204" pitchFamily="34" charset="0"/>
                        </a:rPr>
                        <a:t>multicolinearity</a:t>
                      </a:r>
                      <a:endParaRPr lang="en-US" sz="1400" b="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No severe </a:t>
                      </a:r>
                      <a:r>
                        <a:rPr lang="en-US" sz="1400" b="0" noProof="0" dirty="0" err="1">
                          <a:solidFill>
                            <a:schemeClr val="bg2">
                              <a:lumMod val="25000"/>
                            </a:schemeClr>
                          </a:solidFill>
                          <a:latin typeface="Aptos" panose="020B0004020202020204" pitchFamily="34" charset="0"/>
                        </a:rPr>
                        <a:t>multicolinearity</a:t>
                      </a:r>
                      <a:endParaRPr lang="en-US" sz="1400" b="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No severe </a:t>
                      </a:r>
                      <a:r>
                        <a:rPr lang="en-US" sz="1400" b="0" noProof="0" dirty="0" err="1">
                          <a:solidFill>
                            <a:schemeClr val="bg2">
                              <a:lumMod val="25000"/>
                            </a:schemeClr>
                          </a:solidFill>
                          <a:latin typeface="Aptos" panose="020B0004020202020204" pitchFamily="34" charset="0"/>
                        </a:rPr>
                        <a:t>multicolinearity</a:t>
                      </a:r>
                      <a:endParaRPr lang="en-US" sz="1400" b="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9676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noProof="0" dirty="0">
                        <a:solidFill>
                          <a:schemeClr val="bg2">
                            <a:lumMod val="25000"/>
                          </a:schemeClr>
                        </a:solidFill>
                        <a:latin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bg2">
                              <a:lumMod val="25000"/>
                            </a:schemeClr>
                          </a:solidFill>
                          <a:latin typeface="Aptos" panose="020B0004020202020204" pitchFamily="34" charset="0"/>
                        </a:rPr>
                        <a:t>Feature Scaling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rgbClr val="C00000"/>
                          </a:solidFill>
                          <a:latin typeface="Aptos" panose="020B0004020202020204" pitchFamily="34" charset="0"/>
                        </a:rPr>
                        <a:t>Required</a:t>
                      </a:r>
                      <a:r>
                        <a:rPr lang="en-US" sz="1400" noProof="0" dirty="0">
                          <a:solidFill>
                            <a:schemeClr val="bg2">
                              <a:lumMod val="25000"/>
                            </a:schemeClr>
                          </a:solidFill>
                          <a:latin typeface="Aptos" panose="020B0004020202020204" pitchFamily="34" charset="0"/>
                        </a:rPr>
                        <a:t>: features should have the same variance and mean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rgbClr val="C00000"/>
                          </a:solidFill>
                          <a:latin typeface="Aptos" panose="020B0004020202020204" pitchFamily="34" charset="0"/>
                        </a:rPr>
                        <a:t>Required</a:t>
                      </a:r>
                      <a:r>
                        <a:rPr lang="en-US" sz="1400" noProof="0" dirty="0">
                          <a:solidFill>
                            <a:schemeClr val="bg2">
                              <a:lumMod val="25000"/>
                            </a:schemeClr>
                          </a:solidFill>
                          <a:latin typeface="Aptos" panose="020B0004020202020204" pitchFamily="34" charset="0"/>
                        </a:rPr>
                        <a:t> for optimal performance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54257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 extreme 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No extreme 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Sensitive to outliers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6784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Homoscedasticity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6">
                              <a:lumMod val="75000"/>
                            </a:schemeClr>
                          </a:solidFill>
                          <a:latin typeface="Aptos" panose="020B0004020202020204" pitchFamily="34" charset="0"/>
                        </a:rPr>
                        <a:t>Not required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50819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Sample Size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Large sample size is recommended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Large sample size is recommended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Performs well with smaller data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402502"/>
                  </a:ext>
                </a:extLst>
              </a:tr>
            </a:tbl>
          </a:graphicData>
        </a:graphic>
      </p:graphicFrame>
      <p:sp>
        <p:nvSpPr>
          <p:cNvPr id="4" name="Google Shape;158;p6">
            <a:extLst>
              <a:ext uri="{FF2B5EF4-FFF2-40B4-BE49-F238E27FC236}">
                <a16:creationId xmlns:a16="http://schemas.microsoft.com/office/drawing/2014/main" id="{D6BD79EE-D67A-7D7C-D766-3D88BE3E9C03}"/>
              </a:ext>
            </a:extLst>
          </p:cNvPr>
          <p:cNvSpPr txBox="1"/>
          <p:nvPr/>
        </p:nvSpPr>
        <p:spPr>
          <a:xfrm>
            <a:off x="4659329" y="583031"/>
            <a:ext cx="6033827"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rgbClr val="2F5496"/>
                </a:solidFill>
                <a:latin typeface="Aptos" panose="020B0004020202020204" pitchFamily="34" charset="0"/>
                <a:ea typeface="Calibri"/>
                <a:cs typeface="Calibri"/>
                <a:sym typeface="Calibri"/>
              </a:rPr>
              <a:t>Statistical Assumptions</a:t>
            </a:r>
            <a:endParaRPr lang="en-US" sz="4400" noProof="0" dirty="0">
              <a:solidFill>
                <a:srgbClr val="2F5496"/>
              </a:solidFill>
              <a:latin typeface="Aptos" panose="020B0004020202020204" pitchFamily="34" charset="0"/>
              <a:ea typeface="Calibri"/>
              <a:cs typeface="Calibri"/>
              <a:sym typeface="Calibri"/>
            </a:endParaRPr>
          </a:p>
        </p:txBody>
      </p:sp>
    </p:spTree>
    <p:extLst>
      <p:ext uri="{BB962C8B-B14F-4D97-AF65-F5344CB8AC3E}">
        <p14:creationId xmlns:p14="http://schemas.microsoft.com/office/powerpoint/2010/main" val="1713270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455EC-8213-E8B2-A1E8-C1894F4FBC42}"/>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E7AAB882-707E-12F9-B0EE-7B79006AA613}"/>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19</a:t>
            </a:fld>
            <a:endParaRPr lang="en-US" noProof="0" dirty="0"/>
          </a:p>
        </p:txBody>
      </p:sp>
      <p:grpSp>
        <p:nvGrpSpPr>
          <p:cNvPr id="34" name="Group 33">
            <a:extLst>
              <a:ext uri="{FF2B5EF4-FFF2-40B4-BE49-F238E27FC236}">
                <a16:creationId xmlns:a16="http://schemas.microsoft.com/office/drawing/2014/main" id="{0919B613-9F11-886C-B5CA-9DAE9F7BA007}"/>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186218E0-77EC-3F4E-DF8F-373BDE9C16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22873E79-5B6E-32B0-C091-7BB2B8B80DF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pSp>
        <p:nvGrpSpPr>
          <p:cNvPr id="7" name="Group 6">
            <a:extLst>
              <a:ext uri="{FF2B5EF4-FFF2-40B4-BE49-F238E27FC236}">
                <a16:creationId xmlns:a16="http://schemas.microsoft.com/office/drawing/2014/main" id="{C4B94451-E392-56E0-D733-2EE6A9CD4EE4}"/>
              </a:ext>
            </a:extLst>
          </p:cNvPr>
          <p:cNvGrpSpPr/>
          <p:nvPr/>
        </p:nvGrpSpPr>
        <p:grpSpPr>
          <a:xfrm>
            <a:off x="1524000" y="2448231"/>
            <a:ext cx="9144000" cy="1961538"/>
            <a:chOff x="1524000" y="2106808"/>
            <a:chExt cx="9144000" cy="1961538"/>
          </a:xfrm>
        </p:grpSpPr>
        <p:sp>
          <p:nvSpPr>
            <p:cNvPr id="8" name="Title 1">
              <a:extLst>
                <a:ext uri="{FF2B5EF4-FFF2-40B4-BE49-F238E27FC236}">
                  <a16:creationId xmlns:a16="http://schemas.microsoft.com/office/drawing/2014/main" id="{6B41632C-1A55-284A-62D4-3A17435C7666}"/>
                </a:ext>
              </a:extLst>
            </p:cNvPr>
            <p:cNvSpPr txBox="1">
              <a:spLocks/>
            </p:cNvSpPr>
            <p:nvPr/>
          </p:nvSpPr>
          <p:spPr>
            <a:xfrm>
              <a:off x="1524000" y="2106808"/>
              <a:ext cx="9144000" cy="46545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noProof="0" dirty="0">
                  <a:solidFill>
                    <a:schemeClr val="accent1">
                      <a:lumMod val="75000"/>
                    </a:schemeClr>
                  </a:solidFill>
                  <a:latin typeface="Aptos" panose="020B0004020202020204" pitchFamily="34" charset="0"/>
                </a:rPr>
                <a:t>Feature selection in statistical learning is to EDA like…</a:t>
              </a:r>
            </a:p>
          </p:txBody>
        </p:sp>
        <p:sp>
          <p:nvSpPr>
            <p:cNvPr id="9" name="Subtitle 2">
              <a:extLst>
                <a:ext uri="{FF2B5EF4-FFF2-40B4-BE49-F238E27FC236}">
                  <a16:creationId xmlns:a16="http://schemas.microsoft.com/office/drawing/2014/main" id="{A2C5E36B-D015-FD3E-B253-EAD8ADD8DD6F}"/>
                </a:ext>
              </a:extLst>
            </p:cNvPr>
            <p:cNvSpPr txBox="1">
              <a:spLocks/>
            </p:cNvSpPr>
            <p:nvPr/>
          </p:nvSpPr>
          <p:spPr>
            <a:xfrm>
              <a:off x="1524000" y="2788243"/>
              <a:ext cx="9144000" cy="12801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noProof="0" dirty="0">
                  <a:solidFill>
                    <a:schemeClr val="bg2">
                      <a:lumMod val="25000"/>
                    </a:schemeClr>
                  </a:solidFill>
                  <a:latin typeface="Aptos" panose="020B0004020202020204" pitchFamily="34" charset="0"/>
                </a:rPr>
                <a:t>pre-flight checks before launching a plane: EDA is like checking the weather and fuel. Feature selection via </a:t>
              </a:r>
              <a:r>
                <a:rPr lang="en-US" sz="1800" dirty="0">
                  <a:solidFill>
                    <a:schemeClr val="bg2">
                      <a:lumMod val="25000"/>
                    </a:schemeClr>
                  </a:solidFill>
                  <a:latin typeface="Aptos" panose="020B0004020202020204" pitchFamily="34" charset="0"/>
                </a:rPr>
                <a:t>requirement</a:t>
              </a:r>
              <a:r>
                <a:rPr lang="en-US" sz="1800" noProof="0" dirty="0">
                  <a:solidFill>
                    <a:schemeClr val="bg2">
                      <a:lumMod val="25000"/>
                    </a:schemeClr>
                  </a:solidFill>
                  <a:latin typeface="Aptos" panose="020B0004020202020204" pitchFamily="34" charset="0"/>
                </a:rPr>
                <a:t> analysis is like checking the aircraft, flight plan, airspace clearance, and mission objective. Statistical learning methods often require careful EDA, whist methods from machine learning realm necessarily do not. </a:t>
              </a:r>
            </a:p>
          </p:txBody>
        </p:sp>
      </p:grpSp>
    </p:spTree>
    <p:extLst>
      <p:ext uri="{BB962C8B-B14F-4D97-AF65-F5344CB8AC3E}">
        <p14:creationId xmlns:p14="http://schemas.microsoft.com/office/powerpoint/2010/main" val="1681918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AF41B-912F-070B-979E-6C5EFC783641}"/>
            </a:ext>
          </a:extLst>
        </p:cNvPr>
        <p:cNvGrpSpPr/>
        <p:nvPr/>
      </p:nvGrpSpPr>
      <p:grpSpPr>
        <a:xfrm>
          <a:off x="0" y="0"/>
          <a:ext cx="0" cy="0"/>
          <a:chOff x="0" y="0"/>
          <a:chExt cx="0" cy="0"/>
        </a:xfrm>
      </p:grpSpPr>
      <p:sp>
        <p:nvSpPr>
          <p:cNvPr id="577" name="Rounded Rectangle 576">
            <a:extLst>
              <a:ext uri="{FF2B5EF4-FFF2-40B4-BE49-F238E27FC236}">
                <a16:creationId xmlns:a16="http://schemas.microsoft.com/office/drawing/2014/main" id="{625AF044-0361-6B59-FA15-507C6CC35934}"/>
              </a:ext>
            </a:extLst>
          </p:cNvPr>
          <p:cNvSpPr/>
          <p:nvPr/>
        </p:nvSpPr>
        <p:spPr>
          <a:xfrm>
            <a:off x="2031871" y="1575153"/>
            <a:ext cx="1636829" cy="3733665"/>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93" name="Rounded Rectangle 92">
            <a:extLst>
              <a:ext uri="{FF2B5EF4-FFF2-40B4-BE49-F238E27FC236}">
                <a16:creationId xmlns:a16="http://schemas.microsoft.com/office/drawing/2014/main" id="{CAF5B0A2-6B05-8DE0-B438-E371193706F4}"/>
              </a:ext>
            </a:extLst>
          </p:cNvPr>
          <p:cNvSpPr/>
          <p:nvPr/>
        </p:nvSpPr>
        <p:spPr>
          <a:xfrm>
            <a:off x="2029684" y="3627509"/>
            <a:ext cx="1636829" cy="447458"/>
          </a:xfrm>
          <a:prstGeom prst="roundRect">
            <a:avLst>
              <a:gd name="adj" fmla="val 3598"/>
            </a:avLst>
          </a:prstGeom>
          <a:solidFill>
            <a:srgbClr val="BDD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Slide Number Placeholder 8">
            <a:extLst>
              <a:ext uri="{FF2B5EF4-FFF2-40B4-BE49-F238E27FC236}">
                <a16:creationId xmlns:a16="http://schemas.microsoft.com/office/drawing/2014/main" id="{765358E7-BDA6-8EB8-ACB4-D3DA70BDE286}"/>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20</a:t>
            </a:fld>
            <a:endParaRPr lang="en-US" noProof="0" dirty="0"/>
          </a:p>
        </p:txBody>
      </p:sp>
      <p:grpSp>
        <p:nvGrpSpPr>
          <p:cNvPr id="34" name="Group 33">
            <a:extLst>
              <a:ext uri="{FF2B5EF4-FFF2-40B4-BE49-F238E27FC236}">
                <a16:creationId xmlns:a16="http://schemas.microsoft.com/office/drawing/2014/main" id="{59A76717-9977-1FD7-3A99-A687349E579C}"/>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F1C623B9-EA9F-C4D6-E5EB-E474C2A3D4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1911903B-5EA9-65E1-88C8-8A7CEEAEA1C5}"/>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579" name="Rounded Rectangle 578">
            <a:extLst>
              <a:ext uri="{FF2B5EF4-FFF2-40B4-BE49-F238E27FC236}">
                <a16:creationId xmlns:a16="http://schemas.microsoft.com/office/drawing/2014/main" id="{81794E99-E0CA-C5CA-DF5E-9B6D2CCABAD5}"/>
              </a:ext>
            </a:extLst>
          </p:cNvPr>
          <p:cNvSpPr/>
          <p:nvPr/>
        </p:nvSpPr>
        <p:spPr>
          <a:xfrm>
            <a:off x="6350612" y="1575151"/>
            <a:ext cx="1636829" cy="3733665"/>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80" name="Rounded Rectangle 579">
            <a:extLst>
              <a:ext uri="{FF2B5EF4-FFF2-40B4-BE49-F238E27FC236}">
                <a16:creationId xmlns:a16="http://schemas.microsoft.com/office/drawing/2014/main" id="{26BDF265-B7EA-EACA-2DD0-7B91CBAC2178}"/>
              </a:ext>
            </a:extLst>
          </p:cNvPr>
          <p:cNvSpPr/>
          <p:nvPr/>
        </p:nvSpPr>
        <p:spPr>
          <a:xfrm>
            <a:off x="8507157" y="1575151"/>
            <a:ext cx="1636829" cy="3733665"/>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78" name="Rounded Rectangle 577">
            <a:extLst>
              <a:ext uri="{FF2B5EF4-FFF2-40B4-BE49-F238E27FC236}">
                <a16:creationId xmlns:a16="http://schemas.microsoft.com/office/drawing/2014/main" id="{75039BCD-6463-CB1A-48B3-1FEB51035729}"/>
              </a:ext>
            </a:extLst>
          </p:cNvPr>
          <p:cNvSpPr/>
          <p:nvPr/>
        </p:nvSpPr>
        <p:spPr>
          <a:xfrm>
            <a:off x="4188416" y="1575152"/>
            <a:ext cx="1636829" cy="3733665"/>
          </a:xfrm>
          <a:prstGeom prst="roundRect">
            <a:avLst>
              <a:gd name="adj" fmla="val 359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7" name="Rounded Rectangle 36">
            <a:extLst>
              <a:ext uri="{FF2B5EF4-FFF2-40B4-BE49-F238E27FC236}">
                <a16:creationId xmlns:a16="http://schemas.microsoft.com/office/drawing/2014/main" id="{C809F4B1-9DBB-274B-0985-3B97ECE09D7A}"/>
              </a:ext>
            </a:extLst>
          </p:cNvPr>
          <p:cNvSpPr/>
          <p:nvPr/>
        </p:nvSpPr>
        <p:spPr>
          <a:xfrm>
            <a:off x="2031871" y="2030721"/>
            <a:ext cx="1636829" cy="447458"/>
          </a:xfrm>
          <a:prstGeom prst="roundRect">
            <a:avLst>
              <a:gd name="adj" fmla="val 3598"/>
            </a:avLst>
          </a:prstGeom>
          <a:solidFill>
            <a:srgbClr val="BDD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 name="TextBox 5">
            <a:extLst>
              <a:ext uri="{FF2B5EF4-FFF2-40B4-BE49-F238E27FC236}">
                <a16:creationId xmlns:a16="http://schemas.microsoft.com/office/drawing/2014/main" id="{C14AD660-51A4-0907-F272-0A5D6E7A27CC}"/>
              </a:ext>
            </a:extLst>
          </p:cNvPr>
          <p:cNvSpPr txBox="1"/>
          <p:nvPr/>
        </p:nvSpPr>
        <p:spPr>
          <a:xfrm>
            <a:off x="2044045" y="2112606"/>
            <a:ext cx="1066953" cy="307777"/>
          </a:xfrm>
          <a:prstGeom prst="rect">
            <a:avLst/>
          </a:prstGeom>
          <a:noFill/>
        </p:spPr>
        <p:txBody>
          <a:bodyPr wrap="square">
            <a:spAutoFit/>
          </a:bodyPr>
          <a:lstStyle/>
          <a:p>
            <a:r>
              <a:rPr lang="en-US" sz="1400" dirty="0">
                <a:solidFill>
                  <a:schemeClr val="bg1"/>
                </a:solidFill>
                <a:latin typeface="Aptos" panose="020B0004020202020204" pitchFamily="34" charset="0"/>
              </a:rPr>
              <a:t>Correlation</a:t>
            </a:r>
            <a:endParaRPr lang="en-US" sz="1400" b="0" noProof="0" dirty="0">
              <a:solidFill>
                <a:schemeClr val="bg1"/>
              </a:solidFill>
              <a:latin typeface="Aptos" panose="020B0004020202020204" pitchFamily="34" charset="0"/>
            </a:endParaRPr>
          </a:p>
        </p:txBody>
      </p:sp>
      <p:sp>
        <p:nvSpPr>
          <p:cNvPr id="40" name="Rounded Rectangle 39">
            <a:extLst>
              <a:ext uri="{FF2B5EF4-FFF2-40B4-BE49-F238E27FC236}">
                <a16:creationId xmlns:a16="http://schemas.microsoft.com/office/drawing/2014/main" id="{096F58CA-CA04-B9C5-EF38-BB5312CF6EE1}"/>
              </a:ext>
            </a:extLst>
          </p:cNvPr>
          <p:cNvSpPr/>
          <p:nvPr/>
        </p:nvSpPr>
        <p:spPr>
          <a:xfrm>
            <a:off x="2030778" y="2562984"/>
            <a:ext cx="1636829" cy="447458"/>
          </a:xfrm>
          <a:prstGeom prst="roundRect">
            <a:avLst>
              <a:gd name="adj" fmla="val 3598"/>
            </a:avLst>
          </a:prstGeom>
          <a:solidFill>
            <a:srgbClr val="BDD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1" name="TextBox 40">
            <a:extLst>
              <a:ext uri="{FF2B5EF4-FFF2-40B4-BE49-F238E27FC236}">
                <a16:creationId xmlns:a16="http://schemas.microsoft.com/office/drawing/2014/main" id="{28EBC20E-3704-703F-133C-DC1606034355}"/>
              </a:ext>
            </a:extLst>
          </p:cNvPr>
          <p:cNvSpPr txBox="1"/>
          <p:nvPr/>
        </p:nvSpPr>
        <p:spPr>
          <a:xfrm>
            <a:off x="2026000" y="2564246"/>
            <a:ext cx="1339547" cy="461665"/>
          </a:xfrm>
          <a:prstGeom prst="rect">
            <a:avLst/>
          </a:prstGeom>
          <a:noFill/>
        </p:spPr>
        <p:txBody>
          <a:bodyPr wrap="square">
            <a:spAutoFit/>
          </a:bodyPr>
          <a:lstStyle/>
          <a:p>
            <a:r>
              <a:rPr lang="en-US" sz="1200" dirty="0">
                <a:solidFill>
                  <a:schemeClr val="bg1"/>
                </a:solidFill>
                <a:latin typeface="Aptos" panose="020B0004020202020204" pitchFamily="34" charset="0"/>
              </a:rPr>
              <a:t>Mutual Information</a:t>
            </a:r>
            <a:endParaRPr lang="en-US" sz="1200" b="0" noProof="0" dirty="0">
              <a:solidFill>
                <a:schemeClr val="bg1"/>
              </a:solidFill>
              <a:latin typeface="Aptos" panose="020B0004020202020204" pitchFamily="34" charset="0"/>
            </a:endParaRPr>
          </a:p>
        </p:txBody>
      </p:sp>
      <p:sp>
        <p:nvSpPr>
          <p:cNvPr id="58" name="Rounded Rectangle 57">
            <a:extLst>
              <a:ext uri="{FF2B5EF4-FFF2-40B4-BE49-F238E27FC236}">
                <a16:creationId xmlns:a16="http://schemas.microsoft.com/office/drawing/2014/main" id="{238D3184-A9ED-0A7E-4834-94BC37DFE90B}"/>
              </a:ext>
            </a:extLst>
          </p:cNvPr>
          <p:cNvSpPr/>
          <p:nvPr/>
        </p:nvSpPr>
        <p:spPr>
          <a:xfrm>
            <a:off x="2029685" y="3095247"/>
            <a:ext cx="1636829" cy="447458"/>
          </a:xfrm>
          <a:prstGeom prst="roundRect">
            <a:avLst>
              <a:gd name="adj" fmla="val 3598"/>
            </a:avLst>
          </a:prstGeom>
          <a:solidFill>
            <a:srgbClr val="BDD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65BE94DD-F2D5-3B70-8BF4-AA7AD524F2D5}"/>
              </a:ext>
            </a:extLst>
          </p:cNvPr>
          <p:cNvSpPr txBox="1"/>
          <p:nvPr/>
        </p:nvSpPr>
        <p:spPr>
          <a:xfrm>
            <a:off x="2044045" y="3196595"/>
            <a:ext cx="1147228" cy="276999"/>
          </a:xfrm>
          <a:prstGeom prst="rect">
            <a:avLst/>
          </a:prstGeom>
          <a:noFill/>
        </p:spPr>
        <p:txBody>
          <a:bodyPr wrap="square">
            <a:spAutoFit/>
          </a:bodyPr>
          <a:lstStyle/>
          <a:p>
            <a:r>
              <a:rPr lang="en-US" sz="1200" dirty="0">
                <a:solidFill>
                  <a:schemeClr val="bg1"/>
                </a:solidFill>
                <a:latin typeface="Aptos" panose="020B0004020202020204" pitchFamily="34" charset="0"/>
              </a:rPr>
              <a:t>ANOVA F-Test</a:t>
            </a:r>
            <a:endParaRPr lang="en-US" sz="1200" b="0" noProof="0" dirty="0">
              <a:solidFill>
                <a:schemeClr val="bg1"/>
              </a:solidFill>
              <a:latin typeface="Aptos" panose="020B0004020202020204" pitchFamily="34" charset="0"/>
            </a:endParaRPr>
          </a:p>
        </p:txBody>
      </p:sp>
      <p:sp>
        <p:nvSpPr>
          <p:cNvPr id="60" name="Oval 59">
            <a:extLst>
              <a:ext uri="{FF2B5EF4-FFF2-40B4-BE49-F238E27FC236}">
                <a16:creationId xmlns:a16="http://schemas.microsoft.com/office/drawing/2014/main" id="{BBCC6D93-C0E4-369A-3688-ECE1E7181D75}"/>
              </a:ext>
            </a:extLst>
          </p:cNvPr>
          <p:cNvSpPr/>
          <p:nvPr/>
        </p:nvSpPr>
        <p:spPr>
          <a:xfrm flipV="1">
            <a:off x="3351737" y="2333575"/>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B38E887-C0B0-7958-2881-EDF8CE5631EC}"/>
              </a:ext>
            </a:extLst>
          </p:cNvPr>
          <p:cNvCxnSpPr>
            <a:cxnSpLocks/>
          </p:cNvCxnSpPr>
          <p:nvPr/>
        </p:nvCxnSpPr>
        <p:spPr>
          <a:xfrm>
            <a:off x="3119055" y="2097996"/>
            <a:ext cx="0" cy="329072"/>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8E45B5AB-6DBE-8E1E-6779-D286298288FA}"/>
              </a:ext>
            </a:extLst>
          </p:cNvPr>
          <p:cNvCxnSpPr>
            <a:cxnSpLocks/>
          </p:cNvCxnSpPr>
          <p:nvPr/>
        </p:nvCxnSpPr>
        <p:spPr>
          <a:xfrm flipH="1">
            <a:off x="3119055" y="2423410"/>
            <a:ext cx="469905" cy="0"/>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sp>
        <p:nvSpPr>
          <p:cNvPr id="63" name="Oval 62">
            <a:extLst>
              <a:ext uri="{FF2B5EF4-FFF2-40B4-BE49-F238E27FC236}">
                <a16:creationId xmlns:a16="http://schemas.microsoft.com/office/drawing/2014/main" id="{0AF7A35A-0EFF-FB56-55A1-B369BFF48A35}"/>
              </a:ext>
            </a:extLst>
          </p:cNvPr>
          <p:cNvSpPr/>
          <p:nvPr/>
        </p:nvSpPr>
        <p:spPr>
          <a:xfrm flipV="1">
            <a:off x="3337873" y="2232232"/>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0AD6F80B-42B6-F3A2-FD70-9AC05EA21E5A}"/>
              </a:ext>
            </a:extLst>
          </p:cNvPr>
          <p:cNvSpPr/>
          <p:nvPr/>
        </p:nvSpPr>
        <p:spPr>
          <a:xfrm flipV="1">
            <a:off x="3256889" y="228898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F446EEDB-F4D5-6FCA-C8E2-81DAA8163DF8}"/>
              </a:ext>
            </a:extLst>
          </p:cNvPr>
          <p:cNvSpPr/>
          <p:nvPr/>
        </p:nvSpPr>
        <p:spPr>
          <a:xfrm flipV="1">
            <a:off x="3363124" y="2179866"/>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4DE36F65-CEBA-3367-EF29-E9D491AFFAB0}"/>
              </a:ext>
            </a:extLst>
          </p:cNvPr>
          <p:cNvSpPr/>
          <p:nvPr/>
        </p:nvSpPr>
        <p:spPr>
          <a:xfrm flipV="1">
            <a:off x="3431318" y="2169265"/>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2D08C98-0555-B358-C1CC-3F0E1B3C48CB}"/>
              </a:ext>
            </a:extLst>
          </p:cNvPr>
          <p:cNvSpPr/>
          <p:nvPr/>
        </p:nvSpPr>
        <p:spPr>
          <a:xfrm flipV="1">
            <a:off x="3493374" y="2112981"/>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A0853A4A-2408-5522-702C-E03FBA5F0E56}"/>
              </a:ext>
            </a:extLst>
          </p:cNvPr>
          <p:cNvSpPr/>
          <p:nvPr/>
        </p:nvSpPr>
        <p:spPr>
          <a:xfrm flipV="1">
            <a:off x="3229633" y="2338561"/>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074FAFEA-645B-4C36-EA8A-7B1E95F371B4}"/>
              </a:ext>
            </a:extLst>
          </p:cNvPr>
          <p:cNvSpPr/>
          <p:nvPr/>
        </p:nvSpPr>
        <p:spPr>
          <a:xfrm flipV="1">
            <a:off x="3433504" y="2087375"/>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6FD0CE13-EE06-4EDF-093C-93FE84D16A55}"/>
              </a:ext>
            </a:extLst>
          </p:cNvPr>
          <p:cNvSpPr txBox="1"/>
          <p:nvPr/>
        </p:nvSpPr>
        <p:spPr>
          <a:xfrm>
            <a:off x="2044045" y="3636782"/>
            <a:ext cx="1240900" cy="461665"/>
          </a:xfrm>
          <a:prstGeom prst="rect">
            <a:avLst/>
          </a:prstGeom>
          <a:noFill/>
        </p:spPr>
        <p:txBody>
          <a:bodyPr wrap="square">
            <a:spAutoFit/>
          </a:bodyPr>
          <a:lstStyle/>
          <a:p>
            <a:r>
              <a:rPr lang="en-US" sz="1200" dirty="0">
                <a:solidFill>
                  <a:schemeClr val="bg1"/>
                </a:solidFill>
                <a:latin typeface="Aptos" panose="020B0004020202020204" pitchFamily="34" charset="0"/>
              </a:rPr>
              <a:t>Variance Threshold</a:t>
            </a:r>
            <a:endParaRPr lang="en-US" sz="1200" b="0" noProof="0" dirty="0">
              <a:solidFill>
                <a:schemeClr val="bg1"/>
              </a:solidFill>
              <a:latin typeface="Aptos" panose="020B0004020202020204" pitchFamily="34" charset="0"/>
            </a:endParaRPr>
          </a:p>
        </p:txBody>
      </p:sp>
      <p:sp>
        <p:nvSpPr>
          <p:cNvPr id="184" name="TextBox 183">
            <a:extLst>
              <a:ext uri="{FF2B5EF4-FFF2-40B4-BE49-F238E27FC236}">
                <a16:creationId xmlns:a16="http://schemas.microsoft.com/office/drawing/2014/main" id="{A3A43999-909D-4144-8E66-4856E018E7BB}"/>
              </a:ext>
            </a:extLst>
          </p:cNvPr>
          <p:cNvSpPr txBox="1"/>
          <p:nvPr/>
        </p:nvSpPr>
        <p:spPr>
          <a:xfrm>
            <a:off x="2029683" y="1650818"/>
            <a:ext cx="1636829" cy="307777"/>
          </a:xfrm>
          <a:prstGeom prst="rect">
            <a:avLst/>
          </a:prstGeom>
          <a:noFill/>
        </p:spPr>
        <p:txBody>
          <a:bodyPr wrap="square">
            <a:spAutoFit/>
          </a:bodyPr>
          <a:lstStyle/>
          <a:p>
            <a:pPr algn="ctr"/>
            <a:r>
              <a:rPr lang="en-US" sz="1400" dirty="0">
                <a:solidFill>
                  <a:srgbClr val="264444"/>
                </a:solidFill>
                <a:latin typeface="Aptos" panose="020B0004020202020204" pitchFamily="34" charset="0"/>
              </a:rPr>
              <a:t>Model-agnostic</a:t>
            </a:r>
            <a:endParaRPr lang="en-US" sz="1400" b="0" noProof="0" dirty="0">
              <a:solidFill>
                <a:srgbClr val="264444"/>
              </a:solidFill>
              <a:latin typeface="Aptos" panose="020B0004020202020204" pitchFamily="34" charset="0"/>
            </a:endParaRPr>
          </a:p>
        </p:txBody>
      </p:sp>
      <p:sp>
        <p:nvSpPr>
          <p:cNvPr id="186" name="Rounded Rectangle 185">
            <a:extLst>
              <a:ext uri="{FF2B5EF4-FFF2-40B4-BE49-F238E27FC236}">
                <a16:creationId xmlns:a16="http://schemas.microsoft.com/office/drawing/2014/main" id="{BDD54C82-62FC-1CBF-D97C-4F891ADBA84E}"/>
              </a:ext>
            </a:extLst>
          </p:cNvPr>
          <p:cNvSpPr/>
          <p:nvPr/>
        </p:nvSpPr>
        <p:spPr>
          <a:xfrm>
            <a:off x="4192985" y="2048059"/>
            <a:ext cx="1636829" cy="447458"/>
          </a:xfrm>
          <a:prstGeom prst="roundRect">
            <a:avLst>
              <a:gd name="adj" fmla="val 3598"/>
            </a:avLst>
          </a:prstGeom>
          <a:solidFill>
            <a:srgbClr val="A5D7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7" name="TextBox 186">
            <a:extLst>
              <a:ext uri="{FF2B5EF4-FFF2-40B4-BE49-F238E27FC236}">
                <a16:creationId xmlns:a16="http://schemas.microsoft.com/office/drawing/2014/main" id="{D9896858-475E-08E4-81CE-98928EEF7F10}"/>
              </a:ext>
            </a:extLst>
          </p:cNvPr>
          <p:cNvSpPr txBox="1"/>
          <p:nvPr/>
        </p:nvSpPr>
        <p:spPr>
          <a:xfrm>
            <a:off x="4189538" y="2048059"/>
            <a:ext cx="832687" cy="461665"/>
          </a:xfrm>
          <a:prstGeom prst="rect">
            <a:avLst/>
          </a:prstGeom>
          <a:noFill/>
        </p:spPr>
        <p:txBody>
          <a:bodyPr wrap="square">
            <a:spAutoFit/>
          </a:bodyPr>
          <a:lstStyle/>
          <a:p>
            <a:r>
              <a:rPr lang="en-US" sz="1200" dirty="0">
                <a:solidFill>
                  <a:schemeClr val="bg1"/>
                </a:solidFill>
                <a:latin typeface="Aptos" panose="020B0004020202020204" pitchFamily="34" charset="0"/>
              </a:rPr>
              <a:t>Forward Selection</a:t>
            </a:r>
            <a:endParaRPr lang="en-US" sz="1200" b="0" noProof="0" dirty="0">
              <a:solidFill>
                <a:schemeClr val="bg1"/>
              </a:solidFill>
              <a:latin typeface="Aptos" panose="020B0004020202020204" pitchFamily="34" charset="0"/>
            </a:endParaRPr>
          </a:p>
        </p:txBody>
      </p:sp>
      <p:sp>
        <p:nvSpPr>
          <p:cNvPr id="204" name="Rounded Rectangle 203">
            <a:extLst>
              <a:ext uri="{FF2B5EF4-FFF2-40B4-BE49-F238E27FC236}">
                <a16:creationId xmlns:a16="http://schemas.microsoft.com/office/drawing/2014/main" id="{A277A11B-4EF7-7E72-A231-0B7A88584970}"/>
              </a:ext>
            </a:extLst>
          </p:cNvPr>
          <p:cNvSpPr/>
          <p:nvPr/>
        </p:nvSpPr>
        <p:spPr>
          <a:xfrm>
            <a:off x="4191892" y="2580322"/>
            <a:ext cx="1636829" cy="447458"/>
          </a:xfrm>
          <a:prstGeom prst="roundRect">
            <a:avLst>
              <a:gd name="adj" fmla="val 3598"/>
            </a:avLst>
          </a:prstGeom>
          <a:solidFill>
            <a:srgbClr val="A5D7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2" name="TextBox 221">
            <a:extLst>
              <a:ext uri="{FF2B5EF4-FFF2-40B4-BE49-F238E27FC236}">
                <a16:creationId xmlns:a16="http://schemas.microsoft.com/office/drawing/2014/main" id="{16AC0D38-8796-835E-8E0F-0A72594A7A94}"/>
              </a:ext>
            </a:extLst>
          </p:cNvPr>
          <p:cNvSpPr txBox="1"/>
          <p:nvPr/>
        </p:nvSpPr>
        <p:spPr>
          <a:xfrm>
            <a:off x="4190797" y="1668156"/>
            <a:ext cx="1636829" cy="307777"/>
          </a:xfrm>
          <a:prstGeom prst="rect">
            <a:avLst/>
          </a:prstGeom>
          <a:noFill/>
        </p:spPr>
        <p:txBody>
          <a:bodyPr wrap="square">
            <a:spAutoFit/>
          </a:bodyPr>
          <a:lstStyle/>
          <a:p>
            <a:pPr algn="ctr"/>
            <a:r>
              <a:rPr lang="en-US" sz="1400" dirty="0">
                <a:solidFill>
                  <a:srgbClr val="264444"/>
                </a:solidFill>
                <a:latin typeface="Aptos" panose="020B0004020202020204" pitchFamily="34" charset="0"/>
              </a:rPr>
              <a:t>Model-dependent</a:t>
            </a:r>
            <a:endParaRPr lang="en-US" sz="1400" b="0" noProof="0" dirty="0">
              <a:solidFill>
                <a:srgbClr val="264444"/>
              </a:solidFill>
              <a:latin typeface="Aptos" panose="020B0004020202020204" pitchFamily="34" charset="0"/>
            </a:endParaRPr>
          </a:p>
        </p:txBody>
      </p:sp>
      <p:sp>
        <p:nvSpPr>
          <p:cNvPr id="324" name="Rounded Rectangle 323">
            <a:extLst>
              <a:ext uri="{FF2B5EF4-FFF2-40B4-BE49-F238E27FC236}">
                <a16:creationId xmlns:a16="http://schemas.microsoft.com/office/drawing/2014/main" id="{4B70239B-B23B-68D2-42AB-A0DC56B110FE}"/>
              </a:ext>
            </a:extLst>
          </p:cNvPr>
          <p:cNvSpPr/>
          <p:nvPr/>
        </p:nvSpPr>
        <p:spPr>
          <a:xfrm>
            <a:off x="6354099" y="2030721"/>
            <a:ext cx="1636829" cy="447458"/>
          </a:xfrm>
          <a:prstGeom prst="roundRect">
            <a:avLst>
              <a:gd name="adj" fmla="val 3598"/>
            </a:avLst>
          </a:prstGeom>
          <a:solidFill>
            <a:srgbClr val="DAC1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5" name="TextBox 324">
            <a:extLst>
              <a:ext uri="{FF2B5EF4-FFF2-40B4-BE49-F238E27FC236}">
                <a16:creationId xmlns:a16="http://schemas.microsoft.com/office/drawing/2014/main" id="{CCAD9F28-D75B-1963-4B88-6E214D54DCE8}"/>
              </a:ext>
            </a:extLst>
          </p:cNvPr>
          <p:cNvSpPr txBox="1"/>
          <p:nvPr/>
        </p:nvSpPr>
        <p:spPr>
          <a:xfrm>
            <a:off x="6366273" y="2117922"/>
            <a:ext cx="1198929" cy="276999"/>
          </a:xfrm>
          <a:prstGeom prst="rect">
            <a:avLst/>
          </a:prstGeom>
          <a:noFill/>
        </p:spPr>
        <p:txBody>
          <a:bodyPr wrap="square">
            <a:spAutoFit/>
          </a:bodyPr>
          <a:lstStyle/>
          <a:p>
            <a:r>
              <a:rPr lang="en-US" sz="1200" dirty="0">
                <a:solidFill>
                  <a:schemeClr val="bg1"/>
                </a:solidFill>
                <a:latin typeface="Aptos" panose="020B0004020202020204" pitchFamily="34" charset="0"/>
              </a:rPr>
              <a:t>LASSO</a:t>
            </a:r>
            <a:endParaRPr lang="en-US" sz="1200" b="0" noProof="0" dirty="0">
              <a:solidFill>
                <a:schemeClr val="bg1"/>
              </a:solidFill>
              <a:latin typeface="Aptos" panose="020B0004020202020204" pitchFamily="34" charset="0"/>
            </a:endParaRPr>
          </a:p>
        </p:txBody>
      </p:sp>
      <p:sp>
        <p:nvSpPr>
          <p:cNvPr id="342" name="Rounded Rectangle 341">
            <a:extLst>
              <a:ext uri="{FF2B5EF4-FFF2-40B4-BE49-F238E27FC236}">
                <a16:creationId xmlns:a16="http://schemas.microsoft.com/office/drawing/2014/main" id="{4E5A80D8-8010-CB31-F73F-4C13089D95F7}"/>
              </a:ext>
            </a:extLst>
          </p:cNvPr>
          <p:cNvSpPr/>
          <p:nvPr/>
        </p:nvSpPr>
        <p:spPr>
          <a:xfrm>
            <a:off x="6353006" y="2562984"/>
            <a:ext cx="1636829" cy="447458"/>
          </a:xfrm>
          <a:prstGeom prst="roundRect">
            <a:avLst>
              <a:gd name="adj" fmla="val 3598"/>
            </a:avLst>
          </a:prstGeom>
          <a:solidFill>
            <a:srgbClr val="DAC1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43" name="TextBox 342">
            <a:extLst>
              <a:ext uri="{FF2B5EF4-FFF2-40B4-BE49-F238E27FC236}">
                <a16:creationId xmlns:a16="http://schemas.microsoft.com/office/drawing/2014/main" id="{29605D78-823A-0F29-9C16-122F46B17217}"/>
              </a:ext>
            </a:extLst>
          </p:cNvPr>
          <p:cNvSpPr txBox="1"/>
          <p:nvPr/>
        </p:nvSpPr>
        <p:spPr>
          <a:xfrm>
            <a:off x="6360346" y="2624715"/>
            <a:ext cx="1075885" cy="307777"/>
          </a:xfrm>
          <a:prstGeom prst="rect">
            <a:avLst/>
          </a:prstGeom>
          <a:noFill/>
        </p:spPr>
        <p:txBody>
          <a:bodyPr wrap="square">
            <a:spAutoFit/>
          </a:bodyPr>
          <a:lstStyle/>
          <a:p>
            <a:r>
              <a:rPr lang="en-US" sz="1400" dirty="0">
                <a:solidFill>
                  <a:schemeClr val="bg1"/>
                </a:solidFill>
                <a:latin typeface="Aptos" panose="020B0004020202020204" pitchFamily="34" charset="0"/>
              </a:rPr>
              <a:t>Elastic Net</a:t>
            </a:r>
            <a:endParaRPr lang="en-US" sz="1400" b="0" noProof="0" dirty="0">
              <a:solidFill>
                <a:schemeClr val="bg1"/>
              </a:solidFill>
              <a:latin typeface="Aptos" panose="020B0004020202020204" pitchFamily="34" charset="0"/>
            </a:endParaRPr>
          </a:p>
        </p:txBody>
      </p:sp>
      <p:sp>
        <p:nvSpPr>
          <p:cNvPr id="360" name="TextBox 359">
            <a:extLst>
              <a:ext uri="{FF2B5EF4-FFF2-40B4-BE49-F238E27FC236}">
                <a16:creationId xmlns:a16="http://schemas.microsoft.com/office/drawing/2014/main" id="{42086B7C-983B-DA44-77A4-F0BFA84D02D0}"/>
              </a:ext>
            </a:extLst>
          </p:cNvPr>
          <p:cNvSpPr txBox="1"/>
          <p:nvPr/>
        </p:nvSpPr>
        <p:spPr>
          <a:xfrm>
            <a:off x="6351911" y="1650818"/>
            <a:ext cx="1636829" cy="307777"/>
          </a:xfrm>
          <a:prstGeom prst="rect">
            <a:avLst/>
          </a:prstGeom>
          <a:noFill/>
        </p:spPr>
        <p:txBody>
          <a:bodyPr wrap="square">
            <a:spAutoFit/>
          </a:bodyPr>
          <a:lstStyle/>
          <a:p>
            <a:pPr algn="ctr"/>
            <a:r>
              <a:rPr lang="en-US" sz="1400" dirty="0">
                <a:solidFill>
                  <a:srgbClr val="264444"/>
                </a:solidFill>
                <a:latin typeface="Aptos" panose="020B0004020202020204" pitchFamily="34" charset="0"/>
              </a:rPr>
              <a:t>Model-integrated</a:t>
            </a:r>
            <a:endParaRPr lang="en-US" sz="1400" b="0" noProof="0" dirty="0">
              <a:solidFill>
                <a:srgbClr val="264444"/>
              </a:solidFill>
              <a:latin typeface="Aptos" panose="020B0004020202020204" pitchFamily="34" charset="0"/>
            </a:endParaRPr>
          </a:p>
        </p:txBody>
      </p:sp>
      <p:sp>
        <p:nvSpPr>
          <p:cNvPr id="431" name="Rounded Rectangle 430">
            <a:extLst>
              <a:ext uri="{FF2B5EF4-FFF2-40B4-BE49-F238E27FC236}">
                <a16:creationId xmlns:a16="http://schemas.microsoft.com/office/drawing/2014/main" id="{6C904B47-357B-606D-D1BA-E6B2FC20384E}"/>
              </a:ext>
            </a:extLst>
          </p:cNvPr>
          <p:cNvSpPr/>
          <p:nvPr/>
        </p:nvSpPr>
        <p:spPr>
          <a:xfrm>
            <a:off x="8515214" y="2022612"/>
            <a:ext cx="1636829" cy="447458"/>
          </a:xfrm>
          <a:prstGeom prst="roundRect">
            <a:avLst>
              <a:gd name="adj" fmla="val 3598"/>
            </a:avLst>
          </a:prstGeom>
          <a:solidFill>
            <a:srgbClr val="DEBF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32" name="TextBox 431">
            <a:extLst>
              <a:ext uri="{FF2B5EF4-FFF2-40B4-BE49-F238E27FC236}">
                <a16:creationId xmlns:a16="http://schemas.microsoft.com/office/drawing/2014/main" id="{603FEA1B-2EC1-12FF-0DB0-D18652396101}"/>
              </a:ext>
            </a:extLst>
          </p:cNvPr>
          <p:cNvSpPr txBox="1"/>
          <p:nvPr/>
        </p:nvSpPr>
        <p:spPr>
          <a:xfrm>
            <a:off x="8527388" y="2024180"/>
            <a:ext cx="1069627" cy="461665"/>
          </a:xfrm>
          <a:prstGeom prst="rect">
            <a:avLst/>
          </a:prstGeom>
          <a:noFill/>
        </p:spPr>
        <p:txBody>
          <a:bodyPr wrap="square">
            <a:spAutoFit/>
          </a:bodyPr>
          <a:lstStyle/>
          <a:p>
            <a:r>
              <a:rPr lang="en-US" sz="1200" dirty="0">
                <a:solidFill>
                  <a:schemeClr val="bg1"/>
                </a:solidFill>
                <a:latin typeface="Aptos" panose="020B0004020202020204" pitchFamily="34" charset="0"/>
              </a:rPr>
              <a:t>Mechanical Turk</a:t>
            </a:r>
            <a:endParaRPr lang="en-US" sz="1200" b="0" noProof="0" dirty="0">
              <a:solidFill>
                <a:schemeClr val="bg1"/>
              </a:solidFill>
              <a:latin typeface="Aptos" panose="020B0004020202020204" pitchFamily="34" charset="0"/>
            </a:endParaRPr>
          </a:p>
        </p:txBody>
      </p:sp>
      <p:sp>
        <p:nvSpPr>
          <p:cNvPr id="433" name="Oval 432">
            <a:extLst>
              <a:ext uri="{FF2B5EF4-FFF2-40B4-BE49-F238E27FC236}">
                <a16:creationId xmlns:a16="http://schemas.microsoft.com/office/drawing/2014/main" id="{1C81E4DB-EC58-3AE5-57E3-8A78810E376F}"/>
              </a:ext>
            </a:extLst>
          </p:cNvPr>
          <p:cNvSpPr/>
          <p:nvPr/>
        </p:nvSpPr>
        <p:spPr>
          <a:xfrm flipV="1">
            <a:off x="9827791" y="232130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cxnSp>
        <p:nvCxnSpPr>
          <p:cNvPr id="434" name="Straight Connector 433">
            <a:extLst>
              <a:ext uri="{FF2B5EF4-FFF2-40B4-BE49-F238E27FC236}">
                <a16:creationId xmlns:a16="http://schemas.microsoft.com/office/drawing/2014/main" id="{5F04BC56-DC67-39DF-A7C2-7DBB617BCF02}"/>
              </a:ext>
            </a:extLst>
          </p:cNvPr>
          <p:cNvCxnSpPr>
            <a:cxnSpLocks/>
          </p:cNvCxnSpPr>
          <p:nvPr/>
        </p:nvCxnSpPr>
        <p:spPr>
          <a:xfrm>
            <a:off x="9595109" y="2085729"/>
            <a:ext cx="0" cy="329072"/>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435" name="Straight Connector 434">
            <a:extLst>
              <a:ext uri="{FF2B5EF4-FFF2-40B4-BE49-F238E27FC236}">
                <a16:creationId xmlns:a16="http://schemas.microsoft.com/office/drawing/2014/main" id="{EB56D9A2-19A8-E529-6C7B-56ECB8CA6BDB}"/>
              </a:ext>
            </a:extLst>
          </p:cNvPr>
          <p:cNvCxnSpPr>
            <a:cxnSpLocks/>
          </p:cNvCxnSpPr>
          <p:nvPr/>
        </p:nvCxnSpPr>
        <p:spPr>
          <a:xfrm flipH="1">
            <a:off x="9595109" y="2411143"/>
            <a:ext cx="469905" cy="0"/>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sp>
        <p:nvSpPr>
          <p:cNvPr id="436" name="Oval 435">
            <a:extLst>
              <a:ext uri="{FF2B5EF4-FFF2-40B4-BE49-F238E27FC236}">
                <a16:creationId xmlns:a16="http://schemas.microsoft.com/office/drawing/2014/main" id="{D56831A7-FF75-F7F3-16F6-E820C280335B}"/>
              </a:ext>
            </a:extLst>
          </p:cNvPr>
          <p:cNvSpPr/>
          <p:nvPr/>
        </p:nvSpPr>
        <p:spPr>
          <a:xfrm flipV="1">
            <a:off x="9930232" y="227558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39" name="Oval 438">
            <a:extLst>
              <a:ext uri="{FF2B5EF4-FFF2-40B4-BE49-F238E27FC236}">
                <a16:creationId xmlns:a16="http://schemas.microsoft.com/office/drawing/2014/main" id="{6396C19E-99E7-E577-10BD-36BC195FBAC7}"/>
              </a:ext>
            </a:extLst>
          </p:cNvPr>
          <p:cNvSpPr/>
          <p:nvPr/>
        </p:nvSpPr>
        <p:spPr>
          <a:xfrm flipV="1">
            <a:off x="9907372" y="215699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1" name="TextBox 480">
            <a:extLst>
              <a:ext uri="{FF2B5EF4-FFF2-40B4-BE49-F238E27FC236}">
                <a16:creationId xmlns:a16="http://schemas.microsoft.com/office/drawing/2014/main" id="{DE165787-89C9-4C47-DCE0-89BAED6447D2}"/>
              </a:ext>
            </a:extLst>
          </p:cNvPr>
          <p:cNvSpPr txBox="1"/>
          <p:nvPr/>
        </p:nvSpPr>
        <p:spPr>
          <a:xfrm>
            <a:off x="8482038" y="1650818"/>
            <a:ext cx="1701968" cy="307777"/>
          </a:xfrm>
          <a:prstGeom prst="rect">
            <a:avLst/>
          </a:prstGeom>
          <a:noFill/>
        </p:spPr>
        <p:txBody>
          <a:bodyPr wrap="square">
            <a:spAutoFit/>
          </a:bodyPr>
          <a:lstStyle/>
          <a:p>
            <a:pPr algn="ctr"/>
            <a:r>
              <a:rPr lang="en-US" sz="1400" dirty="0">
                <a:solidFill>
                  <a:srgbClr val="264444"/>
                </a:solidFill>
                <a:latin typeface="Aptos" panose="020B0004020202020204" pitchFamily="34" charset="0"/>
              </a:rPr>
              <a:t>Context-dependent</a:t>
            </a:r>
            <a:endParaRPr lang="en-US" sz="1400" b="0" noProof="0" dirty="0">
              <a:solidFill>
                <a:srgbClr val="264444"/>
              </a:solidFill>
              <a:latin typeface="Aptos" panose="020B0004020202020204" pitchFamily="34" charset="0"/>
            </a:endParaRPr>
          </a:p>
        </p:txBody>
      </p:sp>
      <p:sp>
        <p:nvSpPr>
          <p:cNvPr id="482" name="Oval 481">
            <a:extLst>
              <a:ext uri="{FF2B5EF4-FFF2-40B4-BE49-F238E27FC236}">
                <a16:creationId xmlns:a16="http://schemas.microsoft.com/office/drawing/2014/main" id="{0687061C-C981-DCC7-9639-88BB7BF29B7D}"/>
              </a:ext>
            </a:extLst>
          </p:cNvPr>
          <p:cNvSpPr/>
          <p:nvPr/>
        </p:nvSpPr>
        <p:spPr>
          <a:xfrm flipV="1">
            <a:off x="9729572" y="224907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3" name="Oval 482">
            <a:extLst>
              <a:ext uri="{FF2B5EF4-FFF2-40B4-BE49-F238E27FC236}">
                <a16:creationId xmlns:a16="http://schemas.microsoft.com/office/drawing/2014/main" id="{00E325E8-59BA-E368-46F9-43C0F87A19A8}"/>
              </a:ext>
            </a:extLst>
          </p:cNvPr>
          <p:cNvSpPr/>
          <p:nvPr/>
        </p:nvSpPr>
        <p:spPr>
          <a:xfrm flipV="1">
            <a:off x="9761322" y="219827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4" name="Oval 483">
            <a:extLst>
              <a:ext uri="{FF2B5EF4-FFF2-40B4-BE49-F238E27FC236}">
                <a16:creationId xmlns:a16="http://schemas.microsoft.com/office/drawing/2014/main" id="{AA5D08AE-B51F-4F0A-F359-F5E69F5AAE5F}"/>
              </a:ext>
            </a:extLst>
          </p:cNvPr>
          <p:cNvSpPr/>
          <p:nvPr/>
        </p:nvSpPr>
        <p:spPr>
          <a:xfrm flipV="1">
            <a:off x="9643847" y="226494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5" name="Oval 484">
            <a:extLst>
              <a:ext uri="{FF2B5EF4-FFF2-40B4-BE49-F238E27FC236}">
                <a16:creationId xmlns:a16="http://schemas.microsoft.com/office/drawing/2014/main" id="{51AF7001-9C8B-D2A8-8161-C6D6FA22EF04}"/>
              </a:ext>
            </a:extLst>
          </p:cNvPr>
          <p:cNvSpPr/>
          <p:nvPr/>
        </p:nvSpPr>
        <p:spPr>
          <a:xfrm flipV="1">
            <a:off x="9821647" y="223319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6" name="Oval 485">
            <a:extLst>
              <a:ext uri="{FF2B5EF4-FFF2-40B4-BE49-F238E27FC236}">
                <a16:creationId xmlns:a16="http://schemas.microsoft.com/office/drawing/2014/main" id="{42C73E22-6666-EF35-4443-37A4FB167758}"/>
              </a:ext>
            </a:extLst>
          </p:cNvPr>
          <p:cNvSpPr/>
          <p:nvPr/>
        </p:nvSpPr>
        <p:spPr>
          <a:xfrm flipV="1">
            <a:off x="9808947" y="211572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7" name="Oval 486">
            <a:extLst>
              <a:ext uri="{FF2B5EF4-FFF2-40B4-BE49-F238E27FC236}">
                <a16:creationId xmlns:a16="http://schemas.microsoft.com/office/drawing/2014/main" id="{57FF884C-FC91-237C-0C76-FC4C3DCBA797}"/>
              </a:ext>
            </a:extLst>
          </p:cNvPr>
          <p:cNvSpPr/>
          <p:nvPr/>
        </p:nvSpPr>
        <p:spPr>
          <a:xfrm flipV="1">
            <a:off x="9691472" y="217922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8" name="Oval 487">
            <a:extLst>
              <a:ext uri="{FF2B5EF4-FFF2-40B4-BE49-F238E27FC236}">
                <a16:creationId xmlns:a16="http://schemas.microsoft.com/office/drawing/2014/main" id="{9205E412-894D-B5E6-D569-2B363F411254}"/>
              </a:ext>
            </a:extLst>
          </p:cNvPr>
          <p:cNvSpPr/>
          <p:nvPr/>
        </p:nvSpPr>
        <p:spPr>
          <a:xfrm flipV="1">
            <a:off x="9751797" y="231574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89" name="Oval 488">
            <a:extLst>
              <a:ext uri="{FF2B5EF4-FFF2-40B4-BE49-F238E27FC236}">
                <a16:creationId xmlns:a16="http://schemas.microsoft.com/office/drawing/2014/main" id="{3049B653-6852-17AA-09E8-B92F873F6D7D}"/>
              </a:ext>
            </a:extLst>
          </p:cNvPr>
          <p:cNvSpPr/>
          <p:nvPr/>
        </p:nvSpPr>
        <p:spPr>
          <a:xfrm flipV="1">
            <a:off x="9847047" y="216969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90" name="Oval 489">
            <a:extLst>
              <a:ext uri="{FF2B5EF4-FFF2-40B4-BE49-F238E27FC236}">
                <a16:creationId xmlns:a16="http://schemas.microsoft.com/office/drawing/2014/main" id="{0D2D0FB1-59B3-84B5-9173-273064CC7A36}"/>
              </a:ext>
            </a:extLst>
          </p:cNvPr>
          <p:cNvSpPr/>
          <p:nvPr/>
        </p:nvSpPr>
        <p:spPr>
          <a:xfrm flipV="1">
            <a:off x="9897847" y="221097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91" name="Oval 490">
            <a:extLst>
              <a:ext uri="{FF2B5EF4-FFF2-40B4-BE49-F238E27FC236}">
                <a16:creationId xmlns:a16="http://schemas.microsoft.com/office/drawing/2014/main" id="{83202B92-47CC-DC35-636A-651CE74ABDCE}"/>
              </a:ext>
            </a:extLst>
          </p:cNvPr>
          <p:cNvSpPr/>
          <p:nvPr/>
        </p:nvSpPr>
        <p:spPr>
          <a:xfrm flipV="1">
            <a:off x="9704172" y="209032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92" name="Oval 491">
            <a:extLst>
              <a:ext uri="{FF2B5EF4-FFF2-40B4-BE49-F238E27FC236}">
                <a16:creationId xmlns:a16="http://schemas.microsoft.com/office/drawing/2014/main" id="{AE991E52-EBAE-9066-EFE1-156225889474}"/>
              </a:ext>
            </a:extLst>
          </p:cNvPr>
          <p:cNvSpPr/>
          <p:nvPr/>
        </p:nvSpPr>
        <p:spPr>
          <a:xfrm flipV="1">
            <a:off x="9691472" y="223319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493" name="Oval 492">
            <a:extLst>
              <a:ext uri="{FF2B5EF4-FFF2-40B4-BE49-F238E27FC236}">
                <a16:creationId xmlns:a16="http://schemas.microsoft.com/office/drawing/2014/main" id="{FDD85252-EC65-CB97-07E6-E95EB9D44FA1}"/>
              </a:ext>
            </a:extLst>
          </p:cNvPr>
          <p:cNvSpPr/>
          <p:nvPr/>
        </p:nvSpPr>
        <p:spPr>
          <a:xfrm flipV="1">
            <a:off x="9853397" y="228082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cxnSp>
        <p:nvCxnSpPr>
          <p:cNvPr id="441" name="Straight Connector 440">
            <a:extLst>
              <a:ext uri="{FF2B5EF4-FFF2-40B4-BE49-F238E27FC236}">
                <a16:creationId xmlns:a16="http://schemas.microsoft.com/office/drawing/2014/main" id="{D9C1ECEE-88C3-5185-6A22-73CD90239DB6}"/>
              </a:ext>
            </a:extLst>
          </p:cNvPr>
          <p:cNvCxnSpPr>
            <a:cxnSpLocks/>
          </p:cNvCxnSpPr>
          <p:nvPr/>
        </p:nvCxnSpPr>
        <p:spPr>
          <a:xfrm>
            <a:off x="3245274" y="3698659"/>
            <a:ext cx="0" cy="34083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grpSp>
        <p:nvGrpSpPr>
          <p:cNvPr id="3" name="Group 2">
            <a:extLst>
              <a:ext uri="{FF2B5EF4-FFF2-40B4-BE49-F238E27FC236}">
                <a16:creationId xmlns:a16="http://schemas.microsoft.com/office/drawing/2014/main" id="{115A21AF-EAF1-065B-8851-1FB7F617F14B}"/>
              </a:ext>
            </a:extLst>
          </p:cNvPr>
          <p:cNvGrpSpPr/>
          <p:nvPr/>
        </p:nvGrpSpPr>
        <p:grpSpPr>
          <a:xfrm>
            <a:off x="2021596" y="943127"/>
            <a:ext cx="1644916" cy="715517"/>
            <a:chOff x="2021596" y="943127"/>
            <a:chExt cx="1644916" cy="715517"/>
          </a:xfrm>
        </p:grpSpPr>
        <p:sp>
          <p:nvSpPr>
            <p:cNvPr id="565" name="TextBox 564">
              <a:extLst>
                <a:ext uri="{FF2B5EF4-FFF2-40B4-BE49-F238E27FC236}">
                  <a16:creationId xmlns:a16="http://schemas.microsoft.com/office/drawing/2014/main" id="{DB8D713F-4922-5492-5993-0DBFC26E26EE}"/>
                </a:ext>
              </a:extLst>
            </p:cNvPr>
            <p:cNvSpPr txBox="1"/>
            <p:nvPr/>
          </p:nvSpPr>
          <p:spPr>
            <a:xfrm>
              <a:off x="2023813" y="943127"/>
              <a:ext cx="1642699" cy="646331"/>
            </a:xfrm>
            <a:prstGeom prst="rect">
              <a:avLst/>
            </a:prstGeom>
            <a:noFill/>
          </p:spPr>
          <p:txBody>
            <a:bodyPr wrap="square">
              <a:spAutoFit/>
            </a:bodyPr>
            <a:lstStyle/>
            <a:p>
              <a:pPr algn="ctr"/>
              <a:r>
                <a:rPr lang="en-US" dirty="0">
                  <a:solidFill>
                    <a:schemeClr val="bg2">
                      <a:lumMod val="25000"/>
                    </a:schemeClr>
                  </a:solidFill>
                  <a:latin typeface="Aptos" panose="020B0004020202020204" pitchFamily="34" charset="0"/>
                </a:rPr>
                <a:t>Filter </a:t>
              </a:r>
              <a:br>
                <a:rPr lang="en-US" dirty="0">
                  <a:solidFill>
                    <a:schemeClr val="bg2">
                      <a:lumMod val="25000"/>
                    </a:schemeClr>
                  </a:solidFill>
                  <a:latin typeface="Aptos" panose="020B0004020202020204" pitchFamily="34" charset="0"/>
                </a:rPr>
              </a:br>
              <a:r>
                <a:rPr lang="en-US" dirty="0">
                  <a:solidFill>
                    <a:schemeClr val="bg2">
                      <a:lumMod val="25000"/>
                    </a:schemeClr>
                  </a:solidFill>
                  <a:latin typeface="Aptos" panose="020B0004020202020204" pitchFamily="34" charset="0"/>
                </a:rPr>
                <a:t>Methods</a:t>
              </a:r>
              <a:endParaRPr lang="en-US" sz="1800" b="0" noProof="0" dirty="0">
                <a:solidFill>
                  <a:schemeClr val="bg2">
                    <a:lumMod val="25000"/>
                  </a:schemeClr>
                </a:solidFill>
                <a:latin typeface="Aptos" panose="020B0004020202020204" pitchFamily="34" charset="0"/>
              </a:endParaRPr>
            </a:p>
          </p:txBody>
        </p:sp>
        <p:cxnSp>
          <p:nvCxnSpPr>
            <p:cNvPr id="567" name="Straight Connector 566">
              <a:extLst>
                <a:ext uri="{FF2B5EF4-FFF2-40B4-BE49-F238E27FC236}">
                  <a16:creationId xmlns:a16="http://schemas.microsoft.com/office/drawing/2014/main" id="{5CB7FD2B-C189-D407-FF58-B59F57C0D64A}"/>
                </a:ext>
              </a:extLst>
            </p:cNvPr>
            <p:cNvCxnSpPr>
              <a:cxnSpLocks/>
            </p:cNvCxnSpPr>
            <p:nvPr/>
          </p:nvCxnSpPr>
          <p:spPr>
            <a:xfrm>
              <a:off x="2021596" y="1586298"/>
              <a:ext cx="1644916"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568" name="Straight Connector 567">
              <a:extLst>
                <a:ext uri="{FF2B5EF4-FFF2-40B4-BE49-F238E27FC236}">
                  <a16:creationId xmlns:a16="http://schemas.microsoft.com/office/drawing/2014/main" id="{B73ED6E8-DF07-6DBA-3CD4-47020704AC1D}"/>
                </a:ext>
              </a:extLst>
            </p:cNvPr>
            <p:cNvCxnSpPr>
              <a:cxnSpLocks/>
            </p:cNvCxnSpPr>
            <p:nvPr/>
          </p:nvCxnSpPr>
          <p:spPr>
            <a:xfrm rot="5400000" flipH="1">
              <a:off x="3626683" y="1622471"/>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569" name="Straight Connector 568">
              <a:extLst>
                <a:ext uri="{FF2B5EF4-FFF2-40B4-BE49-F238E27FC236}">
                  <a16:creationId xmlns:a16="http://schemas.microsoft.com/office/drawing/2014/main" id="{D664C822-411E-FAB2-1C72-211E6D7C3B79}"/>
                </a:ext>
              </a:extLst>
            </p:cNvPr>
            <p:cNvCxnSpPr>
              <a:cxnSpLocks/>
            </p:cNvCxnSpPr>
            <p:nvPr/>
          </p:nvCxnSpPr>
          <p:spPr>
            <a:xfrm rot="5400000" flipH="1">
              <a:off x="1987810" y="1622471"/>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nvGrpSpPr>
          <p:cNvPr id="4" name="Group 3">
            <a:extLst>
              <a:ext uri="{FF2B5EF4-FFF2-40B4-BE49-F238E27FC236}">
                <a16:creationId xmlns:a16="http://schemas.microsoft.com/office/drawing/2014/main" id="{D3DC53C8-6EE6-37A6-09E8-3E8BD35189CB}"/>
              </a:ext>
            </a:extLst>
          </p:cNvPr>
          <p:cNvGrpSpPr/>
          <p:nvPr/>
        </p:nvGrpSpPr>
        <p:grpSpPr>
          <a:xfrm>
            <a:off x="4187279" y="935301"/>
            <a:ext cx="1644916" cy="715517"/>
            <a:chOff x="2021596" y="943127"/>
            <a:chExt cx="1644916" cy="715517"/>
          </a:xfrm>
        </p:grpSpPr>
        <p:sp>
          <p:nvSpPr>
            <p:cNvPr id="5" name="TextBox 4">
              <a:extLst>
                <a:ext uri="{FF2B5EF4-FFF2-40B4-BE49-F238E27FC236}">
                  <a16:creationId xmlns:a16="http://schemas.microsoft.com/office/drawing/2014/main" id="{6489B220-CC75-D295-7B40-CFD872851B2C}"/>
                </a:ext>
              </a:extLst>
            </p:cNvPr>
            <p:cNvSpPr txBox="1"/>
            <p:nvPr/>
          </p:nvSpPr>
          <p:spPr>
            <a:xfrm>
              <a:off x="2023813" y="943127"/>
              <a:ext cx="1642699" cy="646331"/>
            </a:xfrm>
            <a:prstGeom prst="rect">
              <a:avLst/>
            </a:prstGeom>
            <a:noFill/>
          </p:spPr>
          <p:txBody>
            <a:bodyPr wrap="square">
              <a:spAutoFit/>
            </a:bodyPr>
            <a:lstStyle/>
            <a:p>
              <a:pPr algn="ctr"/>
              <a:r>
                <a:rPr lang="en-US" dirty="0">
                  <a:solidFill>
                    <a:schemeClr val="bg2">
                      <a:lumMod val="25000"/>
                    </a:schemeClr>
                  </a:solidFill>
                  <a:latin typeface="Aptos" panose="020B0004020202020204" pitchFamily="34" charset="0"/>
                </a:rPr>
                <a:t>Wrapper Methods</a:t>
              </a:r>
              <a:endParaRPr lang="en-US" sz="1800" b="0" noProof="0" dirty="0">
                <a:solidFill>
                  <a:schemeClr val="bg2">
                    <a:lumMod val="25000"/>
                  </a:schemeClr>
                </a:solidFill>
                <a:latin typeface="Aptos" panose="020B0004020202020204" pitchFamily="34" charset="0"/>
              </a:endParaRPr>
            </a:p>
          </p:txBody>
        </p:sp>
        <p:cxnSp>
          <p:nvCxnSpPr>
            <p:cNvPr id="9" name="Straight Connector 8">
              <a:extLst>
                <a:ext uri="{FF2B5EF4-FFF2-40B4-BE49-F238E27FC236}">
                  <a16:creationId xmlns:a16="http://schemas.microsoft.com/office/drawing/2014/main" id="{2A963DB0-07FB-DEB4-F559-DC6D1B40457C}"/>
                </a:ext>
              </a:extLst>
            </p:cNvPr>
            <p:cNvCxnSpPr>
              <a:cxnSpLocks/>
            </p:cNvCxnSpPr>
            <p:nvPr/>
          </p:nvCxnSpPr>
          <p:spPr>
            <a:xfrm>
              <a:off x="2021596" y="1586298"/>
              <a:ext cx="1644916"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7CFD7DF2-5EA2-F909-E56A-129DD6A58DB5}"/>
                </a:ext>
              </a:extLst>
            </p:cNvPr>
            <p:cNvCxnSpPr>
              <a:cxnSpLocks/>
            </p:cNvCxnSpPr>
            <p:nvPr/>
          </p:nvCxnSpPr>
          <p:spPr>
            <a:xfrm rot="5400000" flipH="1">
              <a:off x="3626683" y="1622471"/>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4428D3F-AB19-0131-9616-FC63B4128B88}"/>
                </a:ext>
              </a:extLst>
            </p:cNvPr>
            <p:cNvCxnSpPr>
              <a:cxnSpLocks/>
            </p:cNvCxnSpPr>
            <p:nvPr/>
          </p:nvCxnSpPr>
          <p:spPr>
            <a:xfrm rot="5400000" flipH="1">
              <a:off x="1987810" y="1622471"/>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grpSp>
        <p:nvGrpSpPr>
          <p:cNvPr id="13" name="Group 12">
            <a:extLst>
              <a:ext uri="{FF2B5EF4-FFF2-40B4-BE49-F238E27FC236}">
                <a16:creationId xmlns:a16="http://schemas.microsoft.com/office/drawing/2014/main" id="{725635B8-08F9-1343-E83D-5986ED172549}"/>
              </a:ext>
            </a:extLst>
          </p:cNvPr>
          <p:cNvGrpSpPr/>
          <p:nvPr/>
        </p:nvGrpSpPr>
        <p:grpSpPr>
          <a:xfrm>
            <a:off x="6351201" y="932760"/>
            <a:ext cx="1644916" cy="715517"/>
            <a:chOff x="2021596" y="943127"/>
            <a:chExt cx="1644916" cy="715517"/>
          </a:xfrm>
        </p:grpSpPr>
        <p:sp>
          <p:nvSpPr>
            <p:cNvPr id="19" name="TextBox 18">
              <a:extLst>
                <a:ext uri="{FF2B5EF4-FFF2-40B4-BE49-F238E27FC236}">
                  <a16:creationId xmlns:a16="http://schemas.microsoft.com/office/drawing/2014/main" id="{B24C0B1C-29C1-F0E9-250B-CD219831D901}"/>
                </a:ext>
              </a:extLst>
            </p:cNvPr>
            <p:cNvSpPr txBox="1"/>
            <p:nvPr/>
          </p:nvSpPr>
          <p:spPr>
            <a:xfrm>
              <a:off x="2023813" y="943127"/>
              <a:ext cx="1642699" cy="646331"/>
            </a:xfrm>
            <a:prstGeom prst="rect">
              <a:avLst/>
            </a:prstGeom>
            <a:noFill/>
          </p:spPr>
          <p:txBody>
            <a:bodyPr wrap="square">
              <a:spAutoFit/>
            </a:bodyPr>
            <a:lstStyle/>
            <a:p>
              <a:pPr algn="ctr"/>
              <a:r>
                <a:rPr lang="en-US" dirty="0">
                  <a:solidFill>
                    <a:schemeClr val="bg2">
                      <a:lumMod val="25000"/>
                    </a:schemeClr>
                  </a:solidFill>
                  <a:latin typeface="Aptos" panose="020B0004020202020204" pitchFamily="34" charset="0"/>
                </a:rPr>
                <a:t>Embedded Methods</a:t>
              </a:r>
              <a:endParaRPr lang="en-US" sz="1800" b="0" noProof="0" dirty="0">
                <a:solidFill>
                  <a:schemeClr val="bg2">
                    <a:lumMod val="25000"/>
                  </a:schemeClr>
                </a:solidFill>
                <a:latin typeface="Aptos" panose="020B0004020202020204" pitchFamily="34" charset="0"/>
              </a:endParaRPr>
            </a:p>
          </p:txBody>
        </p:sp>
        <p:cxnSp>
          <p:nvCxnSpPr>
            <p:cNvPr id="20" name="Straight Connector 19">
              <a:extLst>
                <a:ext uri="{FF2B5EF4-FFF2-40B4-BE49-F238E27FC236}">
                  <a16:creationId xmlns:a16="http://schemas.microsoft.com/office/drawing/2014/main" id="{7BE72866-D2DD-A3A2-DE05-DD8FF2EF7B35}"/>
                </a:ext>
              </a:extLst>
            </p:cNvPr>
            <p:cNvCxnSpPr>
              <a:cxnSpLocks/>
            </p:cNvCxnSpPr>
            <p:nvPr/>
          </p:nvCxnSpPr>
          <p:spPr>
            <a:xfrm>
              <a:off x="2021596" y="1586298"/>
              <a:ext cx="1644916"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5FBEE105-AECD-0952-A9CC-69DFAA428DE9}"/>
                </a:ext>
              </a:extLst>
            </p:cNvPr>
            <p:cNvCxnSpPr>
              <a:cxnSpLocks/>
            </p:cNvCxnSpPr>
            <p:nvPr/>
          </p:nvCxnSpPr>
          <p:spPr>
            <a:xfrm rot="5400000" flipH="1">
              <a:off x="3626683" y="1622471"/>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234B7785-3BBC-5E5D-9F56-3F437286FDBF}"/>
                </a:ext>
              </a:extLst>
            </p:cNvPr>
            <p:cNvCxnSpPr>
              <a:cxnSpLocks/>
            </p:cNvCxnSpPr>
            <p:nvPr/>
          </p:nvCxnSpPr>
          <p:spPr>
            <a:xfrm rot="5400000" flipH="1">
              <a:off x="1987810" y="1622471"/>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
        <p:nvSpPr>
          <p:cNvPr id="25" name="TextBox 24">
            <a:extLst>
              <a:ext uri="{FF2B5EF4-FFF2-40B4-BE49-F238E27FC236}">
                <a16:creationId xmlns:a16="http://schemas.microsoft.com/office/drawing/2014/main" id="{9309DF17-65EE-4117-39BD-BC67254396AB}"/>
              </a:ext>
            </a:extLst>
          </p:cNvPr>
          <p:cNvSpPr txBox="1"/>
          <p:nvPr/>
        </p:nvSpPr>
        <p:spPr>
          <a:xfrm>
            <a:off x="8415495" y="934375"/>
            <a:ext cx="1798830" cy="646331"/>
          </a:xfrm>
          <a:prstGeom prst="rect">
            <a:avLst/>
          </a:prstGeom>
          <a:noFill/>
        </p:spPr>
        <p:txBody>
          <a:bodyPr wrap="square">
            <a:spAutoFit/>
          </a:bodyPr>
          <a:lstStyle/>
          <a:p>
            <a:pPr algn="ctr"/>
            <a:r>
              <a:rPr lang="en-US" dirty="0">
                <a:solidFill>
                  <a:schemeClr val="bg2">
                    <a:lumMod val="25000"/>
                  </a:schemeClr>
                </a:solidFill>
                <a:latin typeface="Aptos" panose="020B0004020202020204" pitchFamily="34" charset="0"/>
              </a:rPr>
              <a:t>Domain-Guided Methods</a:t>
            </a:r>
            <a:endParaRPr lang="en-US" sz="1800" b="0" noProof="0" dirty="0">
              <a:solidFill>
                <a:schemeClr val="bg2">
                  <a:lumMod val="25000"/>
                </a:schemeClr>
              </a:solidFill>
              <a:latin typeface="Aptos" panose="020B0004020202020204" pitchFamily="34" charset="0"/>
            </a:endParaRPr>
          </a:p>
        </p:txBody>
      </p:sp>
      <p:cxnSp>
        <p:nvCxnSpPr>
          <p:cNvPr id="26" name="Straight Connector 25">
            <a:extLst>
              <a:ext uri="{FF2B5EF4-FFF2-40B4-BE49-F238E27FC236}">
                <a16:creationId xmlns:a16="http://schemas.microsoft.com/office/drawing/2014/main" id="{3141A091-8A20-A336-5451-991206BBA2BE}"/>
              </a:ext>
            </a:extLst>
          </p:cNvPr>
          <p:cNvCxnSpPr>
            <a:cxnSpLocks/>
          </p:cNvCxnSpPr>
          <p:nvPr/>
        </p:nvCxnSpPr>
        <p:spPr>
          <a:xfrm>
            <a:off x="8499070" y="1577546"/>
            <a:ext cx="1644916"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99625CB3-C83F-C3EE-B853-65F4C5538277}"/>
              </a:ext>
            </a:extLst>
          </p:cNvPr>
          <p:cNvCxnSpPr>
            <a:cxnSpLocks/>
          </p:cNvCxnSpPr>
          <p:nvPr/>
        </p:nvCxnSpPr>
        <p:spPr>
          <a:xfrm rot="5400000" flipH="1">
            <a:off x="10104157" y="1613719"/>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2BE2F63-484C-CA60-DCAC-EDB1CCC7F770}"/>
              </a:ext>
            </a:extLst>
          </p:cNvPr>
          <p:cNvCxnSpPr>
            <a:cxnSpLocks/>
          </p:cNvCxnSpPr>
          <p:nvPr/>
        </p:nvCxnSpPr>
        <p:spPr>
          <a:xfrm rot="5400000" flipH="1">
            <a:off x="8465284" y="1613719"/>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C00C432E-2D3E-AB2D-55D7-B9C39276E939}"/>
              </a:ext>
            </a:extLst>
          </p:cNvPr>
          <p:cNvSpPr txBox="1"/>
          <p:nvPr/>
        </p:nvSpPr>
        <p:spPr>
          <a:xfrm>
            <a:off x="3068140" y="1975306"/>
            <a:ext cx="449686" cy="307777"/>
          </a:xfrm>
          <a:prstGeom prst="rect">
            <a:avLst/>
          </a:prstGeom>
          <a:noFill/>
        </p:spPr>
        <p:txBody>
          <a:bodyPr wrap="square">
            <a:spAutoFit/>
          </a:bodyPr>
          <a:lstStyle/>
          <a:p>
            <a:pPr algn="ctr"/>
            <a:r>
              <a:rPr lang="en-US" sz="1400" dirty="0">
                <a:solidFill>
                  <a:schemeClr val="bg1"/>
                </a:solidFill>
                <a:latin typeface="Aptos" panose="020B0004020202020204" pitchFamily="34" charset="0"/>
              </a:rPr>
              <a:t>r</a:t>
            </a:r>
            <a:r>
              <a:rPr lang="en-US" sz="1400" baseline="30000" dirty="0">
                <a:solidFill>
                  <a:schemeClr val="bg1"/>
                </a:solidFill>
                <a:latin typeface="Aptos" panose="020B0004020202020204" pitchFamily="34" charset="0"/>
              </a:rPr>
              <a:t>2</a:t>
            </a:r>
            <a:endParaRPr lang="en-US" sz="1400" b="0" baseline="30000" noProof="0" dirty="0">
              <a:solidFill>
                <a:schemeClr val="bg1"/>
              </a:solidFill>
              <a:latin typeface="Aptos" panose="020B0004020202020204" pitchFamily="34" charset="0"/>
            </a:endParaRPr>
          </a:p>
        </p:txBody>
      </p:sp>
      <p:sp>
        <p:nvSpPr>
          <p:cNvPr id="51" name="Oval 50">
            <a:extLst>
              <a:ext uri="{FF2B5EF4-FFF2-40B4-BE49-F238E27FC236}">
                <a16:creationId xmlns:a16="http://schemas.microsoft.com/office/drawing/2014/main" id="{DB37DB2E-54A9-D23B-DD6D-1E2E49A368AC}"/>
              </a:ext>
            </a:extLst>
          </p:cNvPr>
          <p:cNvSpPr/>
          <p:nvPr/>
        </p:nvSpPr>
        <p:spPr>
          <a:xfrm>
            <a:off x="3086791" y="2618208"/>
            <a:ext cx="331083" cy="331083"/>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0025057F-03BF-2543-0FCD-C4516E7EC575}"/>
              </a:ext>
            </a:extLst>
          </p:cNvPr>
          <p:cNvSpPr/>
          <p:nvPr/>
        </p:nvSpPr>
        <p:spPr>
          <a:xfrm>
            <a:off x="3284945" y="2618208"/>
            <a:ext cx="331083" cy="3310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a:extLst>
              <a:ext uri="{FF2B5EF4-FFF2-40B4-BE49-F238E27FC236}">
                <a16:creationId xmlns:a16="http://schemas.microsoft.com/office/drawing/2014/main" id="{4295D5CD-1F93-D8A4-8321-4FEDEAB4B60B}"/>
              </a:ext>
            </a:extLst>
          </p:cNvPr>
          <p:cNvSpPr/>
          <p:nvPr/>
        </p:nvSpPr>
        <p:spPr>
          <a:xfrm>
            <a:off x="3285272" y="2654839"/>
            <a:ext cx="132930" cy="258355"/>
          </a:xfrm>
          <a:custGeom>
            <a:avLst/>
            <a:gdLst>
              <a:gd name="csX0" fmla="*/ 66465 w 132930"/>
              <a:gd name="csY0" fmla="*/ 0 h 258355"/>
              <a:gd name="csX1" fmla="*/ 84444 w 132930"/>
              <a:gd name="csY1" fmla="*/ 12121 h 258355"/>
              <a:gd name="csX2" fmla="*/ 132930 w 132930"/>
              <a:gd name="csY2" fmla="*/ 129177 h 258355"/>
              <a:gd name="csX3" fmla="*/ 84444 w 132930"/>
              <a:gd name="csY3" fmla="*/ 246233 h 258355"/>
              <a:gd name="csX4" fmla="*/ 66465 w 132930"/>
              <a:gd name="csY4" fmla="*/ 258355 h 258355"/>
              <a:gd name="csX5" fmla="*/ 48486 w 132930"/>
              <a:gd name="csY5" fmla="*/ 246233 h 258355"/>
              <a:gd name="csX6" fmla="*/ 0 w 132930"/>
              <a:gd name="csY6" fmla="*/ 129177 h 258355"/>
              <a:gd name="csX7" fmla="*/ 48486 w 132930"/>
              <a:gd name="csY7" fmla="*/ 12121 h 258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0" h="258355">
                <a:moveTo>
                  <a:pt x="66465" y="0"/>
                </a:moveTo>
                <a:lnTo>
                  <a:pt x="84444" y="12121"/>
                </a:lnTo>
                <a:cubicBezTo>
                  <a:pt x="114401" y="42079"/>
                  <a:pt x="132930" y="83464"/>
                  <a:pt x="132930" y="129177"/>
                </a:cubicBezTo>
                <a:cubicBezTo>
                  <a:pt x="132930" y="174890"/>
                  <a:pt x="114401" y="216276"/>
                  <a:pt x="84444" y="246233"/>
                </a:cubicBezTo>
                <a:lnTo>
                  <a:pt x="66465" y="258355"/>
                </a:lnTo>
                <a:lnTo>
                  <a:pt x="48486" y="246233"/>
                </a:lnTo>
                <a:cubicBezTo>
                  <a:pt x="18529" y="216276"/>
                  <a:pt x="0" y="174890"/>
                  <a:pt x="0" y="129177"/>
                </a:cubicBezTo>
                <a:cubicBezTo>
                  <a:pt x="0" y="83464"/>
                  <a:pt x="18529" y="42079"/>
                  <a:pt x="48486" y="12121"/>
                </a:cubicBezTo>
                <a:close/>
              </a:path>
            </a:pathLst>
          </a:custGeom>
          <a:solidFill>
            <a:srgbClr val="BDDCE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8" name="Rounded Rectangle 447">
            <a:extLst>
              <a:ext uri="{FF2B5EF4-FFF2-40B4-BE49-F238E27FC236}">
                <a16:creationId xmlns:a16="http://schemas.microsoft.com/office/drawing/2014/main" id="{8F26DAFC-A26B-AF5A-28BA-44B35EBE6EDF}"/>
              </a:ext>
            </a:extLst>
          </p:cNvPr>
          <p:cNvSpPr/>
          <p:nvPr/>
        </p:nvSpPr>
        <p:spPr>
          <a:xfrm>
            <a:off x="2030572" y="4177807"/>
            <a:ext cx="1636829" cy="447458"/>
          </a:xfrm>
          <a:prstGeom prst="roundRect">
            <a:avLst>
              <a:gd name="adj" fmla="val 3598"/>
            </a:avLst>
          </a:prstGeom>
          <a:solidFill>
            <a:srgbClr val="BDD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4" name="TextBox 453">
            <a:extLst>
              <a:ext uri="{FF2B5EF4-FFF2-40B4-BE49-F238E27FC236}">
                <a16:creationId xmlns:a16="http://schemas.microsoft.com/office/drawing/2014/main" id="{1FC2838A-AAA4-180D-3C9F-570F287F82A2}"/>
              </a:ext>
            </a:extLst>
          </p:cNvPr>
          <p:cNvSpPr txBox="1"/>
          <p:nvPr/>
        </p:nvSpPr>
        <p:spPr>
          <a:xfrm>
            <a:off x="2044933" y="4187080"/>
            <a:ext cx="1240900" cy="461665"/>
          </a:xfrm>
          <a:prstGeom prst="rect">
            <a:avLst/>
          </a:prstGeom>
          <a:noFill/>
        </p:spPr>
        <p:txBody>
          <a:bodyPr wrap="square">
            <a:spAutoFit/>
          </a:bodyPr>
          <a:lstStyle/>
          <a:p>
            <a:r>
              <a:rPr lang="en-US" sz="1200" dirty="0">
                <a:solidFill>
                  <a:schemeClr val="bg1"/>
                </a:solidFill>
                <a:latin typeface="Aptos" panose="020B0004020202020204" pitchFamily="34" charset="0"/>
              </a:rPr>
              <a:t>Kolmogorov-Smirnov Test</a:t>
            </a:r>
            <a:endParaRPr lang="en-US" sz="1200" b="0" noProof="0" dirty="0">
              <a:solidFill>
                <a:schemeClr val="bg1"/>
              </a:solidFill>
              <a:latin typeface="Aptos" panose="020B0004020202020204" pitchFamily="34" charset="0"/>
            </a:endParaRPr>
          </a:p>
        </p:txBody>
      </p:sp>
      <p:cxnSp>
        <p:nvCxnSpPr>
          <p:cNvPr id="508" name="Straight Connector 507">
            <a:extLst>
              <a:ext uri="{FF2B5EF4-FFF2-40B4-BE49-F238E27FC236}">
                <a16:creationId xmlns:a16="http://schemas.microsoft.com/office/drawing/2014/main" id="{B9BFA647-EB97-2943-BEC5-B9FCEB35FCA3}"/>
              </a:ext>
            </a:extLst>
          </p:cNvPr>
          <p:cNvCxnSpPr>
            <a:cxnSpLocks/>
          </p:cNvCxnSpPr>
          <p:nvPr/>
        </p:nvCxnSpPr>
        <p:spPr>
          <a:xfrm>
            <a:off x="3187940" y="3806825"/>
            <a:ext cx="0" cy="235844"/>
          </a:xfrm>
          <a:prstGeom prst="line">
            <a:avLst/>
          </a:prstGeom>
          <a:ln w="9525">
            <a:solidFill>
              <a:schemeClr val="bg1"/>
            </a:solidFill>
            <a:prstDash val="sysDot"/>
            <a:headEnd type="none"/>
          </a:ln>
        </p:spPr>
        <p:style>
          <a:lnRef idx="1">
            <a:schemeClr val="dk1"/>
          </a:lnRef>
          <a:fillRef idx="0">
            <a:schemeClr val="dk1"/>
          </a:fillRef>
          <a:effectRef idx="0">
            <a:schemeClr val="dk1"/>
          </a:effectRef>
          <a:fontRef idx="minor">
            <a:schemeClr val="tx1"/>
          </a:fontRef>
        </p:style>
      </p:cxnSp>
      <p:sp>
        <p:nvSpPr>
          <p:cNvPr id="511" name="Freeform 510">
            <a:extLst>
              <a:ext uri="{FF2B5EF4-FFF2-40B4-BE49-F238E27FC236}">
                <a16:creationId xmlns:a16="http://schemas.microsoft.com/office/drawing/2014/main" id="{3BCAEEF7-E81F-62A8-2E08-8CEE69E35CB9}"/>
              </a:ext>
            </a:extLst>
          </p:cNvPr>
          <p:cNvSpPr/>
          <p:nvPr/>
        </p:nvSpPr>
        <p:spPr>
          <a:xfrm>
            <a:off x="3111953" y="4243049"/>
            <a:ext cx="281354" cy="291402"/>
          </a:xfrm>
          <a:custGeom>
            <a:avLst/>
            <a:gdLst>
              <a:gd name="csX0" fmla="*/ 0 w 281354"/>
              <a:gd name="csY0" fmla="*/ 291402 h 291402"/>
              <a:gd name="csX1" fmla="*/ 140677 w 281354"/>
              <a:gd name="csY1" fmla="*/ 0 h 291402"/>
              <a:gd name="csX2" fmla="*/ 281354 w 281354"/>
              <a:gd name="csY2" fmla="*/ 291402 h 291402"/>
            </a:gdLst>
            <a:ahLst/>
            <a:cxnLst>
              <a:cxn ang="0">
                <a:pos x="csX0" y="csY0"/>
              </a:cxn>
              <a:cxn ang="0">
                <a:pos x="csX1" y="csY1"/>
              </a:cxn>
              <a:cxn ang="0">
                <a:pos x="csX2" y="csY2"/>
              </a:cxn>
            </a:cxnLst>
            <a:rect l="l" t="t" r="r" b="b"/>
            <a:pathLst>
              <a:path w="281354" h="291402">
                <a:moveTo>
                  <a:pt x="0" y="291402"/>
                </a:moveTo>
                <a:cubicBezTo>
                  <a:pt x="46892" y="145701"/>
                  <a:pt x="93785" y="0"/>
                  <a:pt x="140677" y="0"/>
                </a:cubicBezTo>
                <a:cubicBezTo>
                  <a:pt x="187569" y="0"/>
                  <a:pt x="234461" y="145701"/>
                  <a:pt x="281354" y="29140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66">
            <a:extLst>
              <a:ext uri="{FF2B5EF4-FFF2-40B4-BE49-F238E27FC236}">
                <a16:creationId xmlns:a16="http://schemas.microsoft.com/office/drawing/2014/main" id="{956091D3-BAC0-2389-7937-CE4EFDA4A44C}"/>
              </a:ext>
            </a:extLst>
          </p:cNvPr>
          <p:cNvSpPr/>
          <p:nvPr/>
        </p:nvSpPr>
        <p:spPr>
          <a:xfrm>
            <a:off x="3264353" y="4243049"/>
            <a:ext cx="288979" cy="291402"/>
          </a:xfrm>
          <a:custGeom>
            <a:avLst/>
            <a:gdLst>
              <a:gd name="csX0" fmla="*/ 0 w 281354"/>
              <a:gd name="csY0" fmla="*/ 291402 h 291402"/>
              <a:gd name="csX1" fmla="*/ 140677 w 281354"/>
              <a:gd name="csY1" fmla="*/ 0 h 291402"/>
              <a:gd name="csX2" fmla="*/ 281354 w 281354"/>
              <a:gd name="csY2" fmla="*/ 291402 h 291402"/>
            </a:gdLst>
            <a:ahLst/>
            <a:cxnLst>
              <a:cxn ang="0">
                <a:pos x="csX0" y="csY0"/>
              </a:cxn>
              <a:cxn ang="0">
                <a:pos x="csX1" y="csY1"/>
              </a:cxn>
              <a:cxn ang="0">
                <a:pos x="csX2" y="csY2"/>
              </a:cxn>
            </a:cxnLst>
            <a:rect l="l" t="t" r="r" b="b"/>
            <a:pathLst>
              <a:path w="281354" h="291402">
                <a:moveTo>
                  <a:pt x="0" y="291402"/>
                </a:moveTo>
                <a:cubicBezTo>
                  <a:pt x="46892" y="145701"/>
                  <a:pt x="93785" y="0"/>
                  <a:pt x="140677" y="0"/>
                </a:cubicBezTo>
                <a:cubicBezTo>
                  <a:pt x="187569" y="0"/>
                  <a:pt x="234461" y="145701"/>
                  <a:pt x="281354" y="29140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67">
            <a:extLst>
              <a:ext uri="{FF2B5EF4-FFF2-40B4-BE49-F238E27FC236}">
                <a16:creationId xmlns:a16="http://schemas.microsoft.com/office/drawing/2014/main" id="{148B3B3A-569B-9461-B7A2-17327756122D}"/>
              </a:ext>
            </a:extLst>
          </p:cNvPr>
          <p:cNvSpPr/>
          <p:nvPr/>
        </p:nvSpPr>
        <p:spPr>
          <a:xfrm>
            <a:off x="4182743" y="3104482"/>
            <a:ext cx="1636829" cy="447458"/>
          </a:xfrm>
          <a:prstGeom prst="roundRect">
            <a:avLst>
              <a:gd name="adj" fmla="val 3598"/>
            </a:avLst>
          </a:prstGeom>
          <a:solidFill>
            <a:srgbClr val="A5D7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9" name="TextBox 68">
            <a:extLst>
              <a:ext uri="{FF2B5EF4-FFF2-40B4-BE49-F238E27FC236}">
                <a16:creationId xmlns:a16="http://schemas.microsoft.com/office/drawing/2014/main" id="{232100EA-05A8-1B82-F3AA-DDFE761E5BCF}"/>
              </a:ext>
            </a:extLst>
          </p:cNvPr>
          <p:cNvSpPr txBox="1"/>
          <p:nvPr/>
        </p:nvSpPr>
        <p:spPr>
          <a:xfrm>
            <a:off x="4183181" y="3095247"/>
            <a:ext cx="1241047" cy="461665"/>
          </a:xfrm>
          <a:prstGeom prst="rect">
            <a:avLst/>
          </a:prstGeom>
          <a:noFill/>
        </p:spPr>
        <p:txBody>
          <a:bodyPr wrap="square">
            <a:spAutoFit/>
          </a:bodyPr>
          <a:lstStyle/>
          <a:p>
            <a:r>
              <a:rPr lang="en-US" sz="1200" dirty="0">
                <a:solidFill>
                  <a:schemeClr val="bg1"/>
                </a:solidFill>
                <a:latin typeface="Aptos" panose="020B0004020202020204" pitchFamily="34" charset="0"/>
              </a:rPr>
              <a:t>Stepwise selection</a:t>
            </a:r>
            <a:endParaRPr lang="en-US" sz="1200" b="0" noProof="0" dirty="0">
              <a:solidFill>
                <a:schemeClr val="bg1"/>
              </a:solidFill>
              <a:latin typeface="Aptos" panose="020B0004020202020204" pitchFamily="34" charset="0"/>
            </a:endParaRPr>
          </a:p>
        </p:txBody>
      </p:sp>
      <p:sp>
        <p:nvSpPr>
          <p:cNvPr id="70" name="TextBox 69">
            <a:extLst>
              <a:ext uri="{FF2B5EF4-FFF2-40B4-BE49-F238E27FC236}">
                <a16:creationId xmlns:a16="http://schemas.microsoft.com/office/drawing/2014/main" id="{6C8D33E2-77E0-7C08-76F5-20D41C77CCC6}"/>
              </a:ext>
            </a:extLst>
          </p:cNvPr>
          <p:cNvSpPr txBox="1"/>
          <p:nvPr/>
        </p:nvSpPr>
        <p:spPr>
          <a:xfrm>
            <a:off x="4183181" y="2581732"/>
            <a:ext cx="1241047" cy="461665"/>
          </a:xfrm>
          <a:prstGeom prst="rect">
            <a:avLst/>
          </a:prstGeom>
          <a:noFill/>
        </p:spPr>
        <p:txBody>
          <a:bodyPr wrap="square">
            <a:spAutoFit/>
          </a:bodyPr>
          <a:lstStyle/>
          <a:p>
            <a:r>
              <a:rPr lang="en-US" sz="1200" dirty="0">
                <a:solidFill>
                  <a:schemeClr val="bg1"/>
                </a:solidFill>
                <a:latin typeface="Aptos" panose="020B0004020202020204" pitchFamily="34" charset="0"/>
              </a:rPr>
              <a:t>Backward Elimination</a:t>
            </a:r>
            <a:endParaRPr lang="en-US" sz="1200" b="0" noProof="0" dirty="0">
              <a:solidFill>
                <a:schemeClr val="bg1"/>
              </a:solidFill>
              <a:latin typeface="Aptos" panose="020B0004020202020204" pitchFamily="34" charset="0"/>
            </a:endParaRPr>
          </a:p>
        </p:txBody>
      </p:sp>
      <p:grpSp>
        <p:nvGrpSpPr>
          <p:cNvPr id="115" name="Group 114">
            <a:extLst>
              <a:ext uri="{FF2B5EF4-FFF2-40B4-BE49-F238E27FC236}">
                <a16:creationId xmlns:a16="http://schemas.microsoft.com/office/drawing/2014/main" id="{75A7C22A-45A8-EDD1-C51B-BDADFD6A441B}"/>
              </a:ext>
            </a:extLst>
          </p:cNvPr>
          <p:cNvGrpSpPr/>
          <p:nvPr/>
        </p:nvGrpSpPr>
        <p:grpSpPr>
          <a:xfrm>
            <a:off x="5236943" y="2138888"/>
            <a:ext cx="45719" cy="263414"/>
            <a:chOff x="5236943" y="2138888"/>
            <a:chExt cx="45719" cy="263414"/>
          </a:xfrm>
        </p:grpSpPr>
        <p:sp>
          <p:nvSpPr>
            <p:cNvPr id="231" name="Oval 230">
              <a:extLst>
                <a:ext uri="{FF2B5EF4-FFF2-40B4-BE49-F238E27FC236}">
                  <a16:creationId xmlns:a16="http://schemas.microsoft.com/office/drawing/2014/main" id="{9958BE28-5EAC-353E-C0B6-786CD64ABF05}"/>
                </a:ext>
              </a:extLst>
            </p:cNvPr>
            <p:cNvSpPr/>
            <p:nvPr/>
          </p:nvSpPr>
          <p:spPr>
            <a:xfrm flipH="1" flipV="1">
              <a:off x="5236943" y="221145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F4F6174-7E43-2CD7-8AEB-DA0930117FF9}"/>
                </a:ext>
              </a:extLst>
            </p:cNvPr>
            <p:cNvSpPr/>
            <p:nvPr/>
          </p:nvSpPr>
          <p:spPr>
            <a:xfrm flipH="1" flipV="1">
              <a:off x="5236943" y="228401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AC7485F9-6BA7-B7E5-E006-37B4F7B0848B}"/>
                </a:ext>
              </a:extLst>
            </p:cNvPr>
            <p:cNvSpPr/>
            <p:nvPr/>
          </p:nvSpPr>
          <p:spPr>
            <a:xfrm flipH="1" flipV="1">
              <a:off x="5236943" y="235658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93035CAD-010A-ACCE-FE0D-6DADAD60AE1E}"/>
                </a:ext>
              </a:extLst>
            </p:cNvPr>
            <p:cNvSpPr/>
            <p:nvPr/>
          </p:nvSpPr>
          <p:spPr>
            <a:xfrm flipH="1" flipV="1">
              <a:off x="5236943" y="213888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08B93772-BE85-FFE8-C174-97F9BEBD9192}"/>
              </a:ext>
            </a:extLst>
          </p:cNvPr>
          <p:cNvGrpSpPr/>
          <p:nvPr/>
        </p:nvGrpSpPr>
        <p:grpSpPr>
          <a:xfrm>
            <a:off x="5387698" y="2138888"/>
            <a:ext cx="45719" cy="263414"/>
            <a:chOff x="5389343" y="2291288"/>
            <a:chExt cx="45719" cy="263414"/>
          </a:xfrm>
        </p:grpSpPr>
        <p:sp>
          <p:nvSpPr>
            <p:cNvPr id="110" name="Oval 109">
              <a:extLst>
                <a:ext uri="{FF2B5EF4-FFF2-40B4-BE49-F238E27FC236}">
                  <a16:creationId xmlns:a16="http://schemas.microsoft.com/office/drawing/2014/main" id="{75B450E1-7A95-DA18-C1D5-BECE0CA20973}"/>
                </a:ext>
              </a:extLst>
            </p:cNvPr>
            <p:cNvSpPr/>
            <p:nvPr/>
          </p:nvSpPr>
          <p:spPr>
            <a:xfrm flipH="1" flipV="1">
              <a:off x="5389343" y="236385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780DFD94-9EE2-5B2D-2A14-5E852E3FDB20}"/>
                </a:ext>
              </a:extLst>
            </p:cNvPr>
            <p:cNvSpPr/>
            <p:nvPr/>
          </p:nvSpPr>
          <p:spPr>
            <a:xfrm flipH="1" flipV="1">
              <a:off x="5389343" y="24364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26BAD18-A699-F864-D06A-9ECD276ACA83}"/>
                </a:ext>
              </a:extLst>
            </p:cNvPr>
            <p:cNvSpPr/>
            <p:nvPr/>
          </p:nvSpPr>
          <p:spPr>
            <a:xfrm flipH="1" flipV="1">
              <a:off x="5389343" y="250898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FDFB8E98-1CFF-314B-A9C8-79083D550F66}"/>
                </a:ext>
              </a:extLst>
            </p:cNvPr>
            <p:cNvSpPr/>
            <p:nvPr/>
          </p:nvSpPr>
          <p:spPr>
            <a:xfrm flipH="1" flipV="1">
              <a:off x="5389343" y="229128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6" name="Group 115">
            <a:extLst>
              <a:ext uri="{FF2B5EF4-FFF2-40B4-BE49-F238E27FC236}">
                <a16:creationId xmlns:a16="http://schemas.microsoft.com/office/drawing/2014/main" id="{C3F2C65B-4775-9E2E-0520-C40A6E5BD551}"/>
              </a:ext>
            </a:extLst>
          </p:cNvPr>
          <p:cNvGrpSpPr/>
          <p:nvPr/>
        </p:nvGrpSpPr>
        <p:grpSpPr>
          <a:xfrm>
            <a:off x="5538454" y="2138888"/>
            <a:ext cx="45719" cy="263414"/>
            <a:chOff x="5389343" y="2291288"/>
            <a:chExt cx="45719" cy="263414"/>
          </a:xfrm>
        </p:grpSpPr>
        <p:sp>
          <p:nvSpPr>
            <p:cNvPr id="117" name="Oval 116">
              <a:extLst>
                <a:ext uri="{FF2B5EF4-FFF2-40B4-BE49-F238E27FC236}">
                  <a16:creationId xmlns:a16="http://schemas.microsoft.com/office/drawing/2014/main" id="{08F110BB-9B52-0EE6-17D4-A3DF5B7EAC82}"/>
                </a:ext>
              </a:extLst>
            </p:cNvPr>
            <p:cNvSpPr/>
            <p:nvPr/>
          </p:nvSpPr>
          <p:spPr>
            <a:xfrm flipH="1" flipV="1">
              <a:off x="5389343" y="236385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172C8F1C-4C03-B82E-1FDF-1DAE08E5F93D}"/>
                </a:ext>
              </a:extLst>
            </p:cNvPr>
            <p:cNvSpPr/>
            <p:nvPr/>
          </p:nvSpPr>
          <p:spPr>
            <a:xfrm flipH="1" flipV="1">
              <a:off x="5389343" y="24364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a:extLst>
                <a:ext uri="{FF2B5EF4-FFF2-40B4-BE49-F238E27FC236}">
                  <a16:creationId xmlns:a16="http://schemas.microsoft.com/office/drawing/2014/main" id="{9A320A33-696E-C655-47B4-6CF99F28E96C}"/>
                </a:ext>
              </a:extLst>
            </p:cNvPr>
            <p:cNvSpPr/>
            <p:nvPr/>
          </p:nvSpPr>
          <p:spPr>
            <a:xfrm flipH="1" flipV="1">
              <a:off x="5389343" y="250898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8D04C955-5D2E-4962-0AC2-C063E1683EE2}"/>
                </a:ext>
              </a:extLst>
            </p:cNvPr>
            <p:cNvSpPr/>
            <p:nvPr/>
          </p:nvSpPr>
          <p:spPr>
            <a:xfrm flipH="1" flipV="1">
              <a:off x="5389343" y="229128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12" name="Straight Connector 511">
            <a:extLst>
              <a:ext uri="{FF2B5EF4-FFF2-40B4-BE49-F238E27FC236}">
                <a16:creationId xmlns:a16="http://schemas.microsoft.com/office/drawing/2014/main" id="{E07213B4-4E33-3B98-515A-052120BB75AD}"/>
              </a:ext>
            </a:extLst>
          </p:cNvPr>
          <p:cNvCxnSpPr>
            <a:cxnSpLocks/>
            <a:endCxn id="110" idx="6"/>
          </p:cNvCxnSpPr>
          <p:nvPr/>
        </p:nvCxnSpPr>
        <p:spPr>
          <a:xfrm>
            <a:off x="5282662" y="2161747"/>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14" name="Straight Connector 513">
            <a:extLst>
              <a:ext uri="{FF2B5EF4-FFF2-40B4-BE49-F238E27FC236}">
                <a16:creationId xmlns:a16="http://schemas.microsoft.com/office/drawing/2014/main" id="{F84639B3-51D2-DE03-AB16-91C095409FB4}"/>
              </a:ext>
            </a:extLst>
          </p:cNvPr>
          <p:cNvCxnSpPr>
            <a:cxnSpLocks/>
            <a:stCxn id="109" idx="2"/>
            <a:endCxn id="111" idx="6"/>
          </p:cNvCxnSpPr>
          <p:nvPr/>
        </p:nvCxnSpPr>
        <p:spPr>
          <a:xfrm>
            <a:off x="5282662" y="2161747"/>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21" name="Straight Connector 520">
            <a:extLst>
              <a:ext uri="{FF2B5EF4-FFF2-40B4-BE49-F238E27FC236}">
                <a16:creationId xmlns:a16="http://schemas.microsoft.com/office/drawing/2014/main" id="{D23DB8DA-CE52-5B7E-B37F-802134FDE7D2}"/>
              </a:ext>
            </a:extLst>
          </p:cNvPr>
          <p:cNvCxnSpPr>
            <a:cxnSpLocks/>
            <a:stCxn id="109" idx="2"/>
            <a:endCxn id="112" idx="6"/>
          </p:cNvCxnSpPr>
          <p:nvPr/>
        </p:nvCxnSpPr>
        <p:spPr>
          <a:xfrm>
            <a:off x="5282662" y="2161747"/>
            <a:ext cx="105036" cy="21769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26" name="Straight Connector 525">
            <a:extLst>
              <a:ext uri="{FF2B5EF4-FFF2-40B4-BE49-F238E27FC236}">
                <a16:creationId xmlns:a16="http://schemas.microsoft.com/office/drawing/2014/main" id="{04D2B3B1-3599-03E8-C08A-4D83C365F306}"/>
              </a:ext>
            </a:extLst>
          </p:cNvPr>
          <p:cNvCxnSpPr>
            <a:cxnSpLocks/>
            <a:stCxn id="231" idx="2"/>
            <a:endCxn id="113" idx="6"/>
          </p:cNvCxnSpPr>
          <p:nvPr/>
        </p:nvCxnSpPr>
        <p:spPr>
          <a:xfrm flipV="1">
            <a:off x="5282662" y="2161747"/>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29" name="Straight Connector 528">
            <a:extLst>
              <a:ext uri="{FF2B5EF4-FFF2-40B4-BE49-F238E27FC236}">
                <a16:creationId xmlns:a16="http://schemas.microsoft.com/office/drawing/2014/main" id="{3709975B-C041-6300-C67C-3C9F19702F52}"/>
              </a:ext>
            </a:extLst>
          </p:cNvPr>
          <p:cNvCxnSpPr>
            <a:cxnSpLocks/>
            <a:stCxn id="111" idx="6"/>
            <a:endCxn id="231" idx="2"/>
          </p:cNvCxnSpPr>
          <p:nvPr/>
        </p:nvCxnSpPr>
        <p:spPr>
          <a:xfrm flipH="1" flipV="1">
            <a:off x="5282662" y="2234312"/>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32" name="Straight Connector 531">
            <a:extLst>
              <a:ext uri="{FF2B5EF4-FFF2-40B4-BE49-F238E27FC236}">
                <a16:creationId xmlns:a16="http://schemas.microsoft.com/office/drawing/2014/main" id="{8253A4DB-0487-03C2-B334-BB67AB315CE7}"/>
              </a:ext>
            </a:extLst>
          </p:cNvPr>
          <p:cNvCxnSpPr>
            <a:cxnSpLocks/>
            <a:stCxn id="112" idx="6"/>
            <a:endCxn id="231" idx="2"/>
          </p:cNvCxnSpPr>
          <p:nvPr/>
        </p:nvCxnSpPr>
        <p:spPr>
          <a:xfrm flipH="1" flipV="1">
            <a:off x="5282662" y="2234312"/>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40" name="Straight Connector 539">
            <a:extLst>
              <a:ext uri="{FF2B5EF4-FFF2-40B4-BE49-F238E27FC236}">
                <a16:creationId xmlns:a16="http://schemas.microsoft.com/office/drawing/2014/main" id="{47334110-A665-FBE5-9337-F1DB820F9DB6}"/>
              </a:ext>
            </a:extLst>
          </p:cNvPr>
          <p:cNvCxnSpPr>
            <a:cxnSpLocks/>
            <a:stCxn id="113" idx="6"/>
            <a:endCxn id="106" idx="2"/>
          </p:cNvCxnSpPr>
          <p:nvPr/>
        </p:nvCxnSpPr>
        <p:spPr>
          <a:xfrm flipH="1">
            <a:off x="5282662" y="2161747"/>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59" name="Straight Connector 558">
            <a:extLst>
              <a:ext uri="{FF2B5EF4-FFF2-40B4-BE49-F238E27FC236}">
                <a16:creationId xmlns:a16="http://schemas.microsoft.com/office/drawing/2014/main" id="{4776264C-A0D1-E0D1-0384-470883DB0014}"/>
              </a:ext>
            </a:extLst>
          </p:cNvPr>
          <p:cNvCxnSpPr>
            <a:cxnSpLocks/>
            <a:stCxn id="110" idx="6"/>
            <a:endCxn id="106" idx="2"/>
          </p:cNvCxnSpPr>
          <p:nvPr/>
        </p:nvCxnSpPr>
        <p:spPr>
          <a:xfrm flipH="1">
            <a:off x="5282662" y="2234312"/>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64" name="Straight Connector 563">
            <a:extLst>
              <a:ext uri="{FF2B5EF4-FFF2-40B4-BE49-F238E27FC236}">
                <a16:creationId xmlns:a16="http://schemas.microsoft.com/office/drawing/2014/main" id="{97FE50E1-74FA-0A2B-F499-A693BE394ED8}"/>
              </a:ext>
            </a:extLst>
          </p:cNvPr>
          <p:cNvCxnSpPr>
            <a:cxnSpLocks/>
            <a:stCxn id="112" idx="6"/>
            <a:endCxn id="106" idx="2"/>
          </p:cNvCxnSpPr>
          <p:nvPr/>
        </p:nvCxnSpPr>
        <p:spPr>
          <a:xfrm flipH="1" flipV="1">
            <a:off x="5282662" y="2306877"/>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82" name="Straight Connector 581">
            <a:extLst>
              <a:ext uri="{FF2B5EF4-FFF2-40B4-BE49-F238E27FC236}">
                <a16:creationId xmlns:a16="http://schemas.microsoft.com/office/drawing/2014/main" id="{0E1C6646-C1E4-2227-30F1-4A9441D3B85E}"/>
              </a:ext>
            </a:extLst>
          </p:cNvPr>
          <p:cNvCxnSpPr>
            <a:cxnSpLocks/>
            <a:stCxn id="113" idx="6"/>
            <a:endCxn id="108" idx="2"/>
          </p:cNvCxnSpPr>
          <p:nvPr/>
        </p:nvCxnSpPr>
        <p:spPr>
          <a:xfrm flipH="1">
            <a:off x="5282662" y="2161747"/>
            <a:ext cx="105036" cy="21769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589" name="Straight Connector 588">
            <a:extLst>
              <a:ext uri="{FF2B5EF4-FFF2-40B4-BE49-F238E27FC236}">
                <a16:creationId xmlns:a16="http://schemas.microsoft.com/office/drawing/2014/main" id="{ABEFA131-E4D2-DF78-5386-FFEC60D24ED8}"/>
              </a:ext>
            </a:extLst>
          </p:cNvPr>
          <p:cNvCxnSpPr>
            <a:cxnSpLocks/>
            <a:stCxn id="110" idx="6"/>
            <a:endCxn id="108" idx="2"/>
          </p:cNvCxnSpPr>
          <p:nvPr/>
        </p:nvCxnSpPr>
        <p:spPr>
          <a:xfrm flipH="1">
            <a:off x="5282662" y="2234312"/>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617" name="Straight Connector 616">
            <a:extLst>
              <a:ext uri="{FF2B5EF4-FFF2-40B4-BE49-F238E27FC236}">
                <a16:creationId xmlns:a16="http://schemas.microsoft.com/office/drawing/2014/main" id="{D0B63CAD-78C5-961B-4B60-656341485859}"/>
              </a:ext>
            </a:extLst>
          </p:cNvPr>
          <p:cNvCxnSpPr>
            <a:cxnSpLocks/>
            <a:stCxn id="111" idx="6"/>
            <a:endCxn id="108" idx="2"/>
          </p:cNvCxnSpPr>
          <p:nvPr/>
        </p:nvCxnSpPr>
        <p:spPr>
          <a:xfrm flipH="1">
            <a:off x="5282662" y="2306877"/>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928E19A2-53D4-F7CC-EBED-882B33A319BF}"/>
              </a:ext>
            </a:extLst>
          </p:cNvPr>
          <p:cNvCxnSpPr>
            <a:cxnSpLocks/>
            <a:stCxn id="120" idx="6"/>
            <a:endCxn id="111" idx="2"/>
          </p:cNvCxnSpPr>
          <p:nvPr/>
        </p:nvCxnSpPr>
        <p:spPr>
          <a:xfrm flipH="1">
            <a:off x="5433417" y="2161747"/>
            <a:ext cx="105037"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8E991532-1AE9-77FD-B042-C2F7D6DFF0AD}"/>
              </a:ext>
            </a:extLst>
          </p:cNvPr>
          <p:cNvCxnSpPr>
            <a:cxnSpLocks/>
            <a:stCxn id="117" idx="6"/>
            <a:endCxn id="111" idx="2"/>
          </p:cNvCxnSpPr>
          <p:nvPr/>
        </p:nvCxnSpPr>
        <p:spPr>
          <a:xfrm flipH="1">
            <a:off x="5433417" y="2234312"/>
            <a:ext cx="105037"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B84C1CB0-DD1D-A1CC-1CA9-724658FC4F2D}"/>
              </a:ext>
            </a:extLst>
          </p:cNvPr>
          <p:cNvCxnSpPr>
            <a:cxnSpLocks/>
            <a:stCxn id="119" idx="6"/>
            <a:endCxn id="111" idx="2"/>
          </p:cNvCxnSpPr>
          <p:nvPr/>
        </p:nvCxnSpPr>
        <p:spPr>
          <a:xfrm flipH="1" flipV="1">
            <a:off x="5433417" y="2306877"/>
            <a:ext cx="105037"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grpSp>
        <p:nvGrpSpPr>
          <p:cNvPr id="162" name="Group 161">
            <a:extLst>
              <a:ext uri="{FF2B5EF4-FFF2-40B4-BE49-F238E27FC236}">
                <a16:creationId xmlns:a16="http://schemas.microsoft.com/office/drawing/2014/main" id="{8816104C-8844-E8F1-60F2-94BD32BA2ECE}"/>
              </a:ext>
            </a:extLst>
          </p:cNvPr>
          <p:cNvGrpSpPr/>
          <p:nvPr/>
        </p:nvGrpSpPr>
        <p:grpSpPr>
          <a:xfrm>
            <a:off x="5263930" y="2673520"/>
            <a:ext cx="45719" cy="263414"/>
            <a:chOff x="5236943" y="2138888"/>
            <a:chExt cx="45719" cy="263414"/>
          </a:xfrm>
        </p:grpSpPr>
        <p:sp>
          <p:nvSpPr>
            <p:cNvPr id="168" name="Oval 167">
              <a:extLst>
                <a:ext uri="{FF2B5EF4-FFF2-40B4-BE49-F238E27FC236}">
                  <a16:creationId xmlns:a16="http://schemas.microsoft.com/office/drawing/2014/main" id="{1251352E-73BB-3D2B-E362-15E65170E941}"/>
                </a:ext>
              </a:extLst>
            </p:cNvPr>
            <p:cNvSpPr/>
            <p:nvPr/>
          </p:nvSpPr>
          <p:spPr>
            <a:xfrm flipH="1" flipV="1">
              <a:off x="5236943" y="22114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7C4E29A4-4876-F57D-F18F-BAB61A940869}"/>
                </a:ext>
              </a:extLst>
            </p:cNvPr>
            <p:cNvSpPr/>
            <p:nvPr/>
          </p:nvSpPr>
          <p:spPr>
            <a:xfrm flipH="1" flipV="1">
              <a:off x="5236943" y="22840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94E9982F-94EC-3DA7-65C9-E1E7D6F05C59}"/>
                </a:ext>
              </a:extLst>
            </p:cNvPr>
            <p:cNvSpPr/>
            <p:nvPr/>
          </p:nvSpPr>
          <p:spPr>
            <a:xfrm flipH="1" flipV="1">
              <a:off x="5236943" y="235658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CE6E0CE5-FB8E-D358-2A97-C8BED987C7E2}"/>
                </a:ext>
              </a:extLst>
            </p:cNvPr>
            <p:cNvSpPr/>
            <p:nvPr/>
          </p:nvSpPr>
          <p:spPr>
            <a:xfrm flipH="1" flipV="1">
              <a:off x="5236943" y="21388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8" name="Group 187">
            <a:extLst>
              <a:ext uri="{FF2B5EF4-FFF2-40B4-BE49-F238E27FC236}">
                <a16:creationId xmlns:a16="http://schemas.microsoft.com/office/drawing/2014/main" id="{B6E28BA0-80DB-34CE-FECB-74BF66F1FA19}"/>
              </a:ext>
            </a:extLst>
          </p:cNvPr>
          <p:cNvGrpSpPr/>
          <p:nvPr/>
        </p:nvGrpSpPr>
        <p:grpSpPr>
          <a:xfrm>
            <a:off x="5414685" y="2673520"/>
            <a:ext cx="45719" cy="263414"/>
            <a:chOff x="5389343" y="2291288"/>
            <a:chExt cx="45719" cy="263414"/>
          </a:xfrm>
        </p:grpSpPr>
        <p:sp>
          <p:nvSpPr>
            <p:cNvPr id="189" name="Oval 188">
              <a:extLst>
                <a:ext uri="{FF2B5EF4-FFF2-40B4-BE49-F238E27FC236}">
                  <a16:creationId xmlns:a16="http://schemas.microsoft.com/office/drawing/2014/main" id="{8548E21D-FE58-4FB6-13FA-3E30EA61F602}"/>
                </a:ext>
              </a:extLst>
            </p:cNvPr>
            <p:cNvSpPr/>
            <p:nvPr/>
          </p:nvSpPr>
          <p:spPr>
            <a:xfrm flipH="1" flipV="1">
              <a:off x="5389343" y="23638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a:extLst>
                <a:ext uri="{FF2B5EF4-FFF2-40B4-BE49-F238E27FC236}">
                  <a16:creationId xmlns:a16="http://schemas.microsoft.com/office/drawing/2014/main" id="{4E6DEEC7-DA10-30F8-C1FE-AB1A79141F83}"/>
                </a:ext>
              </a:extLst>
            </p:cNvPr>
            <p:cNvSpPr/>
            <p:nvPr/>
          </p:nvSpPr>
          <p:spPr>
            <a:xfrm flipH="1" flipV="1">
              <a:off x="5389343" y="24364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5228DC85-E00B-FED7-AE3C-8BF83DF01290}"/>
                </a:ext>
              </a:extLst>
            </p:cNvPr>
            <p:cNvSpPr/>
            <p:nvPr/>
          </p:nvSpPr>
          <p:spPr>
            <a:xfrm flipH="1" flipV="1">
              <a:off x="5389343" y="250898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9F73A1D9-8924-FAF6-F099-C8C36DD56F72}"/>
                </a:ext>
              </a:extLst>
            </p:cNvPr>
            <p:cNvSpPr/>
            <p:nvPr/>
          </p:nvSpPr>
          <p:spPr>
            <a:xfrm flipH="1" flipV="1">
              <a:off x="5389343" y="22912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3" name="Group 192">
            <a:extLst>
              <a:ext uri="{FF2B5EF4-FFF2-40B4-BE49-F238E27FC236}">
                <a16:creationId xmlns:a16="http://schemas.microsoft.com/office/drawing/2014/main" id="{C33A7AF8-796B-E714-9D2A-342DC79F94A7}"/>
              </a:ext>
            </a:extLst>
          </p:cNvPr>
          <p:cNvGrpSpPr/>
          <p:nvPr/>
        </p:nvGrpSpPr>
        <p:grpSpPr>
          <a:xfrm>
            <a:off x="5565441" y="2673520"/>
            <a:ext cx="45719" cy="263414"/>
            <a:chOff x="5389343" y="2291288"/>
            <a:chExt cx="45719" cy="263414"/>
          </a:xfrm>
        </p:grpSpPr>
        <p:sp>
          <p:nvSpPr>
            <p:cNvPr id="194" name="Oval 193">
              <a:extLst>
                <a:ext uri="{FF2B5EF4-FFF2-40B4-BE49-F238E27FC236}">
                  <a16:creationId xmlns:a16="http://schemas.microsoft.com/office/drawing/2014/main" id="{64C10B56-A8CE-7972-36C5-739A04ACD5CB}"/>
                </a:ext>
              </a:extLst>
            </p:cNvPr>
            <p:cNvSpPr/>
            <p:nvPr/>
          </p:nvSpPr>
          <p:spPr>
            <a:xfrm flipH="1" flipV="1">
              <a:off x="5389343" y="236385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2643D89B-5C05-E2A7-3B28-2B2BEC00A00C}"/>
                </a:ext>
              </a:extLst>
            </p:cNvPr>
            <p:cNvSpPr/>
            <p:nvPr/>
          </p:nvSpPr>
          <p:spPr>
            <a:xfrm flipH="1" flipV="1">
              <a:off x="5389343" y="24364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Oval 195">
              <a:extLst>
                <a:ext uri="{FF2B5EF4-FFF2-40B4-BE49-F238E27FC236}">
                  <a16:creationId xmlns:a16="http://schemas.microsoft.com/office/drawing/2014/main" id="{9B70D11D-A7AF-BF92-B062-A0FFCF1EBFDC}"/>
                </a:ext>
              </a:extLst>
            </p:cNvPr>
            <p:cNvSpPr/>
            <p:nvPr/>
          </p:nvSpPr>
          <p:spPr>
            <a:xfrm flipH="1" flipV="1">
              <a:off x="5389343" y="250898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a:extLst>
                <a:ext uri="{FF2B5EF4-FFF2-40B4-BE49-F238E27FC236}">
                  <a16:creationId xmlns:a16="http://schemas.microsoft.com/office/drawing/2014/main" id="{5FCF3F00-84DF-0418-2667-C2E94D8DB138}"/>
                </a:ext>
              </a:extLst>
            </p:cNvPr>
            <p:cNvSpPr/>
            <p:nvPr/>
          </p:nvSpPr>
          <p:spPr>
            <a:xfrm flipH="1" flipV="1">
              <a:off x="5389343" y="22912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8" name="Straight Connector 197">
            <a:extLst>
              <a:ext uri="{FF2B5EF4-FFF2-40B4-BE49-F238E27FC236}">
                <a16:creationId xmlns:a16="http://schemas.microsoft.com/office/drawing/2014/main" id="{568B9B65-FE08-BA50-A997-94595880AD44}"/>
              </a:ext>
            </a:extLst>
          </p:cNvPr>
          <p:cNvCxnSpPr>
            <a:cxnSpLocks/>
            <a:endCxn id="189" idx="6"/>
          </p:cNvCxnSpPr>
          <p:nvPr/>
        </p:nvCxnSpPr>
        <p:spPr>
          <a:xfrm>
            <a:off x="5309649" y="2696379"/>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199" name="Straight Connector 198">
            <a:extLst>
              <a:ext uri="{FF2B5EF4-FFF2-40B4-BE49-F238E27FC236}">
                <a16:creationId xmlns:a16="http://schemas.microsoft.com/office/drawing/2014/main" id="{503BA8F8-512A-634E-D73B-6E9B6E94555F}"/>
              </a:ext>
            </a:extLst>
          </p:cNvPr>
          <p:cNvCxnSpPr>
            <a:cxnSpLocks/>
            <a:stCxn id="185" idx="2"/>
            <a:endCxn id="190" idx="6"/>
          </p:cNvCxnSpPr>
          <p:nvPr/>
        </p:nvCxnSpPr>
        <p:spPr>
          <a:xfrm>
            <a:off x="5309649" y="2696379"/>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0" name="Straight Connector 199">
            <a:extLst>
              <a:ext uri="{FF2B5EF4-FFF2-40B4-BE49-F238E27FC236}">
                <a16:creationId xmlns:a16="http://schemas.microsoft.com/office/drawing/2014/main" id="{D2B00B35-CC49-1B7C-C5A9-FF1C0BA820C6}"/>
              </a:ext>
            </a:extLst>
          </p:cNvPr>
          <p:cNvCxnSpPr>
            <a:cxnSpLocks/>
            <a:stCxn id="185" idx="2"/>
            <a:endCxn id="191" idx="6"/>
          </p:cNvCxnSpPr>
          <p:nvPr/>
        </p:nvCxnSpPr>
        <p:spPr>
          <a:xfrm>
            <a:off x="5309649" y="2696379"/>
            <a:ext cx="105036" cy="21769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1" name="Straight Connector 200">
            <a:extLst>
              <a:ext uri="{FF2B5EF4-FFF2-40B4-BE49-F238E27FC236}">
                <a16:creationId xmlns:a16="http://schemas.microsoft.com/office/drawing/2014/main" id="{A325AD91-5EAD-2107-1C4A-7A9F6955311E}"/>
              </a:ext>
            </a:extLst>
          </p:cNvPr>
          <p:cNvCxnSpPr>
            <a:cxnSpLocks/>
            <a:stCxn id="168" idx="2"/>
            <a:endCxn id="192" idx="6"/>
          </p:cNvCxnSpPr>
          <p:nvPr/>
        </p:nvCxnSpPr>
        <p:spPr>
          <a:xfrm flipV="1">
            <a:off x="5309649" y="2696379"/>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2" name="Straight Connector 201">
            <a:extLst>
              <a:ext uri="{FF2B5EF4-FFF2-40B4-BE49-F238E27FC236}">
                <a16:creationId xmlns:a16="http://schemas.microsoft.com/office/drawing/2014/main" id="{DD95243D-BC36-AF0B-21FD-C5BA7E624DEB}"/>
              </a:ext>
            </a:extLst>
          </p:cNvPr>
          <p:cNvCxnSpPr>
            <a:cxnSpLocks/>
            <a:stCxn id="190" idx="6"/>
            <a:endCxn id="168" idx="2"/>
          </p:cNvCxnSpPr>
          <p:nvPr/>
        </p:nvCxnSpPr>
        <p:spPr>
          <a:xfrm flipH="1" flipV="1">
            <a:off x="5309649" y="2768944"/>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3" name="Straight Connector 202">
            <a:extLst>
              <a:ext uri="{FF2B5EF4-FFF2-40B4-BE49-F238E27FC236}">
                <a16:creationId xmlns:a16="http://schemas.microsoft.com/office/drawing/2014/main" id="{11E6ACAF-AEE6-1F58-7ED4-A4FB15968E8A}"/>
              </a:ext>
            </a:extLst>
          </p:cNvPr>
          <p:cNvCxnSpPr>
            <a:cxnSpLocks/>
            <a:stCxn id="191" idx="6"/>
            <a:endCxn id="168" idx="2"/>
          </p:cNvCxnSpPr>
          <p:nvPr/>
        </p:nvCxnSpPr>
        <p:spPr>
          <a:xfrm flipH="1" flipV="1">
            <a:off x="5309649" y="2768944"/>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989141A7-4DD0-95D3-44F4-16417DF5A00E}"/>
              </a:ext>
            </a:extLst>
          </p:cNvPr>
          <p:cNvCxnSpPr>
            <a:cxnSpLocks/>
            <a:stCxn id="192" idx="6"/>
            <a:endCxn id="169" idx="2"/>
          </p:cNvCxnSpPr>
          <p:nvPr/>
        </p:nvCxnSpPr>
        <p:spPr>
          <a:xfrm flipH="1">
            <a:off x="5309649" y="2696379"/>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98E7621E-C16B-6A26-32F8-B678E125F253}"/>
              </a:ext>
            </a:extLst>
          </p:cNvPr>
          <p:cNvCxnSpPr>
            <a:cxnSpLocks/>
            <a:stCxn id="189" idx="6"/>
            <a:endCxn id="169" idx="2"/>
          </p:cNvCxnSpPr>
          <p:nvPr/>
        </p:nvCxnSpPr>
        <p:spPr>
          <a:xfrm flipH="1">
            <a:off x="5309649" y="2768944"/>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8" name="Straight Connector 207">
            <a:extLst>
              <a:ext uri="{FF2B5EF4-FFF2-40B4-BE49-F238E27FC236}">
                <a16:creationId xmlns:a16="http://schemas.microsoft.com/office/drawing/2014/main" id="{E8C18174-24F0-5F99-62C9-E802D343F431}"/>
              </a:ext>
            </a:extLst>
          </p:cNvPr>
          <p:cNvCxnSpPr>
            <a:cxnSpLocks/>
            <a:stCxn id="191" idx="6"/>
            <a:endCxn id="169" idx="2"/>
          </p:cNvCxnSpPr>
          <p:nvPr/>
        </p:nvCxnSpPr>
        <p:spPr>
          <a:xfrm flipH="1" flipV="1">
            <a:off x="5309649" y="2841509"/>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83F4A162-F9F1-40AE-98AB-DCF727B8C0DC}"/>
              </a:ext>
            </a:extLst>
          </p:cNvPr>
          <p:cNvCxnSpPr>
            <a:cxnSpLocks/>
            <a:stCxn id="192" idx="6"/>
            <a:endCxn id="171" idx="2"/>
          </p:cNvCxnSpPr>
          <p:nvPr/>
        </p:nvCxnSpPr>
        <p:spPr>
          <a:xfrm flipH="1">
            <a:off x="5309649" y="2696379"/>
            <a:ext cx="105036" cy="21769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68CAA9B7-5289-8D6E-0CFD-8B61CB65D94F}"/>
              </a:ext>
            </a:extLst>
          </p:cNvPr>
          <p:cNvCxnSpPr>
            <a:cxnSpLocks/>
            <a:stCxn id="189" idx="6"/>
            <a:endCxn id="171" idx="2"/>
          </p:cNvCxnSpPr>
          <p:nvPr/>
        </p:nvCxnSpPr>
        <p:spPr>
          <a:xfrm flipH="1">
            <a:off x="5309649" y="2768944"/>
            <a:ext cx="105036"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11" name="Straight Connector 210">
            <a:extLst>
              <a:ext uri="{FF2B5EF4-FFF2-40B4-BE49-F238E27FC236}">
                <a16:creationId xmlns:a16="http://schemas.microsoft.com/office/drawing/2014/main" id="{F48CCB62-ED6D-099B-9A66-0168DA172DB3}"/>
              </a:ext>
            </a:extLst>
          </p:cNvPr>
          <p:cNvCxnSpPr>
            <a:cxnSpLocks/>
            <a:stCxn id="190" idx="6"/>
            <a:endCxn id="171" idx="2"/>
          </p:cNvCxnSpPr>
          <p:nvPr/>
        </p:nvCxnSpPr>
        <p:spPr>
          <a:xfrm flipH="1">
            <a:off x="5309649" y="2841509"/>
            <a:ext cx="105036"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12" name="Straight Connector 211">
            <a:extLst>
              <a:ext uri="{FF2B5EF4-FFF2-40B4-BE49-F238E27FC236}">
                <a16:creationId xmlns:a16="http://schemas.microsoft.com/office/drawing/2014/main" id="{2697919D-D305-91B8-E69C-B741434076E1}"/>
              </a:ext>
            </a:extLst>
          </p:cNvPr>
          <p:cNvCxnSpPr>
            <a:cxnSpLocks/>
            <a:stCxn id="197" idx="6"/>
            <a:endCxn id="190" idx="2"/>
          </p:cNvCxnSpPr>
          <p:nvPr/>
        </p:nvCxnSpPr>
        <p:spPr>
          <a:xfrm flipH="1">
            <a:off x="5460404" y="2696379"/>
            <a:ext cx="105037"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DBBABE8-9D48-8232-C016-45DEC92C9207}"/>
              </a:ext>
            </a:extLst>
          </p:cNvPr>
          <p:cNvCxnSpPr>
            <a:cxnSpLocks/>
            <a:stCxn id="194" idx="6"/>
            <a:endCxn id="190" idx="2"/>
          </p:cNvCxnSpPr>
          <p:nvPr/>
        </p:nvCxnSpPr>
        <p:spPr>
          <a:xfrm flipH="1">
            <a:off x="5460404" y="2768944"/>
            <a:ext cx="105037"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A0D0CF21-E40F-AECE-F183-B72D7D83C9D4}"/>
              </a:ext>
            </a:extLst>
          </p:cNvPr>
          <p:cNvCxnSpPr>
            <a:cxnSpLocks/>
            <a:stCxn id="194" idx="6"/>
            <a:endCxn id="192" idx="2"/>
          </p:cNvCxnSpPr>
          <p:nvPr/>
        </p:nvCxnSpPr>
        <p:spPr>
          <a:xfrm flipH="1" flipV="1">
            <a:off x="5460404" y="2696379"/>
            <a:ext cx="105037"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18" name="Straight Connector 217">
            <a:extLst>
              <a:ext uri="{FF2B5EF4-FFF2-40B4-BE49-F238E27FC236}">
                <a16:creationId xmlns:a16="http://schemas.microsoft.com/office/drawing/2014/main" id="{D26BF3C1-60C1-1F7D-0446-9244027A02A4}"/>
              </a:ext>
            </a:extLst>
          </p:cNvPr>
          <p:cNvCxnSpPr>
            <a:cxnSpLocks/>
            <a:stCxn id="195" idx="6"/>
          </p:cNvCxnSpPr>
          <p:nvPr/>
        </p:nvCxnSpPr>
        <p:spPr>
          <a:xfrm flipH="1" flipV="1">
            <a:off x="5464175" y="2695384"/>
            <a:ext cx="101266" cy="14612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F8802087-CB1C-F3F0-6AF1-88D567FF97C5}"/>
              </a:ext>
            </a:extLst>
          </p:cNvPr>
          <p:cNvCxnSpPr>
            <a:cxnSpLocks/>
            <a:stCxn id="197" idx="6"/>
            <a:endCxn id="189" idx="2"/>
          </p:cNvCxnSpPr>
          <p:nvPr/>
        </p:nvCxnSpPr>
        <p:spPr>
          <a:xfrm flipH="1">
            <a:off x="5460404" y="2696379"/>
            <a:ext cx="105037"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38" name="Straight Connector 237">
            <a:extLst>
              <a:ext uri="{FF2B5EF4-FFF2-40B4-BE49-F238E27FC236}">
                <a16:creationId xmlns:a16="http://schemas.microsoft.com/office/drawing/2014/main" id="{F163F07F-67DF-6DEE-7801-846D0A868F4B}"/>
              </a:ext>
            </a:extLst>
          </p:cNvPr>
          <p:cNvCxnSpPr>
            <a:cxnSpLocks/>
            <a:stCxn id="195" idx="6"/>
            <a:endCxn id="189" idx="2"/>
          </p:cNvCxnSpPr>
          <p:nvPr/>
        </p:nvCxnSpPr>
        <p:spPr>
          <a:xfrm flipH="1" flipV="1">
            <a:off x="5460404" y="2768944"/>
            <a:ext cx="105037"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43" name="Straight Connector 242">
            <a:extLst>
              <a:ext uri="{FF2B5EF4-FFF2-40B4-BE49-F238E27FC236}">
                <a16:creationId xmlns:a16="http://schemas.microsoft.com/office/drawing/2014/main" id="{94F59BAC-0D87-C578-E6BC-3637DB49C885}"/>
              </a:ext>
            </a:extLst>
          </p:cNvPr>
          <p:cNvCxnSpPr>
            <a:cxnSpLocks/>
            <a:stCxn id="194" idx="6"/>
            <a:endCxn id="190" idx="2"/>
          </p:cNvCxnSpPr>
          <p:nvPr/>
        </p:nvCxnSpPr>
        <p:spPr>
          <a:xfrm flipH="1">
            <a:off x="5460404" y="2768944"/>
            <a:ext cx="105037" cy="72565"/>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248" name="Straight Connector 247">
            <a:extLst>
              <a:ext uri="{FF2B5EF4-FFF2-40B4-BE49-F238E27FC236}">
                <a16:creationId xmlns:a16="http://schemas.microsoft.com/office/drawing/2014/main" id="{3AF14411-F9A1-4F17-5BE7-C6269F346594}"/>
              </a:ext>
            </a:extLst>
          </p:cNvPr>
          <p:cNvCxnSpPr>
            <a:cxnSpLocks/>
            <a:stCxn id="197" idx="6"/>
            <a:endCxn id="190" idx="2"/>
          </p:cNvCxnSpPr>
          <p:nvPr/>
        </p:nvCxnSpPr>
        <p:spPr>
          <a:xfrm flipH="1">
            <a:off x="5460404" y="2696379"/>
            <a:ext cx="105037" cy="145130"/>
          </a:xfrm>
          <a:prstGeom prst="line">
            <a:avLst/>
          </a:prstGeom>
          <a:ln w="3175">
            <a:solidFill>
              <a:srgbClr val="264444"/>
            </a:solidFill>
            <a:headEnd type="none"/>
          </a:ln>
        </p:spPr>
        <p:style>
          <a:lnRef idx="1">
            <a:schemeClr val="dk1"/>
          </a:lnRef>
          <a:fillRef idx="0">
            <a:schemeClr val="dk1"/>
          </a:fillRef>
          <a:effectRef idx="0">
            <a:schemeClr val="dk1"/>
          </a:effectRef>
          <a:fontRef idx="minor">
            <a:schemeClr val="tx1"/>
          </a:fontRef>
        </p:style>
      </p:cxnSp>
      <p:grpSp>
        <p:nvGrpSpPr>
          <p:cNvPr id="252" name="Group 251">
            <a:extLst>
              <a:ext uri="{FF2B5EF4-FFF2-40B4-BE49-F238E27FC236}">
                <a16:creationId xmlns:a16="http://schemas.microsoft.com/office/drawing/2014/main" id="{2417D088-5BEC-251E-553B-59EA1C52C635}"/>
              </a:ext>
            </a:extLst>
          </p:cNvPr>
          <p:cNvGrpSpPr/>
          <p:nvPr/>
        </p:nvGrpSpPr>
        <p:grpSpPr>
          <a:xfrm>
            <a:off x="5305050" y="3196595"/>
            <a:ext cx="45719" cy="263414"/>
            <a:chOff x="5236943" y="2138888"/>
            <a:chExt cx="45719" cy="263414"/>
          </a:xfrm>
        </p:grpSpPr>
        <p:sp>
          <p:nvSpPr>
            <p:cNvPr id="253" name="Oval 252">
              <a:extLst>
                <a:ext uri="{FF2B5EF4-FFF2-40B4-BE49-F238E27FC236}">
                  <a16:creationId xmlns:a16="http://schemas.microsoft.com/office/drawing/2014/main" id="{341AFE9C-D8E1-B9DD-1F21-A98B5C99536A}"/>
                </a:ext>
              </a:extLst>
            </p:cNvPr>
            <p:cNvSpPr/>
            <p:nvPr/>
          </p:nvSpPr>
          <p:spPr>
            <a:xfrm flipH="1" flipV="1">
              <a:off x="5236943" y="22114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a:extLst>
                <a:ext uri="{FF2B5EF4-FFF2-40B4-BE49-F238E27FC236}">
                  <a16:creationId xmlns:a16="http://schemas.microsoft.com/office/drawing/2014/main" id="{0C961935-7489-D5E0-DAFE-BC2989050B59}"/>
                </a:ext>
              </a:extLst>
            </p:cNvPr>
            <p:cNvSpPr/>
            <p:nvPr/>
          </p:nvSpPr>
          <p:spPr>
            <a:xfrm flipH="1" flipV="1">
              <a:off x="5236943" y="22840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41620D8D-4DB4-9A90-F94F-6756F6C7BF5C}"/>
                </a:ext>
              </a:extLst>
            </p:cNvPr>
            <p:cNvSpPr/>
            <p:nvPr/>
          </p:nvSpPr>
          <p:spPr>
            <a:xfrm flipH="1" flipV="1">
              <a:off x="5236943" y="235658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a:extLst>
                <a:ext uri="{FF2B5EF4-FFF2-40B4-BE49-F238E27FC236}">
                  <a16:creationId xmlns:a16="http://schemas.microsoft.com/office/drawing/2014/main" id="{BCC06442-3D6A-E830-3308-F44DE40EA53A}"/>
                </a:ext>
              </a:extLst>
            </p:cNvPr>
            <p:cNvSpPr/>
            <p:nvPr/>
          </p:nvSpPr>
          <p:spPr>
            <a:xfrm flipH="1" flipV="1">
              <a:off x="5236943" y="21388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9" name="Group 258">
            <a:extLst>
              <a:ext uri="{FF2B5EF4-FFF2-40B4-BE49-F238E27FC236}">
                <a16:creationId xmlns:a16="http://schemas.microsoft.com/office/drawing/2014/main" id="{CEEECA86-9CA9-7758-6F8B-5FB04BF425A0}"/>
              </a:ext>
            </a:extLst>
          </p:cNvPr>
          <p:cNvGrpSpPr/>
          <p:nvPr/>
        </p:nvGrpSpPr>
        <p:grpSpPr>
          <a:xfrm>
            <a:off x="5455805" y="3196595"/>
            <a:ext cx="45719" cy="263414"/>
            <a:chOff x="5389343" y="2291288"/>
            <a:chExt cx="45719" cy="263414"/>
          </a:xfrm>
        </p:grpSpPr>
        <p:sp>
          <p:nvSpPr>
            <p:cNvPr id="261" name="Oval 260">
              <a:extLst>
                <a:ext uri="{FF2B5EF4-FFF2-40B4-BE49-F238E27FC236}">
                  <a16:creationId xmlns:a16="http://schemas.microsoft.com/office/drawing/2014/main" id="{4A81BD61-348C-0869-D100-0F2B4408BF08}"/>
                </a:ext>
              </a:extLst>
            </p:cNvPr>
            <p:cNvSpPr/>
            <p:nvPr/>
          </p:nvSpPr>
          <p:spPr>
            <a:xfrm flipH="1" flipV="1">
              <a:off x="5389343" y="23638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a:extLst>
                <a:ext uri="{FF2B5EF4-FFF2-40B4-BE49-F238E27FC236}">
                  <a16:creationId xmlns:a16="http://schemas.microsoft.com/office/drawing/2014/main" id="{7656BEDA-5BCF-5D69-845C-81EF5294E82D}"/>
                </a:ext>
              </a:extLst>
            </p:cNvPr>
            <p:cNvSpPr/>
            <p:nvPr/>
          </p:nvSpPr>
          <p:spPr>
            <a:xfrm flipH="1" flipV="1">
              <a:off x="5389343" y="24364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a:extLst>
                <a:ext uri="{FF2B5EF4-FFF2-40B4-BE49-F238E27FC236}">
                  <a16:creationId xmlns:a16="http://schemas.microsoft.com/office/drawing/2014/main" id="{2E748699-1C31-4B2E-D48A-C9B09B556792}"/>
                </a:ext>
              </a:extLst>
            </p:cNvPr>
            <p:cNvSpPr/>
            <p:nvPr/>
          </p:nvSpPr>
          <p:spPr>
            <a:xfrm flipH="1" flipV="1">
              <a:off x="5389343" y="250898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a:extLst>
                <a:ext uri="{FF2B5EF4-FFF2-40B4-BE49-F238E27FC236}">
                  <a16:creationId xmlns:a16="http://schemas.microsoft.com/office/drawing/2014/main" id="{09199F98-A6BF-74F2-5293-46F2F518A0D5}"/>
                </a:ext>
              </a:extLst>
            </p:cNvPr>
            <p:cNvSpPr/>
            <p:nvPr/>
          </p:nvSpPr>
          <p:spPr>
            <a:xfrm flipH="1" flipV="1">
              <a:off x="5389343" y="22912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 name="Group 266">
            <a:extLst>
              <a:ext uri="{FF2B5EF4-FFF2-40B4-BE49-F238E27FC236}">
                <a16:creationId xmlns:a16="http://schemas.microsoft.com/office/drawing/2014/main" id="{FF7C3912-9837-CEA2-2082-B5A110E88384}"/>
              </a:ext>
            </a:extLst>
          </p:cNvPr>
          <p:cNvGrpSpPr/>
          <p:nvPr/>
        </p:nvGrpSpPr>
        <p:grpSpPr>
          <a:xfrm>
            <a:off x="5606561" y="3196595"/>
            <a:ext cx="45719" cy="263414"/>
            <a:chOff x="5389343" y="2291288"/>
            <a:chExt cx="45719" cy="263414"/>
          </a:xfrm>
        </p:grpSpPr>
        <p:sp>
          <p:nvSpPr>
            <p:cNvPr id="268" name="Oval 267">
              <a:extLst>
                <a:ext uri="{FF2B5EF4-FFF2-40B4-BE49-F238E27FC236}">
                  <a16:creationId xmlns:a16="http://schemas.microsoft.com/office/drawing/2014/main" id="{3EF5F1BA-0ECF-3C58-4F2F-FA5D38B4E744}"/>
                </a:ext>
              </a:extLst>
            </p:cNvPr>
            <p:cNvSpPr/>
            <p:nvPr/>
          </p:nvSpPr>
          <p:spPr>
            <a:xfrm flipH="1" flipV="1">
              <a:off x="5389343" y="23638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A7B5B3D3-BC91-7D75-4E8A-0AB63DD39567}"/>
                </a:ext>
              </a:extLst>
            </p:cNvPr>
            <p:cNvSpPr/>
            <p:nvPr/>
          </p:nvSpPr>
          <p:spPr>
            <a:xfrm flipH="1" flipV="1">
              <a:off x="5389343" y="2436418"/>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1" name="Oval 270">
              <a:extLst>
                <a:ext uri="{FF2B5EF4-FFF2-40B4-BE49-F238E27FC236}">
                  <a16:creationId xmlns:a16="http://schemas.microsoft.com/office/drawing/2014/main" id="{8DB3889C-DCC4-112E-9C59-2F1A6AC7DD67}"/>
                </a:ext>
              </a:extLst>
            </p:cNvPr>
            <p:cNvSpPr/>
            <p:nvPr/>
          </p:nvSpPr>
          <p:spPr>
            <a:xfrm flipH="1" flipV="1">
              <a:off x="5389343" y="250898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6EFE4A2B-DF50-AB36-A495-7A3EED367438}"/>
                </a:ext>
              </a:extLst>
            </p:cNvPr>
            <p:cNvSpPr/>
            <p:nvPr/>
          </p:nvSpPr>
          <p:spPr>
            <a:xfrm flipH="1" flipV="1">
              <a:off x="5389343" y="22912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27" name="Straight Connector 326">
            <a:extLst>
              <a:ext uri="{FF2B5EF4-FFF2-40B4-BE49-F238E27FC236}">
                <a16:creationId xmlns:a16="http://schemas.microsoft.com/office/drawing/2014/main" id="{7CCCABCB-DF7E-3945-42E9-F6504857C969}"/>
              </a:ext>
            </a:extLst>
          </p:cNvPr>
          <p:cNvCxnSpPr>
            <a:cxnSpLocks/>
          </p:cNvCxnSpPr>
          <p:nvPr/>
        </p:nvCxnSpPr>
        <p:spPr>
          <a:xfrm>
            <a:off x="5243130" y="3183846"/>
            <a:ext cx="0" cy="329072"/>
          </a:xfrm>
          <a:prstGeom prst="line">
            <a:avLst/>
          </a:prstGeom>
          <a:ln w="9525">
            <a:solidFill>
              <a:srgbClr val="264444"/>
            </a:solidFill>
            <a:headEnd type="none" w="med" len="med"/>
            <a:tailEnd type="triangle" w="sm" len="sm"/>
          </a:ln>
        </p:spPr>
        <p:style>
          <a:lnRef idx="1">
            <a:schemeClr val="dk1"/>
          </a:lnRef>
          <a:fillRef idx="0">
            <a:schemeClr val="dk1"/>
          </a:fillRef>
          <a:effectRef idx="0">
            <a:schemeClr val="dk1"/>
          </a:effectRef>
          <a:fontRef idx="minor">
            <a:schemeClr val="tx1"/>
          </a:fontRef>
        </p:style>
      </p:cxnSp>
      <p:cxnSp>
        <p:nvCxnSpPr>
          <p:cNvPr id="328" name="Straight Connector 327">
            <a:extLst>
              <a:ext uri="{FF2B5EF4-FFF2-40B4-BE49-F238E27FC236}">
                <a16:creationId xmlns:a16="http://schemas.microsoft.com/office/drawing/2014/main" id="{F3A82B9F-03E2-06CD-7C74-E6CDAA220A74}"/>
              </a:ext>
            </a:extLst>
          </p:cNvPr>
          <p:cNvCxnSpPr>
            <a:cxnSpLocks/>
          </p:cNvCxnSpPr>
          <p:nvPr/>
        </p:nvCxnSpPr>
        <p:spPr>
          <a:xfrm>
            <a:off x="5270500" y="3333155"/>
            <a:ext cx="425450" cy="0"/>
          </a:xfrm>
          <a:prstGeom prst="line">
            <a:avLst/>
          </a:prstGeom>
          <a:ln w="9525">
            <a:solidFill>
              <a:srgbClr val="264444"/>
            </a:solidFill>
            <a:prstDash val="sysDot"/>
            <a:headEnd type="none"/>
          </a:ln>
        </p:spPr>
        <p:style>
          <a:lnRef idx="1">
            <a:schemeClr val="dk1"/>
          </a:lnRef>
          <a:fillRef idx="0">
            <a:schemeClr val="dk1"/>
          </a:fillRef>
          <a:effectRef idx="0">
            <a:schemeClr val="dk1"/>
          </a:effectRef>
          <a:fontRef idx="minor">
            <a:schemeClr val="tx1"/>
          </a:fontRef>
        </p:style>
      </p:cxnSp>
      <p:cxnSp>
        <p:nvCxnSpPr>
          <p:cNvPr id="338" name="Straight Connector 337">
            <a:extLst>
              <a:ext uri="{FF2B5EF4-FFF2-40B4-BE49-F238E27FC236}">
                <a16:creationId xmlns:a16="http://schemas.microsoft.com/office/drawing/2014/main" id="{8D4DB8DB-D3D9-DE74-90FF-E2A3AA481459}"/>
              </a:ext>
            </a:extLst>
          </p:cNvPr>
          <p:cNvCxnSpPr>
            <a:cxnSpLocks/>
          </p:cNvCxnSpPr>
          <p:nvPr/>
        </p:nvCxnSpPr>
        <p:spPr>
          <a:xfrm>
            <a:off x="3304235" y="3806825"/>
            <a:ext cx="0" cy="235844"/>
          </a:xfrm>
          <a:prstGeom prst="line">
            <a:avLst/>
          </a:prstGeom>
          <a:ln w="9525">
            <a:solidFill>
              <a:schemeClr val="bg1"/>
            </a:solidFill>
            <a:prstDash val="sysDot"/>
            <a:headEnd type="none"/>
          </a:ln>
        </p:spPr>
        <p:style>
          <a:lnRef idx="1">
            <a:schemeClr val="dk1"/>
          </a:lnRef>
          <a:fillRef idx="0">
            <a:schemeClr val="dk1"/>
          </a:fillRef>
          <a:effectRef idx="0">
            <a:schemeClr val="dk1"/>
          </a:effectRef>
          <a:fontRef idx="minor">
            <a:schemeClr val="tx1"/>
          </a:fontRef>
        </p:style>
      </p:cxnSp>
      <p:sp>
        <p:nvSpPr>
          <p:cNvPr id="505" name="Freeform 504">
            <a:extLst>
              <a:ext uri="{FF2B5EF4-FFF2-40B4-BE49-F238E27FC236}">
                <a16:creationId xmlns:a16="http://schemas.microsoft.com/office/drawing/2014/main" id="{7627DFFE-0C5B-FA46-4255-0D4919A5F179}"/>
              </a:ext>
            </a:extLst>
          </p:cNvPr>
          <p:cNvSpPr/>
          <p:nvPr/>
        </p:nvSpPr>
        <p:spPr>
          <a:xfrm>
            <a:off x="3135697" y="3697692"/>
            <a:ext cx="432079" cy="341802"/>
          </a:xfrm>
          <a:custGeom>
            <a:avLst/>
            <a:gdLst>
              <a:gd name="csX0" fmla="*/ 0 w 432079"/>
              <a:gd name="csY0" fmla="*/ 341651 h 341802"/>
              <a:gd name="csX1" fmla="*/ 105508 w 432079"/>
              <a:gd name="csY1" fmla="*/ 7 h 341802"/>
              <a:gd name="csX2" fmla="*/ 261257 w 432079"/>
              <a:gd name="csY2" fmla="*/ 331602 h 341802"/>
              <a:gd name="csX3" fmla="*/ 432079 w 432079"/>
              <a:gd name="csY3" fmla="*/ 261264 h 341802"/>
            </a:gdLst>
            <a:ahLst/>
            <a:cxnLst>
              <a:cxn ang="0">
                <a:pos x="csX0" y="csY0"/>
              </a:cxn>
              <a:cxn ang="0">
                <a:pos x="csX1" y="csY1"/>
              </a:cxn>
              <a:cxn ang="0">
                <a:pos x="csX2" y="csY2"/>
              </a:cxn>
              <a:cxn ang="0">
                <a:pos x="csX3" y="csY3"/>
              </a:cxn>
            </a:cxnLst>
            <a:rect l="l" t="t" r="r" b="b"/>
            <a:pathLst>
              <a:path w="432079" h="341802">
                <a:moveTo>
                  <a:pt x="0" y="341651"/>
                </a:moveTo>
                <a:cubicBezTo>
                  <a:pt x="30982" y="171666"/>
                  <a:pt x="61965" y="1682"/>
                  <a:pt x="105508" y="7"/>
                </a:cubicBezTo>
                <a:cubicBezTo>
                  <a:pt x="149051" y="-1668"/>
                  <a:pt x="206829" y="288059"/>
                  <a:pt x="261257" y="331602"/>
                </a:cubicBezTo>
                <a:cubicBezTo>
                  <a:pt x="315685" y="375145"/>
                  <a:pt x="379325" y="265451"/>
                  <a:pt x="432079" y="26126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0" name="Rounded Rectangle 339">
            <a:extLst>
              <a:ext uri="{FF2B5EF4-FFF2-40B4-BE49-F238E27FC236}">
                <a16:creationId xmlns:a16="http://schemas.microsoft.com/office/drawing/2014/main" id="{3CFB7339-6A45-85FD-98F2-F3C6297ECF96}"/>
              </a:ext>
            </a:extLst>
          </p:cNvPr>
          <p:cNvSpPr/>
          <p:nvPr/>
        </p:nvSpPr>
        <p:spPr>
          <a:xfrm>
            <a:off x="6353006" y="3096650"/>
            <a:ext cx="1636829" cy="447458"/>
          </a:xfrm>
          <a:prstGeom prst="roundRect">
            <a:avLst>
              <a:gd name="adj" fmla="val 3598"/>
            </a:avLst>
          </a:prstGeom>
          <a:solidFill>
            <a:srgbClr val="DAC1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41" name="TextBox 340">
            <a:extLst>
              <a:ext uri="{FF2B5EF4-FFF2-40B4-BE49-F238E27FC236}">
                <a16:creationId xmlns:a16="http://schemas.microsoft.com/office/drawing/2014/main" id="{DC376A9F-AAA6-1361-8EFB-DE7A932D16A4}"/>
              </a:ext>
            </a:extLst>
          </p:cNvPr>
          <p:cNvSpPr txBox="1"/>
          <p:nvPr/>
        </p:nvSpPr>
        <p:spPr>
          <a:xfrm>
            <a:off x="6366273" y="3092351"/>
            <a:ext cx="1075885" cy="461665"/>
          </a:xfrm>
          <a:prstGeom prst="rect">
            <a:avLst/>
          </a:prstGeom>
          <a:noFill/>
        </p:spPr>
        <p:txBody>
          <a:bodyPr wrap="square">
            <a:spAutoFit/>
          </a:bodyPr>
          <a:lstStyle/>
          <a:p>
            <a:r>
              <a:rPr lang="en-US" sz="1200" dirty="0">
                <a:solidFill>
                  <a:schemeClr val="bg1"/>
                </a:solidFill>
                <a:latin typeface="Aptos" panose="020B0004020202020204" pitchFamily="34" charset="0"/>
              </a:rPr>
              <a:t>Decision Tree Importance</a:t>
            </a:r>
            <a:endParaRPr lang="en-US" sz="1200" b="0" noProof="0" dirty="0">
              <a:solidFill>
                <a:schemeClr val="bg1"/>
              </a:solidFill>
              <a:latin typeface="Aptos" panose="020B0004020202020204" pitchFamily="34" charset="0"/>
            </a:endParaRPr>
          </a:p>
        </p:txBody>
      </p:sp>
      <p:sp>
        <p:nvSpPr>
          <p:cNvPr id="349" name="Rounded Rectangle 348">
            <a:extLst>
              <a:ext uri="{FF2B5EF4-FFF2-40B4-BE49-F238E27FC236}">
                <a16:creationId xmlns:a16="http://schemas.microsoft.com/office/drawing/2014/main" id="{FA530CDA-DD57-F0BD-1B73-5D7F7CC9064E}"/>
              </a:ext>
            </a:extLst>
          </p:cNvPr>
          <p:cNvSpPr/>
          <p:nvPr/>
        </p:nvSpPr>
        <p:spPr>
          <a:xfrm rot="18900000">
            <a:off x="7637735" y="2171156"/>
            <a:ext cx="203048" cy="203048"/>
          </a:xfrm>
          <a:prstGeom prst="roundRect">
            <a:avLst>
              <a:gd name="adj" fmla="val 748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2" name="Straight Connector 351">
            <a:extLst>
              <a:ext uri="{FF2B5EF4-FFF2-40B4-BE49-F238E27FC236}">
                <a16:creationId xmlns:a16="http://schemas.microsoft.com/office/drawing/2014/main" id="{4AEAFC4C-F565-DB41-12F9-94BE9DD372AD}"/>
              </a:ext>
            </a:extLst>
          </p:cNvPr>
          <p:cNvCxnSpPr>
            <a:cxnSpLocks/>
          </p:cNvCxnSpPr>
          <p:nvPr/>
        </p:nvCxnSpPr>
        <p:spPr>
          <a:xfrm flipH="1">
            <a:off x="7618850" y="3250116"/>
            <a:ext cx="87134" cy="75400"/>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353" name="Oval 352">
            <a:extLst>
              <a:ext uri="{FF2B5EF4-FFF2-40B4-BE49-F238E27FC236}">
                <a16:creationId xmlns:a16="http://schemas.microsoft.com/office/drawing/2014/main" id="{35A22248-1284-E4B2-F2A2-9F2193C872F9}"/>
              </a:ext>
            </a:extLst>
          </p:cNvPr>
          <p:cNvSpPr/>
          <p:nvPr/>
        </p:nvSpPr>
        <p:spPr>
          <a:xfrm flipV="1">
            <a:off x="7601173" y="3302657"/>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4" name="Straight Connector 353">
            <a:extLst>
              <a:ext uri="{FF2B5EF4-FFF2-40B4-BE49-F238E27FC236}">
                <a16:creationId xmlns:a16="http://schemas.microsoft.com/office/drawing/2014/main" id="{CD3CF088-E8DC-9CF3-AD93-45E15FCDD759}"/>
              </a:ext>
            </a:extLst>
          </p:cNvPr>
          <p:cNvCxnSpPr>
            <a:cxnSpLocks/>
          </p:cNvCxnSpPr>
          <p:nvPr/>
        </p:nvCxnSpPr>
        <p:spPr>
          <a:xfrm>
            <a:off x="7705984" y="3250116"/>
            <a:ext cx="87134" cy="75400"/>
          </a:xfrm>
          <a:prstGeom prst="line">
            <a:avLst/>
          </a:prstGeom>
          <a:ln w="9525">
            <a:solidFill>
              <a:srgbClr val="694523"/>
            </a:solidFill>
            <a:headEnd type="none"/>
          </a:ln>
        </p:spPr>
        <p:style>
          <a:lnRef idx="1">
            <a:schemeClr val="dk1"/>
          </a:lnRef>
          <a:fillRef idx="0">
            <a:schemeClr val="dk1"/>
          </a:fillRef>
          <a:effectRef idx="0">
            <a:schemeClr val="dk1"/>
          </a:effectRef>
          <a:fontRef idx="minor">
            <a:schemeClr val="tx1"/>
          </a:fontRef>
        </p:style>
      </p:cxnSp>
      <p:cxnSp>
        <p:nvCxnSpPr>
          <p:cNvPr id="355" name="Straight Connector 354">
            <a:extLst>
              <a:ext uri="{FF2B5EF4-FFF2-40B4-BE49-F238E27FC236}">
                <a16:creationId xmlns:a16="http://schemas.microsoft.com/office/drawing/2014/main" id="{DF48A68D-FD53-7255-A0CD-A56E34E6A6B9}"/>
              </a:ext>
            </a:extLst>
          </p:cNvPr>
          <p:cNvCxnSpPr>
            <a:cxnSpLocks/>
          </p:cNvCxnSpPr>
          <p:nvPr/>
        </p:nvCxnSpPr>
        <p:spPr>
          <a:xfrm>
            <a:off x="7620338" y="3332290"/>
            <a:ext cx="66840" cy="68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cxnSp>
        <p:nvCxnSpPr>
          <p:cNvPr id="356" name="Straight Connector 355">
            <a:extLst>
              <a:ext uri="{FF2B5EF4-FFF2-40B4-BE49-F238E27FC236}">
                <a16:creationId xmlns:a16="http://schemas.microsoft.com/office/drawing/2014/main" id="{819695A5-9FC4-987E-C277-18197F2CF096}"/>
              </a:ext>
            </a:extLst>
          </p:cNvPr>
          <p:cNvCxnSpPr>
            <a:cxnSpLocks/>
            <a:endCxn id="357" idx="1"/>
          </p:cNvCxnSpPr>
          <p:nvPr/>
        </p:nvCxnSpPr>
        <p:spPr>
          <a:xfrm flipH="1">
            <a:off x="7557037" y="3337122"/>
            <a:ext cx="66840" cy="68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357" name="Oval 356">
            <a:extLst>
              <a:ext uri="{FF2B5EF4-FFF2-40B4-BE49-F238E27FC236}">
                <a16:creationId xmlns:a16="http://schemas.microsoft.com/office/drawing/2014/main" id="{1561B387-ED19-E206-9F9C-A67CFE2227B0}"/>
              </a:ext>
            </a:extLst>
          </p:cNvPr>
          <p:cNvSpPr/>
          <p:nvPr/>
        </p:nvSpPr>
        <p:spPr>
          <a:xfrm flipV="1">
            <a:off x="7550342" y="336648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Oval 357">
            <a:extLst>
              <a:ext uri="{FF2B5EF4-FFF2-40B4-BE49-F238E27FC236}">
                <a16:creationId xmlns:a16="http://schemas.microsoft.com/office/drawing/2014/main" id="{25AFC6B4-8C8A-14C5-A472-55053FB5EAB1}"/>
              </a:ext>
            </a:extLst>
          </p:cNvPr>
          <p:cNvSpPr/>
          <p:nvPr/>
        </p:nvSpPr>
        <p:spPr>
          <a:xfrm flipV="1">
            <a:off x="7655153" y="336648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9" name="Straight Connector 358">
            <a:extLst>
              <a:ext uri="{FF2B5EF4-FFF2-40B4-BE49-F238E27FC236}">
                <a16:creationId xmlns:a16="http://schemas.microsoft.com/office/drawing/2014/main" id="{5333B6E8-1ABC-9B67-0EA1-1248FB209606}"/>
              </a:ext>
            </a:extLst>
          </p:cNvPr>
          <p:cNvCxnSpPr>
            <a:cxnSpLocks/>
          </p:cNvCxnSpPr>
          <p:nvPr/>
        </p:nvCxnSpPr>
        <p:spPr>
          <a:xfrm>
            <a:off x="7784654" y="3332290"/>
            <a:ext cx="66840" cy="68385"/>
          </a:xfrm>
          <a:prstGeom prst="line">
            <a:avLst/>
          </a:prstGeom>
          <a:ln w="9525">
            <a:solidFill>
              <a:srgbClr val="694523"/>
            </a:solidFill>
            <a:headEnd type="none"/>
          </a:ln>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6F0280C1-A9C0-D61A-9B9D-73A2B2AD9419}"/>
              </a:ext>
            </a:extLst>
          </p:cNvPr>
          <p:cNvCxnSpPr>
            <a:cxnSpLocks/>
            <a:endCxn id="363" idx="1"/>
          </p:cNvCxnSpPr>
          <p:nvPr/>
        </p:nvCxnSpPr>
        <p:spPr>
          <a:xfrm flipH="1">
            <a:off x="7721353" y="3337122"/>
            <a:ext cx="66840" cy="68385"/>
          </a:xfrm>
          <a:prstGeom prst="line">
            <a:avLst/>
          </a:prstGeom>
          <a:ln w="9525">
            <a:solidFill>
              <a:srgbClr val="694523"/>
            </a:solidFill>
            <a:headEnd type="none"/>
          </a:ln>
        </p:spPr>
        <p:style>
          <a:lnRef idx="1">
            <a:schemeClr val="dk1"/>
          </a:lnRef>
          <a:fillRef idx="0">
            <a:schemeClr val="dk1"/>
          </a:fillRef>
          <a:effectRef idx="0">
            <a:schemeClr val="dk1"/>
          </a:effectRef>
          <a:fontRef idx="minor">
            <a:schemeClr val="tx1"/>
          </a:fontRef>
        </p:style>
      </p:cxnSp>
      <p:sp>
        <p:nvSpPr>
          <p:cNvPr id="363" name="Oval 362">
            <a:extLst>
              <a:ext uri="{FF2B5EF4-FFF2-40B4-BE49-F238E27FC236}">
                <a16:creationId xmlns:a16="http://schemas.microsoft.com/office/drawing/2014/main" id="{96EBBBE4-8766-C1BC-D261-4D71C3EEDEDA}"/>
              </a:ext>
            </a:extLst>
          </p:cNvPr>
          <p:cNvSpPr/>
          <p:nvPr/>
        </p:nvSpPr>
        <p:spPr>
          <a:xfrm flipV="1">
            <a:off x="7714658" y="3366483"/>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C9D06FD1-428A-0BC3-1F1E-E4343CF72829}"/>
              </a:ext>
            </a:extLst>
          </p:cNvPr>
          <p:cNvSpPr/>
          <p:nvPr/>
        </p:nvSpPr>
        <p:spPr>
          <a:xfrm flipV="1">
            <a:off x="7819469" y="3366483"/>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Oval 365">
            <a:extLst>
              <a:ext uri="{FF2B5EF4-FFF2-40B4-BE49-F238E27FC236}">
                <a16:creationId xmlns:a16="http://schemas.microsoft.com/office/drawing/2014/main" id="{3659238B-3ED1-4B84-8589-8678B0602785}"/>
              </a:ext>
            </a:extLst>
          </p:cNvPr>
          <p:cNvSpPr/>
          <p:nvPr/>
        </p:nvSpPr>
        <p:spPr>
          <a:xfrm flipV="1">
            <a:off x="7678877" y="3225749"/>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64DCF445-2296-39A2-FF45-FAFAE2284CE6}"/>
              </a:ext>
            </a:extLst>
          </p:cNvPr>
          <p:cNvSpPr/>
          <p:nvPr/>
        </p:nvSpPr>
        <p:spPr>
          <a:xfrm flipH="1" flipV="1">
            <a:off x="7765076" y="3302657"/>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4" name="Group 373">
            <a:extLst>
              <a:ext uri="{FF2B5EF4-FFF2-40B4-BE49-F238E27FC236}">
                <a16:creationId xmlns:a16="http://schemas.microsoft.com/office/drawing/2014/main" id="{1BBD6A29-C175-AF2D-47DD-3F435E0F908C}"/>
              </a:ext>
            </a:extLst>
          </p:cNvPr>
          <p:cNvGrpSpPr/>
          <p:nvPr/>
        </p:nvGrpSpPr>
        <p:grpSpPr>
          <a:xfrm>
            <a:off x="7611136" y="2639569"/>
            <a:ext cx="283432" cy="283432"/>
            <a:chOff x="7611136" y="2630044"/>
            <a:chExt cx="283432" cy="283432"/>
          </a:xfrm>
        </p:grpSpPr>
        <p:sp>
          <p:nvSpPr>
            <p:cNvPr id="372" name="Rounded Rectangle 371">
              <a:extLst>
                <a:ext uri="{FF2B5EF4-FFF2-40B4-BE49-F238E27FC236}">
                  <a16:creationId xmlns:a16="http://schemas.microsoft.com/office/drawing/2014/main" id="{B305D527-D1B7-CF45-CAC2-F461F3399144}"/>
                </a:ext>
              </a:extLst>
            </p:cNvPr>
            <p:cNvSpPr/>
            <p:nvPr/>
          </p:nvSpPr>
          <p:spPr>
            <a:xfrm>
              <a:off x="7727452" y="2630044"/>
              <a:ext cx="50800" cy="283432"/>
            </a:xfrm>
            <a:prstGeom prst="roundRect">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ounded Rectangle 372">
              <a:extLst>
                <a:ext uri="{FF2B5EF4-FFF2-40B4-BE49-F238E27FC236}">
                  <a16:creationId xmlns:a16="http://schemas.microsoft.com/office/drawing/2014/main" id="{3D94F2CC-DADB-E4F2-72C8-4359A59CAF2D}"/>
                </a:ext>
              </a:extLst>
            </p:cNvPr>
            <p:cNvSpPr/>
            <p:nvPr/>
          </p:nvSpPr>
          <p:spPr>
            <a:xfrm rot="16200000">
              <a:off x="7727452" y="2630045"/>
              <a:ext cx="50800" cy="283432"/>
            </a:xfrm>
            <a:prstGeom prst="roundRect">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1" name="Rounded Rectangle 380">
            <a:extLst>
              <a:ext uri="{FF2B5EF4-FFF2-40B4-BE49-F238E27FC236}">
                <a16:creationId xmlns:a16="http://schemas.microsoft.com/office/drawing/2014/main" id="{12DCE091-0E7C-D665-3F14-C4C4FA893EDA}"/>
              </a:ext>
            </a:extLst>
          </p:cNvPr>
          <p:cNvSpPr/>
          <p:nvPr/>
        </p:nvSpPr>
        <p:spPr>
          <a:xfrm>
            <a:off x="6350612" y="3631808"/>
            <a:ext cx="1636829" cy="447458"/>
          </a:xfrm>
          <a:prstGeom prst="roundRect">
            <a:avLst>
              <a:gd name="adj" fmla="val 3598"/>
            </a:avLst>
          </a:prstGeom>
          <a:solidFill>
            <a:srgbClr val="DAC1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82" name="TextBox 381">
            <a:extLst>
              <a:ext uri="{FF2B5EF4-FFF2-40B4-BE49-F238E27FC236}">
                <a16:creationId xmlns:a16="http://schemas.microsoft.com/office/drawing/2014/main" id="{A686DA7E-F007-5B93-6029-5FD804143AE3}"/>
              </a:ext>
            </a:extLst>
          </p:cNvPr>
          <p:cNvSpPr txBox="1"/>
          <p:nvPr/>
        </p:nvSpPr>
        <p:spPr>
          <a:xfrm>
            <a:off x="6363879" y="3627509"/>
            <a:ext cx="1303746" cy="430887"/>
          </a:xfrm>
          <a:prstGeom prst="rect">
            <a:avLst/>
          </a:prstGeom>
          <a:noFill/>
        </p:spPr>
        <p:txBody>
          <a:bodyPr wrap="square">
            <a:spAutoFit/>
          </a:bodyPr>
          <a:lstStyle/>
          <a:p>
            <a:r>
              <a:rPr lang="en-US" sz="1100" dirty="0">
                <a:solidFill>
                  <a:schemeClr val="bg1"/>
                </a:solidFill>
                <a:latin typeface="Aptos" panose="020B0004020202020204" pitchFamily="34" charset="0"/>
              </a:rPr>
              <a:t>Gradient Boosting Importance</a:t>
            </a:r>
            <a:endParaRPr lang="en-US" sz="1100" b="0" noProof="0" dirty="0">
              <a:solidFill>
                <a:schemeClr val="bg1"/>
              </a:solidFill>
              <a:latin typeface="Aptos" panose="020B0004020202020204" pitchFamily="34" charset="0"/>
            </a:endParaRPr>
          </a:p>
        </p:txBody>
      </p:sp>
      <p:sp>
        <p:nvSpPr>
          <p:cNvPr id="418" name="Rounded Rectangle 417">
            <a:extLst>
              <a:ext uri="{FF2B5EF4-FFF2-40B4-BE49-F238E27FC236}">
                <a16:creationId xmlns:a16="http://schemas.microsoft.com/office/drawing/2014/main" id="{2E419EA0-6FA0-7291-8519-1F63BA7DC688}"/>
              </a:ext>
            </a:extLst>
          </p:cNvPr>
          <p:cNvSpPr/>
          <p:nvPr/>
        </p:nvSpPr>
        <p:spPr>
          <a:xfrm>
            <a:off x="6350612" y="4156093"/>
            <a:ext cx="1636829" cy="447458"/>
          </a:xfrm>
          <a:prstGeom prst="roundRect">
            <a:avLst>
              <a:gd name="adj" fmla="val 3598"/>
            </a:avLst>
          </a:prstGeom>
          <a:solidFill>
            <a:srgbClr val="DAC1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20" name="TextBox 419">
            <a:extLst>
              <a:ext uri="{FF2B5EF4-FFF2-40B4-BE49-F238E27FC236}">
                <a16:creationId xmlns:a16="http://schemas.microsoft.com/office/drawing/2014/main" id="{7C755234-D3BF-AF3F-8497-62B758BFBB76}"/>
              </a:ext>
            </a:extLst>
          </p:cNvPr>
          <p:cNvSpPr txBox="1"/>
          <p:nvPr/>
        </p:nvSpPr>
        <p:spPr>
          <a:xfrm>
            <a:off x="6348228" y="4232087"/>
            <a:ext cx="1241047" cy="307777"/>
          </a:xfrm>
          <a:prstGeom prst="rect">
            <a:avLst/>
          </a:prstGeom>
          <a:noFill/>
        </p:spPr>
        <p:txBody>
          <a:bodyPr wrap="square">
            <a:spAutoFit/>
          </a:bodyPr>
          <a:lstStyle/>
          <a:p>
            <a:r>
              <a:rPr lang="en-US" sz="1400" dirty="0">
                <a:solidFill>
                  <a:schemeClr val="bg1"/>
                </a:solidFill>
                <a:latin typeface="Aptos" panose="020B0004020202020204" pitchFamily="34" charset="0"/>
              </a:rPr>
              <a:t>RFE</a:t>
            </a:r>
            <a:endParaRPr lang="en-US" sz="1400" b="0" noProof="0" dirty="0">
              <a:solidFill>
                <a:schemeClr val="bg1"/>
              </a:solidFill>
              <a:latin typeface="Aptos" panose="020B0004020202020204" pitchFamily="34" charset="0"/>
            </a:endParaRPr>
          </a:p>
        </p:txBody>
      </p:sp>
      <p:grpSp>
        <p:nvGrpSpPr>
          <p:cNvPr id="421" name="Group 420">
            <a:extLst>
              <a:ext uri="{FF2B5EF4-FFF2-40B4-BE49-F238E27FC236}">
                <a16:creationId xmlns:a16="http://schemas.microsoft.com/office/drawing/2014/main" id="{9B9F1C52-7162-636E-42B3-E82CA6CD9A47}"/>
              </a:ext>
            </a:extLst>
          </p:cNvPr>
          <p:cNvGrpSpPr/>
          <p:nvPr/>
        </p:nvGrpSpPr>
        <p:grpSpPr>
          <a:xfrm>
            <a:off x="7472919" y="4248206"/>
            <a:ext cx="45719" cy="263414"/>
            <a:chOff x="5236943" y="2138888"/>
            <a:chExt cx="45719" cy="263414"/>
          </a:xfrm>
        </p:grpSpPr>
        <p:sp>
          <p:nvSpPr>
            <p:cNvPr id="423" name="Oval 422">
              <a:extLst>
                <a:ext uri="{FF2B5EF4-FFF2-40B4-BE49-F238E27FC236}">
                  <a16:creationId xmlns:a16="http://schemas.microsoft.com/office/drawing/2014/main" id="{0F52368A-CFB1-6970-BE81-3220CBD7C121}"/>
                </a:ext>
              </a:extLst>
            </p:cNvPr>
            <p:cNvSpPr/>
            <p:nvPr/>
          </p:nvSpPr>
          <p:spPr>
            <a:xfrm flipH="1" flipV="1">
              <a:off x="5236943" y="22114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DE11E076-C3B0-95FD-E1B6-7ACAD9D99FB3}"/>
                </a:ext>
              </a:extLst>
            </p:cNvPr>
            <p:cNvSpPr/>
            <p:nvPr/>
          </p:nvSpPr>
          <p:spPr>
            <a:xfrm flipH="1" flipV="1">
              <a:off x="5236943" y="22840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Oval 424">
              <a:extLst>
                <a:ext uri="{FF2B5EF4-FFF2-40B4-BE49-F238E27FC236}">
                  <a16:creationId xmlns:a16="http://schemas.microsoft.com/office/drawing/2014/main" id="{7A82C9BF-FDBF-28FB-E749-5F41E7C3F895}"/>
                </a:ext>
              </a:extLst>
            </p:cNvPr>
            <p:cNvSpPr/>
            <p:nvPr/>
          </p:nvSpPr>
          <p:spPr>
            <a:xfrm flipH="1" flipV="1">
              <a:off x="5236943" y="235658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Oval 425">
              <a:extLst>
                <a:ext uri="{FF2B5EF4-FFF2-40B4-BE49-F238E27FC236}">
                  <a16:creationId xmlns:a16="http://schemas.microsoft.com/office/drawing/2014/main" id="{979123A7-9595-7B7A-7E4F-79BFE5A5C3BA}"/>
                </a:ext>
              </a:extLst>
            </p:cNvPr>
            <p:cNvSpPr/>
            <p:nvPr/>
          </p:nvSpPr>
          <p:spPr>
            <a:xfrm flipH="1" flipV="1">
              <a:off x="5236943" y="21388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27" name="Group 426">
            <a:extLst>
              <a:ext uri="{FF2B5EF4-FFF2-40B4-BE49-F238E27FC236}">
                <a16:creationId xmlns:a16="http://schemas.microsoft.com/office/drawing/2014/main" id="{EDF415B3-E3E0-B633-B2C5-BEF00FD0B412}"/>
              </a:ext>
            </a:extLst>
          </p:cNvPr>
          <p:cNvGrpSpPr/>
          <p:nvPr/>
        </p:nvGrpSpPr>
        <p:grpSpPr>
          <a:xfrm>
            <a:off x="7623674" y="4248206"/>
            <a:ext cx="45719" cy="263414"/>
            <a:chOff x="5389343" y="2291288"/>
            <a:chExt cx="45719" cy="263414"/>
          </a:xfrm>
        </p:grpSpPr>
        <p:sp>
          <p:nvSpPr>
            <p:cNvPr id="428" name="Oval 427">
              <a:extLst>
                <a:ext uri="{FF2B5EF4-FFF2-40B4-BE49-F238E27FC236}">
                  <a16:creationId xmlns:a16="http://schemas.microsoft.com/office/drawing/2014/main" id="{4133FE9F-E308-1BB2-76A1-3F4FCC37E778}"/>
                </a:ext>
              </a:extLst>
            </p:cNvPr>
            <p:cNvSpPr/>
            <p:nvPr/>
          </p:nvSpPr>
          <p:spPr>
            <a:xfrm flipH="1" flipV="1">
              <a:off x="5389343" y="23638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a:extLst>
                <a:ext uri="{FF2B5EF4-FFF2-40B4-BE49-F238E27FC236}">
                  <a16:creationId xmlns:a16="http://schemas.microsoft.com/office/drawing/2014/main" id="{B81382AC-DA18-7504-B9FD-B9C2279BCA63}"/>
                </a:ext>
              </a:extLst>
            </p:cNvPr>
            <p:cNvSpPr/>
            <p:nvPr/>
          </p:nvSpPr>
          <p:spPr>
            <a:xfrm flipH="1" flipV="1">
              <a:off x="5389343" y="243641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Oval 429">
              <a:extLst>
                <a:ext uri="{FF2B5EF4-FFF2-40B4-BE49-F238E27FC236}">
                  <a16:creationId xmlns:a16="http://schemas.microsoft.com/office/drawing/2014/main" id="{57B13BF9-7BD2-AE4F-BF06-F36D45EA7224}"/>
                </a:ext>
              </a:extLst>
            </p:cNvPr>
            <p:cNvSpPr/>
            <p:nvPr/>
          </p:nvSpPr>
          <p:spPr>
            <a:xfrm flipH="1" flipV="1">
              <a:off x="5389343" y="2508983"/>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B1A0F2C1-F2D5-3BF6-C53F-B9C2294CD44F}"/>
                </a:ext>
              </a:extLst>
            </p:cNvPr>
            <p:cNvSpPr/>
            <p:nvPr/>
          </p:nvSpPr>
          <p:spPr>
            <a:xfrm flipH="1" flipV="1">
              <a:off x="5389343" y="22912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8" name="Group 437">
            <a:extLst>
              <a:ext uri="{FF2B5EF4-FFF2-40B4-BE49-F238E27FC236}">
                <a16:creationId xmlns:a16="http://schemas.microsoft.com/office/drawing/2014/main" id="{5CBA0BD6-6A0C-F35E-F162-74A23C2A70DC}"/>
              </a:ext>
            </a:extLst>
          </p:cNvPr>
          <p:cNvGrpSpPr/>
          <p:nvPr/>
        </p:nvGrpSpPr>
        <p:grpSpPr>
          <a:xfrm>
            <a:off x="7774430" y="4248206"/>
            <a:ext cx="45719" cy="263414"/>
            <a:chOff x="5389343" y="2291288"/>
            <a:chExt cx="45719" cy="263414"/>
          </a:xfrm>
        </p:grpSpPr>
        <p:sp>
          <p:nvSpPr>
            <p:cNvPr id="440" name="Oval 439">
              <a:extLst>
                <a:ext uri="{FF2B5EF4-FFF2-40B4-BE49-F238E27FC236}">
                  <a16:creationId xmlns:a16="http://schemas.microsoft.com/office/drawing/2014/main" id="{C9A17818-9973-B235-5189-92D6A7D81277}"/>
                </a:ext>
              </a:extLst>
            </p:cNvPr>
            <p:cNvSpPr/>
            <p:nvPr/>
          </p:nvSpPr>
          <p:spPr>
            <a:xfrm flipH="1" flipV="1">
              <a:off x="5389343" y="236385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F18500D6-2E82-F1F8-304F-06C0F0E25B71}"/>
                </a:ext>
              </a:extLst>
            </p:cNvPr>
            <p:cNvSpPr/>
            <p:nvPr/>
          </p:nvSpPr>
          <p:spPr>
            <a:xfrm flipH="1" flipV="1">
              <a:off x="5389343" y="2436418"/>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3" name="Oval 442">
              <a:extLst>
                <a:ext uri="{FF2B5EF4-FFF2-40B4-BE49-F238E27FC236}">
                  <a16:creationId xmlns:a16="http://schemas.microsoft.com/office/drawing/2014/main" id="{B01A5D8A-F294-48AD-92C3-DD8D804BFEB6}"/>
                </a:ext>
              </a:extLst>
            </p:cNvPr>
            <p:cNvSpPr/>
            <p:nvPr/>
          </p:nvSpPr>
          <p:spPr>
            <a:xfrm flipH="1" flipV="1">
              <a:off x="5389343" y="2508983"/>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Oval 443">
              <a:extLst>
                <a:ext uri="{FF2B5EF4-FFF2-40B4-BE49-F238E27FC236}">
                  <a16:creationId xmlns:a16="http://schemas.microsoft.com/office/drawing/2014/main" id="{2C6537C7-3929-1A34-AEB4-6FCAEC5AD4B4}"/>
                </a:ext>
              </a:extLst>
            </p:cNvPr>
            <p:cNvSpPr/>
            <p:nvPr/>
          </p:nvSpPr>
          <p:spPr>
            <a:xfrm flipH="1" flipV="1">
              <a:off x="5389343" y="2291288"/>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45" name="Straight Connector 444">
            <a:extLst>
              <a:ext uri="{FF2B5EF4-FFF2-40B4-BE49-F238E27FC236}">
                <a16:creationId xmlns:a16="http://schemas.microsoft.com/office/drawing/2014/main" id="{A82B01D6-5977-E674-3AF1-094174A8D168}"/>
              </a:ext>
            </a:extLst>
          </p:cNvPr>
          <p:cNvCxnSpPr>
            <a:cxnSpLocks/>
          </p:cNvCxnSpPr>
          <p:nvPr/>
        </p:nvCxnSpPr>
        <p:spPr>
          <a:xfrm>
            <a:off x="7410999" y="4235457"/>
            <a:ext cx="0" cy="329072"/>
          </a:xfrm>
          <a:prstGeom prst="line">
            <a:avLst/>
          </a:prstGeom>
          <a:ln w="9525">
            <a:solidFill>
              <a:srgbClr val="694523"/>
            </a:solidFill>
            <a:headEnd type="none" w="med" len="med"/>
            <a:tailEnd type="triangle" w="sm" len="sm"/>
          </a:ln>
        </p:spPr>
        <p:style>
          <a:lnRef idx="1">
            <a:schemeClr val="dk1"/>
          </a:lnRef>
          <a:fillRef idx="0">
            <a:schemeClr val="dk1"/>
          </a:fillRef>
          <a:effectRef idx="0">
            <a:schemeClr val="dk1"/>
          </a:effectRef>
          <a:fontRef idx="minor">
            <a:schemeClr val="tx1"/>
          </a:fontRef>
        </p:style>
      </p:cxnSp>
      <p:cxnSp>
        <p:nvCxnSpPr>
          <p:cNvPr id="446" name="Straight Connector 445">
            <a:extLst>
              <a:ext uri="{FF2B5EF4-FFF2-40B4-BE49-F238E27FC236}">
                <a16:creationId xmlns:a16="http://schemas.microsoft.com/office/drawing/2014/main" id="{E94AB783-D39F-BD23-EBB8-8ED1FDBBEEAD}"/>
              </a:ext>
            </a:extLst>
          </p:cNvPr>
          <p:cNvCxnSpPr>
            <a:cxnSpLocks/>
          </p:cNvCxnSpPr>
          <p:nvPr/>
        </p:nvCxnSpPr>
        <p:spPr>
          <a:xfrm>
            <a:off x="7438369" y="4384766"/>
            <a:ext cx="425450" cy="0"/>
          </a:xfrm>
          <a:prstGeom prst="line">
            <a:avLst/>
          </a:prstGeom>
          <a:ln w="9525">
            <a:solidFill>
              <a:srgbClr val="694523"/>
            </a:solidFill>
            <a:prstDash val="sysDot"/>
            <a:headEnd type="none"/>
          </a:ln>
        </p:spPr>
        <p:style>
          <a:lnRef idx="1">
            <a:schemeClr val="dk1"/>
          </a:lnRef>
          <a:fillRef idx="0">
            <a:schemeClr val="dk1"/>
          </a:fillRef>
          <a:effectRef idx="0">
            <a:schemeClr val="dk1"/>
          </a:effectRef>
          <a:fontRef idx="minor">
            <a:schemeClr val="tx1"/>
          </a:fontRef>
        </p:style>
      </p:cxnSp>
      <p:sp>
        <p:nvSpPr>
          <p:cNvPr id="447" name="Rounded Rectangle 446">
            <a:extLst>
              <a:ext uri="{FF2B5EF4-FFF2-40B4-BE49-F238E27FC236}">
                <a16:creationId xmlns:a16="http://schemas.microsoft.com/office/drawing/2014/main" id="{057D929A-773D-543A-5F73-9BC208A84D53}"/>
              </a:ext>
            </a:extLst>
          </p:cNvPr>
          <p:cNvSpPr/>
          <p:nvPr/>
        </p:nvSpPr>
        <p:spPr>
          <a:xfrm rot="18900000">
            <a:off x="7653952" y="2187373"/>
            <a:ext cx="170615" cy="170615"/>
          </a:xfrm>
          <a:prstGeom prst="roundRect">
            <a:avLst>
              <a:gd name="adj" fmla="val 7489"/>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3" name="Group 642">
            <a:extLst>
              <a:ext uri="{FF2B5EF4-FFF2-40B4-BE49-F238E27FC236}">
                <a16:creationId xmlns:a16="http://schemas.microsoft.com/office/drawing/2014/main" id="{7C39593F-B161-DB53-A4A6-BC4338EC1D02}"/>
              </a:ext>
            </a:extLst>
          </p:cNvPr>
          <p:cNvGrpSpPr/>
          <p:nvPr/>
        </p:nvGrpSpPr>
        <p:grpSpPr>
          <a:xfrm>
            <a:off x="9947763" y="2204252"/>
            <a:ext cx="214653" cy="184666"/>
            <a:chOff x="9947763" y="2204252"/>
            <a:chExt cx="214653" cy="184666"/>
          </a:xfrm>
        </p:grpSpPr>
        <p:cxnSp>
          <p:nvCxnSpPr>
            <p:cNvPr id="640" name="Straight Connector 639">
              <a:extLst>
                <a:ext uri="{FF2B5EF4-FFF2-40B4-BE49-F238E27FC236}">
                  <a16:creationId xmlns:a16="http://schemas.microsoft.com/office/drawing/2014/main" id="{5C6F83CE-729E-F11F-EF6F-B7C59F33E769}"/>
                </a:ext>
              </a:extLst>
            </p:cNvPr>
            <p:cNvCxnSpPr>
              <a:cxnSpLocks/>
            </p:cNvCxnSpPr>
            <p:nvPr/>
          </p:nvCxnSpPr>
          <p:spPr>
            <a:xfrm flipH="1">
              <a:off x="9953092" y="2294792"/>
              <a:ext cx="73558" cy="0"/>
            </a:xfrm>
            <a:prstGeom prst="line">
              <a:avLst/>
            </a:prstGeom>
            <a:ln w="9525">
              <a:solidFill>
                <a:srgbClr val="264444"/>
              </a:solidFill>
            </a:ln>
          </p:spPr>
          <p:style>
            <a:lnRef idx="1">
              <a:schemeClr val="dk1"/>
            </a:lnRef>
            <a:fillRef idx="0">
              <a:schemeClr val="dk1"/>
            </a:fillRef>
            <a:effectRef idx="0">
              <a:schemeClr val="dk1"/>
            </a:effectRef>
            <a:fontRef idx="minor">
              <a:schemeClr val="tx1"/>
            </a:fontRef>
          </p:style>
        </p:cxnSp>
        <p:sp>
          <p:nvSpPr>
            <p:cNvPr id="642" name="TextBox 641">
              <a:extLst>
                <a:ext uri="{FF2B5EF4-FFF2-40B4-BE49-F238E27FC236}">
                  <a16:creationId xmlns:a16="http://schemas.microsoft.com/office/drawing/2014/main" id="{7D35CCA3-9223-778D-BE08-3CB1A1E2C4BA}"/>
                </a:ext>
              </a:extLst>
            </p:cNvPr>
            <p:cNvSpPr txBox="1"/>
            <p:nvPr/>
          </p:nvSpPr>
          <p:spPr>
            <a:xfrm>
              <a:off x="9947763" y="2204252"/>
              <a:ext cx="214653" cy="184666"/>
            </a:xfrm>
            <a:prstGeom prst="rect">
              <a:avLst/>
            </a:prstGeom>
            <a:noFill/>
          </p:spPr>
          <p:txBody>
            <a:bodyPr wrap="square">
              <a:spAutoFit/>
            </a:bodyPr>
            <a:lstStyle/>
            <a:p>
              <a:r>
                <a:rPr lang="en-US" sz="600" dirty="0">
                  <a:solidFill>
                    <a:srgbClr val="264444"/>
                  </a:solidFill>
                  <a:latin typeface="Aptos" panose="020B0004020202020204" pitchFamily="34" charset="0"/>
                </a:rPr>
                <a:t>1</a:t>
              </a:r>
              <a:endParaRPr lang="en-US" sz="600" b="0" noProof="0" dirty="0">
                <a:solidFill>
                  <a:srgbClr val="264444"/>
                </a:solidFill>
                <a:latin typeface="Aptos" panose="020B0004020202020204" pitchFamily="34" charset="0"/>
              </a:endParaRPr>
            </a:p>
          </p:txBody>
        </p:sp>
      </p:grpSp>
      <p:grpSp>
        <p:nvGrpSpPr>
          <p:cNvPr id="644" name="Group 643">
            <a:extLst>
              <a:ext uri="{FF2B5EF4-FFF2-40B4-BE49-F238E27FC236}">
                <a16:creationId xmlns:a16="http://schemas.microsoft.com/office/drawing/2014/main" id="{6F3EDF3A-A76F-93C2-E24B-1645123E2D6D}"/>
              </a:ext>
            </a:extLst>
          </p:cNvPr>
          <p:cNvGrpSpPr/>
          <p:nvPr/>
        </p:nvGrpSpPr>
        <p:grpSpPr>
          <a:xfrm>
            <a:off x="9845423" y="2041415"/>
            <a:ext cx="214653" cy="184666"/>
            <a:chOff x="9947763" y="2204252"/>
            <a:chExt cx="214653" cy="184666"/>
          </a:xfrm>
        </p:grpSpPr>
        <p:cxnSp>
          <p:nvCxnSpPr>
            <p:cNvPr id="645" name="Straight Connector 644">
              <a:extLst>
                <a:ext uri="{FF2B5EF4-FFF2-40B4-BE49-F238E27FC236}">
                  <a16:creationId xmlns:a16="http://schemas.microsoft.com/office/drawing/2014/main" id="{071708B4-FC0F-BE59-76E1-093BEF255DE0}"/>
                </a:ext>
              </a:extLst>
            </p:cNvPr>
            <p:cNvCxnSpPr>
              <a:cxnSpLocks/>
            </p:cNvCxnSpPr>
            <p:nvPr/>
          </p:nvCxnSpPr>
          <p:spPr>
            <a:xfrm flipH="1">
              <a:off x="9953092" y="2294792"/>
              <a:ext cx="73558" cy="0"/>
            </a:xfrm>
            <a:prstGeom prst="line">
              <a:avLst/>
            </a:prstGeom>
            <a:ln w="9525">
              <a:solidFill>
                <a:srgbClr val="264444"/>
              </a:solidFill>
            </a:ln>
          </p:spPr>
          <p:style>
            <a:lnRef idx="1">
              <a:schemeClr val="dk1"/>
            </a:lnRef>
            <a:fillRef idx="0">
              <a:schemeClr val="dk1"/>
            </a:fillRef>
            <a:effectRef idx="0">
              <a:schemeClr val="dk1"/>
            </a:effectRef>
            <a:fontRef idx="minor">
              <a:schemeClr val="tx1"/>
            </a:fontRef>
          </p:style>
        </p:cxnSp>
        <p:sp>
          <p:nvSpPr>
            <p:cNvPr id="646" name="TextBox 645">
              <a:extLst>
                <a:ext uri="{FF2B5EF4-FFF2-40B4-BE49-F238E27FC236}">
                  <a16:creationId xmlns:a16="http://schemas.microsoft.com/office/drawing/2014/main" id="{4D6E3F20-FA2E-C317-4CBE-27F0775476E7}"/>
                </a:ext>
              </a:extLst>
            </p:cNvPr>
            <p:cNvSpPr txBox="1"/>
            <p:nvPr/>
          </p:nvSpPr>
          <p:spPr>
            <a:xfrm>
              <a:off x="9947763" y="2204252"/>
              <a:ext cx="214653" cy="184666"/>
            </a:xfrm>
            <a:prstGeom prst="rect">
              <a:avLst/>
            </a:prstGeom>
            <a:noFill/>
          </p:spPr>
          <p:txBody>
            <a:bodyPr wrap="square">
              <a:spAutoFit/>
            </a:bodyPr>
            <a:lstStyle/>
            <a:p>
              <a:r>
                <a:rPr lang="en-US" sz="600" dirty="0">
                  <a:solidFill>
                    <a:srgbClr val="264444"/>
                  </a:solidFill>
                  <a:latin typeface="Aptos" panose="020B0004020202020204" pitchFamily="34" charset="0"/>
                </a:rPr>
                <a:t>1</a:t>
              </a:r>
              <a:endParaRPr lang="en-US" sz="600" b="0" noProof="0" dirty="0">
                <a:solidFill>
                  <a:srgbClr val="264444"/>
                </a:solidFill>
                <a:latin typeface="Aptos" panose="020B0004020202020204" pitchFamily="34" charset="0"/>
              </a:endParaRPr>
            </a:p>
          </p:txBody>
        </p:sp>
      </p:grpSp>
      <p:grpSp>
        <p:nvGrpSpPr>
          <p:cNvPr id="647" name="Group 646">
            <a:extLst>
              <a:ext uri="{FF2B5EF4-FFF2-40B4-BE49-F238E27FC236}">
                <a16:creationId xmlns:a16="http://schemas.microsoft.com/office/drawing/2014/main" id="{AF81C201-834B-2715-7181-B08D0A83399A}"/>
              </a:ext>
            </a:extLst>
          </p:cNvPr>
          <p:cNvGrpSpPr/>
          <p:nvPr/>
        </p:nvGrpSpPr>
        <p:grpSpPr>
          <a:xfrm>
            <a:off x="9936636" y="2142078"/>
            <a:ext cx="214653" cy="184666"/>
            <a:chOff x="9947763" y="2204252"/>
            <a:chExt cx="214653" cy="184666"/>
          </a:xfrm>
        </p:grpSpPr>
        <p:sp>
          <p:nvSpPr>
            <p:cNvPr id="649" name="TextBox 648">
              <a:extLst>
                <a:ext uri="{FF2B5EF4-FFF2-40B4-BE49-F238E27FC236}">
                  <a16:creationId xmlns:a16="http://schemas.microsoft.com/office/drawing/2014/main" id="{019A7D82-DC91-4EAE-055A-EBFC8912F16B}"/>
                </a:ext>
              </a:extLst>
            </p:cNvPr>
            <p:cNvSpPr txBox="1"/>
            <p:nvPr/>
          </p:nvSpPr>
          <p:spPr>
            <a:xfrm>
              <a:off x="9947763" y="2204252"/>
              <a:ext cx="214653" cy="184666"/>
            </a:xfrm>
            <a:prstGeom prst="rect">
              <a:avLst/>
            </a:prstGeom>
            <a:noFill/>
          </p:spPr>
          <p:txBody>
            <a:bodyPr wrap="square">
              <a:spAutoFit/>
            </a:bodyPr>
            <a:lstStyle/>
            <a:p>
              <a:r>
                <a:rPr lang="en-US" sz="600" dirty="0">
                  <a:solidFill>
                    <a:schemeClr val="bg1"/>
                  </a:solidFill>
                  <a:latin typeface="Aptos" panose="020B0004020202020204" pitchFamily="34" charset="0"/>
                </a:rPr>
                <a:t>2</a:t>
              </a:r>
              <a:endParaRPr lang="en-US" sz="600" b="0" noProof="0" dirty="0">
                <a:solidFill>
                  <a:schemeClr val="bg1"/>
                </a:solidFill>
                <a:latin typeface="Aptos" panose="020B0004020202020204" pitchFamily="34" charset="0"/>
              </a:endParaRPr>
            </a:p>
          </p:txBody>
        </p:sp>
        <p:cxnSp>
          <p:nvCxnSpPr>
            <p:cNvPr id="648" name="Straight Connector 647">
              <a:extLst>
                <a:ext uri="{FF2B5EF4-FFF2-40B4-BE49-F238E27FC236}">
                  <a16:creationId xmlns:a16="http://schemas.microsoft.com/office/drawing/2014/main" id="{CD02E471-9CDF-3DAD-0C8B-466EFFBFDAB3}"/>
                </a:ext>
              </a:extLst>
            </p:cNvPr>
            <p:cNvCxnSpPr>
              <a:cxnSpLocks/>
            </p:cNvCxnSpPr>
            <p:nvPr/>
          </p:nvCxnSpPr>
          <p:spPr>
            <a:xfrm flipH="1">
              <a:off x="9953092" y="2294792"/>
              <a:ext cx="73558" cy="0"/>
            </a:xfrm>
            <a:prstGeom prst="line">
              <a:avLst/>
            </a:prstGeom>
            <a:ln w="6350">
              <a:solidFill>
                <a:schemeClr val="bg1"/>
              </a:solidFill>
            </a:ln>
          </p:spPr>
          <p:style>
            <a:lnRef idx="1">
              <a:schemeClr val="dk1"/>
            </a:lnRef>
            <a:fillRef idx="0">
              <a:schemeClr val="dk1"/>
            </a:fillRef>
            <a:effectRef idx="0">
              <a:schemeClr val="dk1"/>
            </a:effectRef>
            <a:fontRef idx="minor">
              <a:schemeClr val="tx1"/>
            </a:fontRef>
          </p:style>
        </p:cxnSp>
      </p:grpSp>
      <p:grpSp>
        <p:nvGrpSpPr>
          <p:cNvPr id="650" name="Group 649">
            <a:extLst>
              <a:ext uri="{FF2B5EF4-FFF2-40B4-BE49-F238E27FC236}">
                <a16:creationId xmlns:a16="http://schemas.microsoft.com/office/drawing/2014/main" id="{6C5250DA-20EC-0C88-E925-DA8C523EC57B}"/>
              </a:ext>
            </a:extLst>
          </p:cNvPr>
          <p:cNvGrpSpPr/>
          <p:nvPr/>
        </p:nvGrpSpPr>
        <p:grpSpPr>
          <a:xfrm>
            <a:off x="9861060" y="2256057"/>
            <a:ext cx="214653" cy="184666"/>
            <a:chOff x="9947763" y="2204252"/>
            <a:chExt cx="214653" cy="184666"/>
          </a:xfrm>
        </p:grpSpPr>
        <p:sp>
          <p:nvSpPr>
            <p:cNvPr id="651" name="TextBox 650">
              <a:extLst>
                <a:ext uri="{FF2B5EF4-FFF2-40B4-BE49-F238E27FC236}">
                  <a16:creationId xmlns:a16="http://schemas.microsoft.com/office/drawing/2014/main" id="{EB970CEE-2072-F2E2-0372-C5C10D30347D}"/>
                </a:ext>
              </a:extLst>
            </p:cNvPr>
            <p:cNvSpPr txBox="1"/>
            <p:nvPr/>
          </p:nvSpPr>
          <p:spPr>
            <a:xfrm>
              <a:off x="9947763" y="2204252"/>
              <a:ext cx="214653" cy="184666"/>
            </a:xfrm>
            <a:prstGeom prst="rect">
              <a:avLst/>
            </a:prstGeom>
            <a:noFill/>
          </p:spPr>
          <p:txBody>
            <a:bodyPr wrap="square">
              <a:spAutoFit/>
            </a:bodyPr>
            <a:lstStyle/>
            <a:p>
              <a:r>
                <a:rPr lang="en-US" sz="600" dirty="0">
                  <a:solidFill>
                    <a:schemeClr val="bg1"/>
                  </a:solidFill>
                  <a:latin typeface="Aptos" panose="020B0004020202020204" pitchFamily="34" charset="0"/>
                </a:rPr>
                <a:t>2</a:t>
              </a:r>
              <a:endParaRPr lang="en-US" sz="600" b="0" noProof="0" dirty="0">
                <a:solidFill>
                  <a:schemeClr val="bg1"/>
                </a:solidFill>
                <a:latin typeface="Aptos" panose="020B0004020202020204" pitchFamily="34" charset="0"/>
              </a:endParaRPr>
            </a:p>
          </p:txBody>
        </p:sp>
        <p:cxnSp>
          <p:nvCxnSpPr>
            <p:cNvPr id="652" name="Straight Connector 651">
              <a:extLst>
                <a:ext uri="{FF2B5EF4-FFF2-40B4-BE49-F238E27FC236}">
                  <a16:creationId xmlns:a16="http://schemas.microsoft.com/office/drawing/2014/main" id="{459E9E6D-123C-CBB8-230B-45E877A6175E}"/>
                </a:ext>
              </a:extLst>
            </p:cNvPr>
            <p:cNvCxnSpPr>
              <a:cxnSpLocks/>
            </p:cNvCxnSpPr>
            <p:nvPr/>
          </p:nvCxnSpPr>
          <p:spPr>
            <a:xfrm flipH="1">
              <a:off x="9953092" y="2294792"/>
              <a:ext cx="73558" cy="0"/>
            </a:xfrm>
            <a:prstGeom prst="line">
              <a:avLst/>
            </a:prstGeom>
            <a:ln w="6350">
              <a:solidFill>
                <a:schemeClr val="bg1"/>
              </a:solidFill>
            </a:ln>
          </p:spPr>
          <p:style>
            <a:lnRef idx="1">
              <a:schemeClr val="dk1"/>
            </a:lnRef>
            <a:fillRef idx="0">
              <a:schemeClr val="dk1"/>
            </a:fillRef>
            <a:effectRef idx="0">
              <a:schemeClr val="dk1"/>
            </a:effectRef>
            <a:fontRef idx="minor">
              <a:schemeClr val="tx1"/>
            </a:fontRef>
          </p:style>
        </p:cxnSp>
      </p:grpSp>
      <p:sp>
        <p:nvSpPr>
          <p:cNvPr id="653" name="Rounded Rectangle 652">
            <a:extLst>
              <a:ext uri="{FF2B5EF4-FFF2-40B4-BE49-F238E27FC236}">
                <a16:creationId xmlns:a16="http://schemas.microsoft.com/office/drawing/2014/main" id="{FE8F46D1-5785-EEA3-0072-FAA445C4B97B}"/>
              </a:ext>
            </a:extLst>
          </p:cNvPr>
          <p:cNvSpPr/>
          <p:nvPr/>
        </p:nvSpPr>
        <p:spPr>
          <a:xfrm>
            <a:off x="8503040" y="2567752"/>
            <a:ext cx="1636829" cy="447458"/>
          </a:xfrm>
          <a:prstGeom prst="roundRect">
            <a:avLst>
              <a:gd name="adj" fmla="val 3598"/>
            </a:avLst>
          </a:prstGeom>
          <a:solidFill>
            <a:srgbClr val="DEBF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54" name="TextBox 653">
            <a:extLst>
              <a:ext uri="{FF2B5EF4-FFF2-40B4-BE49-F238E27FC236}">
                <a16:creationId xmlns:a16="http://schemas.microsoft.com/office/drawing/2014/main" id="{4989612C-3F3C-1ABB-D0CD-C2FFAC884C0E}"/>
              </a:ext>
            </a:extLst>
          </p:cNvPr>
          <p:cNvSpPr txBox="1"/>
          <p:nvPr/>
        </p:nvSpPr>
        <p:spPr>
          <a:xfrm>
            <a:off x="8515214" y="2569320"/>
            <a:ext cx="1069627" cy="461665"/>
          </a:xfrm>
          <a:prstGeom prst="rect">
            <a:avLst/>
          </a:prstGeom>
          <a:noFill/>
        </p:spPr>
        <p:txBody>
          <a:bodyPr wrap="square">
            <a:spAutoFit/>
          </a:bodyPr>
          <a:lstStyle/>
          <a:p>
            <a:r>
              <a:rPr lang="en-US" sz="1200" dirty="0">
                <a:solidFill>
                  <a:schemeClr val="bg1"/>
                </a:solidFill>
                <a:latin typeface="Aptos" panose="020B0004020202020204" pitchFamily="34" charset="0"/>
              </a:rPr>
              <a:t>Decision Rules</a:t>
            </a:r>
            <a:endParaRPr lang="en-US" sz="1200" b="0" noProof="0" dirty="0">
              <a:solidFill>
                <a:schemeClr val="bg1"/>
              </a:solidFill>
              <a:latin typeface="Aptos" panose="020B0004020202020204" pitchFamily="34" charset="0"/>
            </a:endParaRPr>
          </a:p>
        </p:txBody>
      </p:sp>
      <p:grpSp>
        <p:nvGrpSpPr>
          <p:cNvPr id="698" name="Group 697">
            <a:extLst>
              <a:ext uri="{FF2B5EF4-FFF2-40B4-BE49-F238E27FC236}">
                <a16:creationId xmlns:a16="http://schemas.microsoft.com/office/drawing/2014/main" id="{B740D54C-6D1C-0AFA-BC27-7E34BA582E98}"/>
              </a:ext>
            </a:extLst>
          </p:cNvPr>
          <p:cNvGrpSpPr/>
          <p:nvPr/>
        </p:nvGrpSpPr>
        <p:grpSpPr>
          <a:xfrm>
            <a:off x="7547948" y="3760907"/>
            <a:ext cx="314846" cy="186453"/>
            <a:chOff x="7547948" y="3760907"/>
            <a:chExt cx="314846" cy="186453"/>
          </a:xfrm>
        </p:grpSpPr>
        <p:cxnSp>
          <p:nvCxnSpPr>
            <p:cNvPr id="383" name="Straight Connector 382">
              <a:extLst>
                <a:ext uri="{FF2B5EF4-FFF2-40B4-BE49-F238E27FC236}">
                  <a16:creationId xmlns:a16="http://schemas.microsoft.com/office/drawing/2014/main" id="{959C9887-97B1-D07C-3723-28C17615DF25}"/>
                </a:ext>
              </a:extLst>
            </p:cNvPr>
            <p:cNvCxnSpPr>
              <a:cxnSpLocks/>
            </p:cNvCxnSpPr>
            <p:nvPr/>
          </p:nvCxnSpPr>
          <p:spPr>
            <a:xfrm flipH="1">
              <a:off x="7616456" y="3785274"/>
              <a:ext cx="87134" cy="75400"/>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384" name="Oval 383">
              <a:extLst>
                <a:ext uri="{FF2B5EF4-FFF2-40B4-BE49-F238E27FC236}">
                  <a16:creationId xmlns:a16="http://schemas.microsoft.com/office/drawing/2014/main" id="{4411CA56-3C83-7EA8-D16C-09A05E1BA2FB}"/>
                </a:ext>
              </a:extLst>
            </p:cNvPr>
            <p:cNvSpPr/>
            <p:nvPr/>
          </p:nvSpPr>
          <p:spPr>
            <a:xfrm flipV="1">
              <a:off x="7598779" y="3837815"/>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5" name="Straight Connector 384">
              <a:extLst>
                <a:ext uri="{FF2B5EF4-FFF2-40B4-BE49-F238E27FC236}">
                  <a16:creationId xmlns:a16="http://schemas.microsoft.com/office/drawing/2014/main" id="{BF53FB2F-FF84-925A-613F-B7CEE046AA15}"/>
                </a:ext>
              </a:extLst>
            </p:cNvPr>
            <p:cNvCxnSpPr>
              <a:cxnSpLocks/>
            </p:cNvCxnSpPr>
            <p:nvPr/>
          </p:nvCxnSpPr>
          <p:spPr>
            <a:xfrm>
              <a:off x="7703590" y="3785274"/>
              <a:ext cx="87134" cy="75400"/>
            </a:xfrm>
            <a:prstGeom prst="line">
              <a:avLst/>
            </a:prstGeom>
            <a:ln w="9525">
              <a:solidFill>
                <a:srgbClr val="694523"/>
              </a:solidFill>
              <a:headEnd type="none"/>
            </a:ln>
          </p:spPr>
          <p:style>
            <a:lnRef idx="1">
              <a:schemeClr val="dk1"/>
            </a:lnRef>
            <a:fillRef idx="0">
              <a:schemeClr val="dk1"/>
            </a:fillRef>
            <a:effectRef idx="0">
              <a:schemeClr val="dk1"/>
            </a:effectRef>
            <a:fontRef idx="minor">
              <a:schemeClr val="tx1"/>
            </a:fontRef>
          </p:style>
        </p:cxnSp>
        <p:cxnSp>
          <p:nvCxnSpPr>
            <p:cNvPr id="386" name="Straight Connector 385">
              <a:extLst>
                <a:ext uri="{FF2B5EF4-FFF2-40B4-BE49-F238E27FC236}">
                  <a16:creationId xmlns:a16="http://schemas.microsoft.com/office/drawing/2014/main" id="{4D19E169-195F-FAFD-2640-D414ED64655E}"/>
                </a:ext>
              </a:extLst>
            </p:cNvPr>
            <p:cNvCxnSpPr>
              <a:cxnSpLocks/>
            </p:cNvCxnSpPr>
            <p:nvPr/>
          </p:nvCxnSpPr>
          <p:spPr>
            <a:xfrm>
              <a:off x="7617944" y="3867448"/>
              <a:ext cx="66840" cy="68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cxnSp>
          <p:nvCxnSpPr>
            <p:cNvPr id="387" name="Straight Connector 386">
              <a:extLst>
                <a:ext uri="{FF2B5EF4-FFF2-40B4-BE49-F238E27FC236}">
                  <a16:creationId xmlns:a16="http://schemas.microsoft.com/office/drawing/2014/main" id="{F192B641-83D5-2675-6163-353020BEE181}"/>
                </a:ext>
              </a:extLst>
            </p:cNvPr>
            <p:cNvCxnSpPr>
              <a:cxnSpLocks/>
              <a:endCxn id="394" idx="1"/>
            </p:cNvCxnSpPr>
            <p:nvPr/>
          </p:nvCxnSpPr>
          <p:spPr>
            <a:xfrm flipH="1">
              <a:off x="7554643" y="3872280"/>
              <a:ext cx="66840" cy="68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394" name="Oval 393">
              <a:extLst>
                <a:ext uri="{FF2B5EF4-FFF2-40B4-BE49-F238E27FC236}">
                  <a16:creationId xmlns:a16="http://schemas.microsoft.com/office/drawing/2014/main" id="{AC01970F-A798-4DAD-E6F0-0421D84BE618}"/>
                </a:ext>
              </a:extLst>
            </p:cNvPr>
            <p:cNvSpPr/>
            <p:nvPr/>
          </p:nvSpPr>
          <p:spPr>
            <a:xfrm flipV="1">
              <a:off x="7547948" y="3901641"/>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Oval 394">
              <a:extLst>
                <a:ext uri="{FF2B5EF4-FFF2-40B4-BE49-F238E27FC236}">
                  <a16:creationId xmlns:a16="http://schemas.microsoft.com/office/drawing/2014/main" id="{C6046ECB-F66B-8D97-6388-228B4ABA161F}"/>
                </a:ext>
              </a:extLst>
            </p:cNvPr>
            <p:cNvSpPr/>
            <p:nvPr/>
          </p:nvSpPr>
          <p:spPr>
            <a:xfrm flipV="1">
              <a:off x="7652759" y="3901641"/>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6" name="Straight Connector 395">
              <a:extLst>
                <a:ext uri="{FF2B5EF4-FFF2-40B4-BE49-F238E27FC236}">
                  <a16:creationId xmlns:a16="http://schemas.microsoft.com/office/drawing/2014/main" id="{BF6F5285-F923-789E-B453-D414FB27EBA3}"/>
                </a:ext>
              </a:extLst>
            </p:cNvPr>
            <p:cNvCxnSpPr>
              <a:cxnSpLocks/>
            </p:cNvCxnSpPr>
            <p:nvPr/>
          </p:nvCxnSpPr>
          <p:spPr>
            <a:xfrm>
              <a:off x="7782260" y="3867448"/>
              <a:ext cx="66840" cy="68385"/>
            </a:xfrm>
            <a:prstGeom prst="line">
              <a:avLst/>
            </a:prstGeom>
            <a:ln w="9525">
              <a:solidFill>
                <a:srgbClr val="694523"/>
              </a:solidFill>
              <a:headEnd type="none"/>
            </a:ln>
          </p:spPr>
          <p:style>
            <a:lnRef idx="1">
              <a:schemeClr val="dk1"/>
            </a:lnRef>
            <a:fillRef idx="0">
              <a:schemeClr val="dk1"/>
            </a:fillRef>
            <a:effectRef idx="0">
              <a:schemeClr val="dk1"/>
            </a:effectRef>
            <a:fontRef idx="minor">
              <a:schemeClr val="tx1"/>
            </a:fontRef>
          </p:style>
        </p:cxnSp>
        <p:cxnSp>
          <p:nvCxnSpPr>
            <p:cNvPr id="397" name="Straight Connector 396">
              <a:extLst>
                <a:ext uri="{FF2B5EF4-FFF2-40B4-BE49-F238E27FC236}">
                  <a16:creationId xmlns:a16="http://schemas.microsoft.com/office/drawing/2014/main" id="{B57F51FF-2FFD-C141-9697-CA255D7991C0}"/>
                </a:ext>
              </a:extLst>
            </p:cNvPr>
            <p:cNvCxnSpPr>
              <a:cxnSpLocks/>
              <a:endCxn id="406" idx="1"/>
            </p:cNvCxnSpPr>
            <p:nvPr/>
          </p:nvCxnSpPr>
          <p:spPr>
            <a:xfrm flipH="1">
              <a:off x="7718959" y="3872280"/>
              <a:ext cx="66840" cy="68385"/>
            </a:xfrm>
            <a:prstGeom prst="line">
              <a:avLst/>
            </a:prstGeom>
            <a:ln w="9525">
              <a:solidFill>
                <a:srgbClr val="694523"/>
              </a:solidFill>
              <a:headEnd type="none"/>
            </a:ln>
          </p:spPr>
          <p:style>
            <a:lnRef idx="1">
              <a:schemeClr val="dk1"/>
            </a:lnRef>
            <a:fillRef idx="0">
              <a:schemeClr val="dk1"/>
            </a:fillRef>
            <a:effectRef idx="0">
              <a:schemeClr val="dk1"/>
            </a:effectRef>
            <a:fontRef idx="minor">
              <a:schemeClr val="tx1"/>
            </a:fontRef>
          </p:style>
        </p:cxnSp>
        <p:sp>
          <p:nvSpPr>
            <p:cNvPr id="406" name="Oval 405">
              <a:extLst>
                <a:ext uri="{FF2B5EF4-FFF2-40B4-BE49-F238E27FC236}">
                  <a16:creationId xmlns:a16="http://schemas.microsoft.com/office/drawing/2014/main" id="{3EEA85DB-9BAD-6154-464B-3BCFBB6DA77E}"/>
                </a:ext>
              </a:extLst>
            </p:cNvPr>
            <p:cNvSpPr/>
            <p:nvPr/>
          </p:nvSpPr>
          <p:spPr>
            <a:xfrm flipV="1">
              <a:off x="7712264" y="3901641"/>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Oval 409">
              <a:extLst>
                <a:ext uri="{FF2B5EF4-FFF2-40B4-BE49-F238E27FC236}">
                  <a16:creationId xmlns:a16="http://schemas.microsoft.com/office/drawing/2014/main" id="{953BE6A9-2BC9-B9AF-6A4C-0A7650855E88}"/>
                </a:ext>
              </a:extLst>
            </p:cNvPr>
            <p:cNvSpPr/>
            <p:nvPr/>
          </p:nvSpPr>
          <p:spPr>
            <a:xfrm flipV="1">
              <a:off x="7817075" y="3901641"/>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Oval 412">
              <a:extLst>
                <a:ext uri="{FF2B5EF4-FFF2-40B4-BE49-F238E27FC236}">
                  <a16:creationId xmlns:a16="http://schemas.microsoft.com/office/drawing/2014/main" id="{F181ABC9-0463-0DB4-6F38-27C431601C5C}"/>
                </a:ext>
              </a:extLst>
            </p:cNvPr>
            <p:cNvSpPr/>
            <p:nvPr/>
          </p:nvSpPr>
          <p:spPr>
            <a:xfrm flipV="1">
              <a:off x="7676483" y="3760907"/>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F92C9105-410B-CFA0-58CB-4FC5C3B93151}"/>
                </a:ext>
              </a:extLst>
            </p:cNvPr>
            <p:cNvSpPr/>
            <p:nvPr/>
          </p:nvSpPr>
          <p:spPr>
            <a:xfrm flipH="1" flipV="1">
              <a:off x="7762682" y="3837815"/>
              <a:ext cx="45719" cy="45719"/>
            </a:xfrm>
            <a:prstGeom prst="ellipse">
              <a:avLst/>
            </a:prstGeom>
            <a:solidFill>
              <a:srgbClr val="694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00" name="Straight Connector 699">
            <a:extLst>
              <a:ext uri="{FF2B5EF4-FFF2-40B4-BE49-F238E27FC236}">
                <a16:creationId xmlns:a16="http://schemas.microsoft.com/office/drawing/2014/main" id="{F156BBF2-1AF8-D0CC-16E7-EB3F2E210EE8}"/>
              </a:ext>
            </a:extLst>
          </p:cNvPr>
          <p:cNvCxnSpPr>
            <a:cxnSpLocks/>
          </p:cNvCxnSpPr>
          <p:nvPr/>
        </p:nvCxnSpPr>
        <p:spPr>
          <a:xfrm flipH="1">
            <a:off x="9763342" y="2706122"/>
            <a:ext cx="87134" cy="75400"/>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701" name="Oval 700">
            <a:extLst>
              <a:ext uri="{FF2B5EF4-FFF2-40B4-BE49-F238E27FC236}">
                <a16:creationId xmlns:a16="http://schemas.microsoft.com/office/drawing/2014/main" id="{E9922907-E660-08E5-5138-0042867D0EC7}"/>
              </a:ext>
            </a:extLst>
          </p:cNvPr>
          <p:cNvSpPr/>
          <p:nvPr/>
        </p:nvSpPr>
        <p:spPr>
          <a:xfrm flipV="1">
            <a:off x="9745665" y="2758663"/>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2" name="Straight Connector 701">
            <a:extLst>
              <a:ext uri="{FF2B5EF4-FFF2-40B4-BE49-F238E27FC236}">
                <a16:creationId xmlns:a16="http://schemas.microsoft.com/office/drawing/2014/main" id="{63DF4886-A1A5-D4C0-2DD9-8AFFE5A50DDC}"/>
              </a:ext>
            </a:extLst>
          </p:cNvPr>
          <p:cNvCxnSpPr>
            <a:cxnSpLocks/>
          </p:cNvCxnSpPr>
          <p:nvPr/>
        </p:nvCxnSpPr>
        <p:spPr>
          <a:xfrm>
            <a:off x="9850476" y="2706122"/>
            <a:ext cx="87134" cy="75400"/>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703" name="Straight Connector 702">
            <a:extLst>
              <a:ext uri="{FF2B5EF4-FFF2-40B4-BE49-F238E27FC236}">
                <a16:creationId xmlns:a16="http://schemas.microsoft.com/office/drawing/2014/main" id="{9DA2A5A3-3C8D-19B3-C5A8-6830AC28DB39}"/>
              </a:ext>
            </a:extLst>
          </p:cNvPr>
          <p:cNvCxnSpPr>
            <a:cxnSpLocks/>
          </p:cNvCxnSpPr>
          <p:nvPr/>
        </p:nvCxnSpPr>
        <p:spPr>
          <a:xfrm>
            <a:off x="9764830" y="2788296"/>
            <a:ext cx="66840" cy="68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cxnSp>
        <p:nvCxnSpPr>
          <p:cNvPr id="704" name="Straight Connector 703">
            <a:extLst>
              <a:ext uri="{FF2B5EF4-FFF2-40B4-BE49-F238E27FC236}">
                <a16:creationId xmlns:a16="http://schemas.microsoft.com/office/drawing/2014/main" id="{6BDA5A4D-B449-4986-62CB-983E146D9E27}"/>
              </a:ext>
            </a:extLst>
          </p:cNvPr>
          <p:cNvCxnSpPr>
            <a:cxnSpLocks/>
            <a:endCxn id="705" idx="1"/>
          </p:cNvCxnSpPr>
          <p:nvPr/>
        </p:nvCxnSpPr>
        <p:spPr>
          <a:xfrm flipH="1">
            <a:off x="9701529" y="2793128"/>
            <a:ext cx="66840" cy="68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705" name="Oval 704">
            <a:extLst>
              <a:ext uri="{FF2B5EF4-FFF2-40B4-BE49-F238E27FC236}">
                <a16:creationId xmlns:a16="http://schemas.microsoft.com/office/drawing/2014/main" id="{DC49B1D5-F741-DB88-DFB4-EAE5886E8447}"/>
              </a:ext>
            </a:extLst>
          </p:cNvPr>
          <p:cNvSpPr/>
          <p:nvPr/>
        </p:nvSpPr>
        <p:spPr>
          <a:xfrm flipV="1">
            <a:off x="9694834" y="2822489"/>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Oval 705">
            <a:extLst>
              <a:ext uri="{FF2B5EF4-FFF2-40B4-BE49-F238E27FC236}">
                <a16:creationId xmlns:a16="http://schemas.microsoft.com/office/drawing/2014/main" id="{C7683658-D3FA-4181-A4A9-5C07F730200E}"/>
              </a:ext>
            </a:extLst>
          </p:cNvPr>
          <p:cNvSpPr/>
          <p:nvPr/>
        </p:nvSpPr>
        <p:spPr>
          <a:xfrm flipV="1">
            <a:off x="9799645" y="2822489"/>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7" name="Straight Connector 706">
            <a:extLst>
              <a:ext uri="{FF2B5EF4-FFF2-40B4-BE49-F238E27FC236}">
                <a16:creationId xmlns:a16="http://schemas.microsoft.com/office/drawing/2014/main" id="{A7B44D4F-C793-6883-C734-C8391E9FE29E}"/>
              </a:ext>
            </a:extLst>
          </p:cNvPr>
          <p:cNvCxnSpPr>
            <a:cxnSpLocks/>
          </p:cNvCxnSpPr>
          <p:nvPr/>
        </p:nvCxnSpPr>
        <p:spPr>
          <a:xfrm>
            <a:off x="9929146" y="2788296"/>
            <a:ext cx="66840" cy="68385"/>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cxnSp>
        <p:nvCxnSpPr>
          <p:cNvPr id="708" name="Straight Connector 707">
            <a:extLst>
              <a:ext uri="{FF2B5EF4-FFF2-40B4-BE49-F238E27FC236}">
                <a16:creationId xmlns:a16="http://schemas.microsoft.com/office/drawing/2014/main" id="{22672614-CB6C-4261-F7FF-637AF51C7D0A}"/>
              </a:ext>
            </a:extLst>
          </p:cNvPr>
          <p:cNvCxnSpPr>
            <a:cxnSpLocks/>
            <a:endCxn id="709" idx="1"/>
          </p:cNvCxnSpPr>
          <p:nvPr/>
        </p:nvCxnSpPr>
        <p:spPr>
          <a:xfrm flipH="1">
            <a:off x="9865845" y="2793128"/>
            <a:ext cx="66840" cy="68385"/>
          </a:xfrm>
          <a:prstGeom prst="line">
            <a:avLst/>
          </a:prstGeom>
          <a:ln w="9525">
            <a:solidFill>
              <a:srgbClr val="264444"/>
            </a:solidFill>
            <a:headEnd type="none"/>
          </a:ln>
        </p:spPr>
        <p:style>
          <a:lnRef idx="1">
            <a:schemeClr val="dk1"/>
          </a:lnRef>
          <a:fillRef idx="0">
            <a:schemeClr val="dk1"/>
          </a:fillRef>
          <a:effectRef idx="0">
            <a:schemeClr val="dk1"/>
          </a:effectRef>
          <a:fontRef idx="minor">
            <a:schemeClr val="tx1"/>
          </a:fontRef>
        </p:style>
      </p:cxnSp>
      <p:sp>
        <p:nvSpPr>
          <p:cNvPr id="709" name="Oval 708">
            <a:extLst>
              <a:ext uri="{FF2B5EF4-FFF2-40B4-BE49-F238E27FC236}">
                <a16:creationId xmlns:a16="http://schemas.microsoft.com/office/drawing/2014/main" id="{4AB5C7FF-DC33-BE09-4CFA-8E6E1F88A687}"/>
              </a:ext>
            </a:extLst>
          </p:cNvPr>
          <p:cNvSpPr/>
          <p:nvPr/>
        </p:nvSpPr>
        <p:spPr>
          <a:xfrm flipV="1">
            <a:off x="9859150" y="282248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Oval 709">
            <a:extLst>
              <a:ext uri="{FF2B5EF4-FFF2-40B4-BE49-F238E27FC236}">
                <a16:creationId xmlns:a16="http://schemas.microsoft.com/office/drawing/2014/main" id="{BF1B2291-2EDE-5E55-1112-2F9CA1D7D5AA}"/>
              </a:ext>
            </a:extLst>
          </p:cNvPr>
          <p:cNvSpPr/>
          <p:nvPr/>
        </p:nvSpPr>
        <p:spPr>
          <a:xfrm flipV="1">
            <a:off x="9963961" y="2822489"/>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Oval 710">
            <a:extLst>
              <a:ext uri="{FF2B5EF4-FFF2-40B4-BE49-F238E27FC236}">
                <a16:creationId xmlns:a16="http://schemas.microsoft.com/office/drawing/2014/main" id="{7EBEA84A-5163-7752-56BA-7D1B9C8F6D83}"/>
              </a:ext>
            </a:extLst>
          </p:cNvPr>
          <p:cNvSpPr/>
          <p:nvPr/>
        </p:nvSpPr>
        <p:spPr>
          <a:xfrm flipV="1">
            <a:off x="9823369" y="2681755"/>
            <a:ext cx="45719"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Oval 711">
            <a:extLst>
              <a:ext uri="{FF2B5EF4-FFF2-40B4-BE49-F238E27FC236}">
                <a16:creationId xmlns:a16="http://schemas.microsoft.com/office/drawing/2014/main" id="{43956BD9-DE46-F484-F7DE-08F5F3825424}"/>
              </a:ext>
            </a:extLst>
          </p:cNvPr>
          <p:cNvSpPr/>
          <p:nvPr/>
        </p:nvSpPr>
        <p:spPr>
          <a:xfrm flipH="1" flipV="1">
            <a:off x="9909568" y="2758663"/>
            <a:ext cx="45719" cy="45719"/>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4" name="Group 723">
            <a:extLst>
              <a:ext uri="{FF2B5EF4-FFF2-40B4-BE49-F238E27FC236}">
                <a16:creationId xmlns:a16="http://schemas.microsoft.com/office/drawing/2014/main" id="{4BD581CA-F8C3-E01D-178A-FB9CCDC04106}"/>
              </a:ext>
            </a:extLst>
          </p:cNvPr>
          <p:cNvGrpSpPr/>
          <p:nvPr/>
        </p:nvGrpSpPr>
        <p:grpSpPr>
          <a:xfrm>
            <a:off x="3187940" y="3180476"/>
            <a:ext cx="175184" cy="175184"/>
            <a:chOff x="3187940" y="3180476"/>
            <a:chExt cx="175184" cy="175184"/>
          </a:xfrm>
        </p:grpSpPr>
        <p:sp>
          <p:nvSpPr>
            <p:cNvPr id="713" name="Oval 712">
              <a:extLst>
                <a:ext uri="{FF2B5EF4-FFF2-40B4-BE49-F238E27FC236}">
                  <a16:creationId xmlns:a16="http://schemas.microsoft.com/office/drawing/2014/main" id="{B84B55C5-D91F-B18E-DF7D-05558A128A58}"/>
                </a:ext>
              </a:extLst>
            </p:cNvPr>
            <p:cNvSpPr/>
            <p:nvPr/>
          </p:nvSpPr>
          <p:spPr>
            <a:xfrm>
              <a:off x="3187940" y="3180476"/>
              <a:ext cx="175184" cy="175184"/>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3" name="Group 722">
              <a:extLst>
                <a:ext uri="{FF2B5EF4-FFF2-40B4-BE49-F238E27FC236}">
                  <a16:creationId xmlns:a16="http://schemas.microsoft.com/office/drawing/2014/main" id="{3F254CC3-1099-0981-5C46-ADBE7C21FC40}"/>
                </a:ext>
              </a:extLst>
            </p:cNvPr>
            <p:cNvGrpSpPr/>
            <p:nvPr/>
          </p:nvGrpSpPr>
          <p:grpSpPr>
            <a:xfrm rot="18900000">
              <a:off x="3251386" y="3243922"/>
              <a:ext cx="48293" cy="48293"/>
              <a:chOff x="3943976" y="3168609"/>
              <a:chExt cx="48293" cy="48293"/>
            </a:xfrm>
          </p:grpSpPr>
          <p:cxnSp>
            <p:nvCxnSpPr>
              <p:cNvPr id="718" name="Straight Connector 717">
                <a:extLst>
                  <a:ext uri="{FF2B5EF4-FFF2-40B4-BE49-F238E27FC236}">
                    <a16:creationId xmlns:a16="http://schemas.microsoft.com/office/drawing/2014/main" id="{5CD128C0-80F1-EA92-7AFB-91D56E5BA245}"/>
                  </a:ext>
                </a:extLst>
              </p:cNvPr>
              <p:cNvCxnSpPr>
                <a:cxnSpLocks/>
              </p:cNvCxnSpPr>
              <p:nvPr/>
            </p:nvCxnSpPr>
            <p:spPr>
              <a:xfrm>
                <a:off x="3968123" y="3168609"/>
                <a:ext cx="0" cy="482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1" name="Straight Connector 720">
                <a:extLst>
                  <a:ext uri="{FF2B5EF4-FFF2-40B4-BE49-F238E27FC236}">
                    <a16:creationId xmlns:a16="http://schemas.microsoft.com/office/drawing/2014/main" id="{D40C067D-FA94-C4B9-C9DF-965BFBC44B96}"/>
                  </a:ext>
                </a:extLst>
              </p:cNvPr>
              <p:cNvCxnSpPr>
                <a:cxnSpLocks/>
              </p:cNvCxnSpPr>
              <p:nvPr/>
            </p:nvCxnSpPr>
            <p:spPr>
              <a:xfrm rot="5400000">
                <a:off x="3968123" y="3168609"/>
                <a:ext cx="0" cy="482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5" name="Group 724">
            <a:extLst>
              <a:ext uri="{FF2B5EF4-FFF2-40B4-BE49-F238E27FC236}">
                <a16:creationId xmlns:a16="http://schemas.microsoft.com/office/drawing/2014/main" id="{732EB8E6-7685-754F-2899-A6A19D5CD4D6}"/>
              </a:ext>
            </a:extLst>
          </p:cNvPr>
          <p:cNvGrpSpPr/>
          <p:nvPr/>
        </p:nvGrpSpPr>
        <p:grpSpPr>
          <a:xfrm>
            <a:off x="3330282" y="3341408"/>
            <a:ext cx="175184" cy="175184"/>
            <a:chOff x="3187940" y="3180476"/>
            <a:chExt cx="175184" cy="175184"/>
          </a:xfrm>
        </p:grpSpPr>
        <p:sp>
          <p:nvSpPr>
            <p:cNvPr id="726" name="Oval 725">
              <a:extLst>
                <a:ext uri="{FF2B5EF4-FFF2-40B4-BE49-F238E27FC236}">
                  <a16:creationId xmlns:a16="http://schemas.microsoft.com/office/drawing/2014/main" id="{D3D8D353-2EA7-8D1D-6A7C-80B6CF3C09C9}"/>
                </a:ext>
              </a:extLst>
            </p:cNvPr>
            <p:cNvSpPr/>
            <p:nvPr/>
          </p:nvSpPr>
          <p:spPr>
            <a:xfrm>
              <a:off x="3187940" y="3180476"/>
              <a:ext cx="175184" cy="175184"/>
            </a:xfrm>
            <a:prstGeom prst="ellipse">
              <a:avLst/>
            </a:prstGeom>
            <a:solidFill>
              <a:srgbClr val="26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7" name="Group 726">
              <a:extLst>
                <a:ext uri="{FF2B5EF4-FFF2-40B4-BE49-F238E27FC236}">
                  <a16:creationId xmlns:a16="http://schemas.microsoft.com/office/drawing/2014/main" id="{180C0E67-8671-4DA9-531A-3D6C64C41E70}"/>
                </a:ext>
              </a:extLst>
            </p:cNvPr>
            <p:cNvGrpSpPr/>
            <p:nvPr/>
          </p:nvGrpSpPr>
          <p:grpSpPr>
            <a:xfrm rot="18900000">
              <a:off x="3251386" y="3243922"/>
              <a:ext cx="48293" cy="48293"/>
              <a:chOff x="3943976" y="3168609"/>
              <a:chExt cx="48293" cy="48293"/>
            </a:xfrm>
          </p:grpSpPr>
          <p:cxnSp>
            <p:nvCxnSpPr>
              <p:cNvPr id="728" name="Straight Connector 727">
                <a:extLst>
                  <a:ext uri="{FF2B5EF4-FFF2-40B4-BE49-F238E27FC236}">
                    <a16:creationId xmlns:a16="http://schemas.microsoft.com/office/drawing/2014/main" id="{539031AE-21A1-D4B7-2B6B-9951DAC9AF24}"/>
                  </a:ext>
                </a:extLst>
              </p:cNvPr>
              <p:cNvCxnSpPr>
                <a:cxnSpLocks/>
              </p:cNvCxnSpPr>
              <p:nvPr/>
            </p:nvCxnSpPr>
            <p:spPr>
              <a:xfrm>
                <a:off x="3968123" y="3168609"/>
                <a:ext cx="0" cy="482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9" name="Straight Connector 728">
                <a:extLst>
                  <a:ext uri="{FF2B5EF4-FFF2-40B4-BE49-F238E27FC236}">
                    <a16:creationId xmlns:a16="http://schemas.microsoft.com/office/drawing/2014/main" id="{4B1CAC77-3A6C-BCA9-8180-CF2C6A88ABC9}"/>
                  </a:ext>
                </a:extLst>
              </p:cNvPr>
              <p:cNvCxnSpPr>
                <a:cxnSpLocks/>
              </p:cNvCxnSpPr>
              <p:nvPr/>
            </p:nvCxnSpPr>
            <p:spPr>
              <a:xfrm rot="5400000">
                <a:off x="3968123" y="3168609"/>
                <a:ext cx="0" cy="482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31" name="Oval 730">
            <a:extLst>
              <a:ext uri="{FF2B5EF4-FFF2-40B4-BE49-F238E27FC236}">
                <a16:creationId xmlns:a16="http://schemas.microsoft.com/office/drawing/2014/main" id="{F978C8FD-DB14-9810-AAA0-147A9DF3F01A}"/>
              </a:ext>
            </a:extLst>
          </p:cNvPr>
          <p:cNvSpPr/>
          <p:nvPr/>
        </p:nvSpPr>
        <p:spPr>
          <a:xfrm>
            <a:off x="3393307" y="3143153"/>
            <a:ext cx="175184" cy="17518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2" name="Group 731">
            <a:extLst>
              <a:ext uri="{FF2B5EF4-FFF2-40B4-BE49-F238E27FC236}">
                <a16:creationId xmlns:a16="http://schemas.microsoft.com/office/drawing/2014/main" id="{08F227A0-325F-2AA2-E085-E5918C1CE331}"/>
              </a:ext>
            </a:extLst>
          </p:cNvPr>
          <p:cNvGrpSpPr/>
          <p:nvPr/>
        </p:nvGrpSpPr>
        <p:grpSpPr>
          <a:xfrm rot="18900000">
            <a:off x="3456753" y="3206599"/>
            <a:ext cx="48293" cy="48293"/>
            <a:chOff x="3943976" y="3168609"/>
            <a:chExt cx="48293" cy="48293"/>
          </a:xfrm>
        </p:grpSpPr>
        <p:cxnSp>
          <p:nvCxnSpPr>
            <p:cNvPr id="733" name="Straight Connector 732">
              <a:extLst>
                <a:ext uri="{FF2B5EF4-FFF2-40B4-BE49-F238E27FC236}">
                  <a16:creationId xmlns:a16="http://schemas.microsoft.com/office/drawing/2014/main" id="{C531BD5A-578A-F093-E285-EE81A058DCFC}"/>
                </a:ext>
              </a:extLst>
            </p:cNvPr>
            <p:cNvCxnSpPr>
              <a:cxnSpLocks/>
            </p:cNvCxnSpPr>
            <p:nvPr/>
          </p:nvCxnSpPr>
          <p:spPr>
            <a:xfrm>
              <a:off x="3968123" y="3168609"/>
              <a:ext cx="0" cy="48293"/>
            </a:xfrm>
            <a:prstGeom prst="line">
              <a:avLst/>
            </a:prstGeom>
            <a:ln w="6350">
              <a:solidFill>
                <a:srgbClr val="264444"/>
              </a:solidFill>
            </a:ln>
          </p:spPr>
          <p:style>
            <a:lnRef idx="1">
              <a:schemeClr val="accent1"/>
            </a:lnRef>
            <a:fillRef idx="0">
              <a:schemeClr val="accent1"/>
            </a:fillRef>
            <a:effectRef idx="0">
              <a:schemeClr val="accent1"/>
            </a:effectRef>
            <a:fontRef idx="minor">
              <a:schemeClr val="tx1"/>
            </a:fontRef>
          </p:style>
        </p:cxnSp>
        <p:cxnSp>
          <p:nvCxnSpPr>
            <p:cNvPr id="734" name="Straight Connector 733">
              <a:extLst>
                <a:ext uri="{FF2B5EF4-FFF2-40B4-BE49-F238E27FC236}">
                  <a16:creationId xmlns:a16="http://schemas.microsoft.com/office/drawing/2014/main" id="{F4B62F87-900A-0C6C-CA75-4D661E2475CE}"/>
                </a:ext>
              </a:extLst>
            </p:cNvPr>
            <p:cNvCxnSpPr>
              <a:cxnSpLocks/>
            </p:cNvCxnSpPr>
            <p:nvPr/>
          </p:nvCxnSpPr>
          <p:spPr>
            <a:xfrm rot="5400000">
              <a:off x="3968123" y="3168609"/>
              <a:ext cx="0" cy="48293"/>
            </a:xfrm>
            <a:prstGeom prst="line">
              <a:avLst/>
            </a:prstGeom>
            <a:ln w="6350">
              <a:solidFill>
                <a:srgbClr val="264444"/>
              </a:solidFill>
            </a:ln>
          </p:spPr>
          <p:style>
            <a:lnRef idx="1">
              <a:schemeClr val="accent1"/>
            </a:lnRef>
            <a:fillRef idx="0">
              <a:schemeClr val="accent1"/>
            </a:fillRef>
            <a:effectRef idx="0">
              <a:schemeClr val="accent1"/>
            </a:effectRef>
            <a:fontRef idx="minor">
              <a:schemeClr val="tx1"/>
            </a:fontRef>
          </p:style>
        </p:cxnSp>
      </p:grpSp>
      <p:cxnSp>
        <p:nvCxnSpPr>
          <p:cNvPr id="735" name="Straight Connector 734">
            <a:extLst>
              <a:ext uri="{FF2B5EF4-FFF2-40B4-BE49-F238E27FC236}">
                <a16:creationId xmlns:a16="http://schemas.microsoft.com/office/drawing/2014/main" id="{1DE9BD85-5427-491D-BE23-41F6C70E9F43}"/>
              </a:ext>
            </a:extLst>
          </p:cNvPr>
          <p:cNvCxnSpPr>
            <a:cxnSpLocks/>
          </p:cNvCxnSpPr>
          <p:nvPr/>
        </p:nvCxnSpPr>
        <p:spPr>
          <a:xfrm>
            <a:off x="5270500" y="3405971"/>
            <a:ext cx="425450" cy="0"/>
          </a:xfrm>
          <a:prstGeom prst="line">
            <a:avLst/>
          </a:prstGeom>
          <a:ln w="9525">
            <a:solidFill>
              <a:srgbClr val="264444"/>
            </a:solidFill>
            <a:prstDash val="sysDot"/>
            <a:headEnd type="none"/>
          </a:ln>
        </p:spPr>
        <p:style>
          <a:lnRef idx="1">
            <a:schemeClr val="dk1"/>
          </a:lnRef>
          <a:fillRef idx="0">
            <a:schemeClr val="dk1"/>
          </a:fillRef>
          <a:effectRef idx="0">
            <a:schemeClr val="dk1"/>
          </a:effectRef>
          <a:fontRef idx="minor">
            <a:schemeClr val="tx1"/>
          </a:fontRef>
        </p:style>
      </p:cxnSp>
      <p:cxnSp>
        <p:nvCxnSpPr>
          <p:cNvPr id="736" name="Straight Connector 735">
            <a:extLst>
              <a:ext uri="{FF2B5EF4-FFF2-40B4-BE49-F238E27FC236}">
                <a16:creationId xmlns:a16="http://schemas.microsoft.com/office/drawing/2014/main" id="{E1138AE2-91BC-A55F-5141-38A6E784B182}"/>
              </a:ext>
            </a:extLst>
          </p:cNvPr>
          <p:cNvCxnSpPr>
            <a:cxnSpLocks/>
          </p:cNvCxnSpPr>
          <p:nvPr/>
        </p:nvCxnSpPr>
        <p:spPr>
          <a:xfrm>
            <a:off x="5270500" y="3473594"/>
            <a:ext cx="425450" cy="0"/>
          </a:xfrm>
          <a:prstGeom prst="line">
            <a:avLst/>
          </a:prstGeom>
          <a:ln w="9525">
            <a:solidFill>
              <a:srgbClr val="264444"/>
            </a:solidFill>
            <a:prstDash val="sysDot"/>
            <a:head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92407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A7327-A2ED-412E-AF6A-CA767720F1DD}"/>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A29D5A1F-DC50-88C9-409C-BAFFC13C8BF3}"/>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21</a:t>
            </a:fld>
            <a:endParaRPr lang="en-US" noProof="0" dirty="0"/>
          </a:p>
        </p:txBody>
      </p:sp>
      <p:grpSp>
        <p:nvGrpSpPr>
          <p:cNvPr id="34" name="Group 33">
            <a:extLst>
              <a:ext uri="{FF2B5EF4-FFF2-40B4-BE49-F238E27FC236}">
                <a16:creationId xmlns:a16="http://schemas.microsoft.com/office/drawing/2014/main" id="{44BE8F7E-78C5-C38B-261D-933D28D916B7}"/>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DFF224E9-671F-E8FD-67B4-81F2106697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EE9F7723-21BC-F502-692C-1D646D94C0A1}"/>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aphicFrame>
        <p:nvGraphicFramePr>
          <p:cNvPr id="134" name="Table 133">
            <a:extLst>
              <a:ext uri="{FF2B5EF4-FFF2-40B4-BE49-F238E27FC236}">
                <a16:creationId xmlns:a16="http://schemas.microsoft.com/office/drawing/2014/main" id="{E3EA0D0F-3C48-C5B4-CAEA-2537EFFDE1A2}"/>
              </a:ext>
            </a:extLst>
          </p:cNvPr>
          <p:cNvGraphicFramePr>
            <a:graphicFrameLocks noGrp="1"/>
          </p:cNvGraphicFramePr>
          <p:nvPr>
            <p:extLst>
              <p:ext uri="{D42A27DB-BD31-4B8C-83A1-F6EECF244321}">
                <p14:modId xmlns:p14="http://schemas.microsoft.com/office/powerpoint/2010/main" val="3860381371"/>
              </p:ext>
            </p:extLst>
          </p:nvPr>
        </p:nvGraphicFramePr>
        <p:xfrm>
          <a:off x="1559778" y="1493520"/>
          <a:ext cx="9040912" cy="3657600"/>
        </p:xfrm>
        <a:graphic>
          <a:graphicData uri="http://schemas.openxmlformats.org/drawingml/2006/table">
            <a:tbl>
              <a:tblPr firstRow="1" bandRow="1">
                <a:tableStyleId>{5C22544A-7EE6-4342-B048-85BDC9FD1C3A}</a:tableStyleId>
              </a:tblPr>
              <a:tblGrid>
                <a:gridCol w="1804267">
                  <a:extLst>
                    <a:ext uri="{9D8B030D-6E8A-4147-A177-3AD203B41FA5}">
                      <a16:colId xmlns:a16="http://schemas.microsoft.com/office/drawing/2014/main" val="1058555330"/>
                    </a:ext>
                  </a:extLst>
                </a:gridCol>
                <a:gridCol w="2412215">
                  <a:extLst>
                    <a:ext uri="{9D8B030D-6E8A-4147-A177-3AD203B41FA5}">
                      <a16:colId xmlns:a16="http://schemas.microsoft.com/office/drawing/2014/main" val="660335785"/>
                    </a:ext>
                  </a:extLst>
                </a:gridCol>
                <a:gridCol w="2412215">
                  <a:extLst>
                    <a:ext uri="{9D8B030D-6E8A-4147-A177-3AD203B41FA5}">
                      <a16:colId xmlns:a16="http://schemas.microsoft.com/office/drawing/2014/main" val="2281043628"/>
                    </a:ext>
                  </a:extLst>
                </a:gridCol>
                <a:gridCol w="2412215">
                  <a:extLst>
                    <a:ext uri="{9D8B030D-6E8A-4147-A177-3AD203B41FA5}">
                      <a16:colId xmlns:a16="http://schemas.microsoft.com/office/drawing/2014/main" val="3802168303"/>
                    </a:ext>
                  </a:extLst>
                </a:gridCol>
              </a:tblGrid>
              <a:tr h="370840">
                <a:tc>
                  <a:txBody>
                    <a:bodyPr/>
                    <a:lstStyle/>
                    <a:p>
                      <a:endParaRPr lang="en-US" sz="2000" b="1" i="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Purpose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Methods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Strengths</a:t>
                      </a:r>
                      <a:endParaRPr lang="en-US" sz="8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8034327"/>
                  </a:ext>
                </a:extLst>
              </a:tr>
              <a:tr h="370840">
                <a:tc>
                  <a:txBody>
                    <a:bodyPr/>
                    <a:lstStyle/>
                    <a:p>
                      <a:endParaRPr lang="en-US" sz="800" b="1" i="0" noProof="0" dirty="0">
                        <a:solidFill>
                          <a:schemeClr val="bg2">
                            <a:lumMod val="25000"/>
                          </a:schemeClr>
                        </a:solidFill>
                        <a:latin typeface="Aptos" panose="020B0004020202020204" pitchFamily="34" charset="0"/>
                        <a:cs typeface="Times New Roman" panose="02020603050405020304" pitchFamily="18" charset="0"/>
                      </a:endParaRPr>
                    </a:p>
                    <a:p>
                      <a:r>
                        <a:rPr lang="en-US" sz="1400" b="1" i="0" noProof="0" dirty="0">
                          <a:solidFill>
                            <a:schemeClr val="bg2">
                              <a:lumMod val="25000"/>
                            </a:schemeClr>
                          </a:solidFill>
                          <a:latin typeface="Aptos" panose="020B0004020202020204" pitchFamily="34" charset="0"/>
                          <a:cs typeface="Times New Roman" panose="02020603050405020304" pitchFamily="18" charset="0"/>
                        </a:rPr>
                        <a:t>Filter Methods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2">
                              <a:lumMod val="25000"/>
                            </a:schemeClr>
                          </a:solidFill>
                          <a:latin typeface="Aptos" panose="020B0004020202020204" pitchFamily="34" charset="0"/>
                        </a:rPr>
                        <a:t>Evaluate features independently of the model</a:t>
                      </a:r>
                      <a:endParaRPr lang="en-US" sz="14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800" noProof="0" dirty="0">
                        <a:solidFill>
                          <a:schemeClr val="bg2">
                            <a:lumMod val="25000"/>
                          </a:schemeClr>
                        </a:solidFill>
                        <a:latin typeface="Aptos" panose="020B00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Correlation, coefficient of determination, mutual information, Chi-squared, F-test, variance threshold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Fast, interpretable, good for pre-processing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6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Wrapper Methods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Use model performance to guide selection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Forward selection, backward elimination, stepwise selection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Captures interactions tailored to the model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03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Embedded Methods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Integrate feature selection into model training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LASSO, Elastic net, decision tree importance, recursive feature elimination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Efficient, often yields sparse interpretable models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9868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Domain-guided Methods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Apply expert knowledge or constrains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Manual curation, rule-based inclusion/exclusion, clinical relevance filters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bg2">
                              <a:lumMod val="25000"/>
                            </a:schemeClr>
                          </a:solidFill>
                          <a:latin typeface="Aptos" panose="020B0004020202020204" pitchFamily="34" charset="0"/>
                        </a:rPr>
                        <a:t>Ensures trust, interpretability, ethical alignment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967683"/>
                  </a:ext>
                </a:extLst>
              </a:tr>
            </a:tbl>
          </a:graphicData>
        </a:graphic>
      </p:graphicFrame>
    </p:spTree>
    <p:extLst>
      <p:ext uri="{BB962C8B-B14F-4D97-AF65-F5344CB8AC3E}">
        <p14:creationId xmlns:p14="http://schemas.microsoft.com/office/powerpoint/2010/main" val="3263716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540A3-822F-ADC3-1A75-72EA0D4C11B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F7933F2-94AA-1482-5C25-EC5AFBCB3247}"/>
              </a:ext>
            </a:extLst>
          </p:cNvPr>
          <p:cNvGrpSpPr/>
          <p:nvPr/>
        </p:nvGrpSpPr>
        <p:grpSpPr>
          <a:xfrm>
            <a:off x="898142" y="6203580"/>
            <a:ext cx="1863495" cy="517895"/>
            <a:chOff x="2808222" y="6127115"/>
            <a:chExt cx="1863495" cy="517895"/>
          </a:xfrm>
        </p:grpSpPr>
        <p:pic>
          <p:nvPicPr>
            <p:cNvPr id="16" name="Picture 2">
              <a:extLst>
                <a:ext uri="{FF2B5EF4-FFF2-40B4-BE49-F238E27FC236}">
                  <a16:creationId xmlns:a16="http://schemas.microsoft.com/office/drawing/2014/main" id="{160841B3-18D5-6027-6AD2-C9CEDD1C2D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close up of a logo&#10;&#10;AI-generated content may be incorrect.">
              <a:extLst>
                <a:ext uri="{FF2B5EF4-FFF2-40B4-BE49-F238E27FC236}">
                  <a16:creationId xmlns:a16="http://schemas.microsoft.com/office/drawing/2014/main" id="{9711DDBF-5A31-3009-6ABC-89F860B00E2A}"/>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8" name="Slide Number Placeholder 8">
            <a:extLst>
              <a:ext uri="{FF2B5EF4-FFF2-40B4-BE49-F238E27FC236}">
                <a16:creationId xmlns:a16="http://schemas.microsoft.com/office/drawing/2014/main" id="{2A50BC53-8E80-4D0B-9255-C7DE8D82F748}"/>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22</a:t>
            </a:fld>
            <a:endParaRPr lang="en-US" noProof="0" dirty="0"/>
          </a:p>
        </p:txBody>
      </p:sp>
      <p:pic>
        <p:nvPicPr>
          <p:cNvPr id="3" name="Picture 2" descr="Diagram&#10;&#10;Description automatically generated">
            <a:extLst>
              <a:ext uri="{FF2B5EF4-FFF2-40B4-BE49-F238E27FC236}">
                <a16:creationId xmlns:a16="http://schemas.microsoft.com/office/drawing/2014/main" id="{503A0CCD-7839-2DA0-8FE6-8F8D4D5801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7903" y="525803"/>
            <a:ext cx="5776195" cy="5800636"/>
          </a:xfrm>
          <a:prstGeom prst="rect">
            <a:avLst/>
          </a:prstGeom>
        </p:spPr>
      </p:pic>
    </p:spTree>
    <p:extLst>
      <p:ext uri="{BB962C8B-B14F-4D97-AF65-F5344CB8AC3E}">
        <p14:creationId xmlns:p14="http://schemas.microsoft.com/office/powerpoint/2010/main" val="3797717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825B-6446-1295-6565-7E3FDBAE5DDE}"/>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8AD46BB5-9CE1-A115-5C90-C46A97805FEF}"/>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23</a:t>
            </a:fld>
            <a:endParaRPr lang="en-US" noProof="0" dirty="0"/>
          </a:p>
        </p:txBody>
      </p:sp>
      <p:grpSp>
        <p:nvGrpSpPr>
          <p:cNvPr id="34" name="Group 33">
            <a:extLst>
              <a:ext uri="{FF2B5EF4-FFF2-40B4-BE49-F238E27FC236}">
                <a16:creationId xmlns:a16="http://schemas.microsoft.com/office/drawing/2014/main" id="{D967A35D-FC39-1477-4C84-9FBCB7A2E853}"/>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4BAE60FD-67BD-7863-3EA9-377D1CC39C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3C8A2CC4-73FE-CCEE-EB08-70E74F89029D}"/>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pic>
        <p:nvPicPr>
          <p:cNvPr id="2" name="Picture 1" descr="Diagram&#10;&#10;Description automatically generated">
            <a:extLst>
              <a:ext uri="{FF2B5EF4-FFF2-40B4-BE49-F238E27FC236}">
                <a16:creationId xmlns:a16="http://schemas.microsoft.com/office/drawing/2014/main" id="{14FB8E12-280F-5DD0-CBBC-39F3AB5DCDC6}"/>
              </a:ext>
            </a:extLst>
          </p:cNvPr>
          <p:cNvPicPr>
            <a:picLocks noChangeAspect="1"/>
          </p:cNvPicPr>
          <p:nvPr/>
        </p:nvPicPr>
        <p:blipFill>
          <a:blip r:embed="rId5">
            <a:extLst>
              <a:ext uri="{28A0092B-C50C-407E-A947-70E740481C1C}">
                <a14:useLocalDpi xmlns:a14="http://schemas.microsoft.com/office/drawing/2010/main" val="0"/>
              </a:ext>
            </a:extLst>
          </a:blip>
          <a:srcRect t="-2635" b="50240"/>
          <a:stretch>
            <a:fillRect/>
          </a:stretch>
        </p:blipFill>
        <p:spPr>
          <a:xfrm>
            <a:off x="3207902" y="2503358"/>
            <a:ext cx="5776195" cy="3039256"/>
          </a:xfrm>
          <a:prstGeom prst="rect">
            <a:avLst/>
          </a:prstGeom>
        </p:spPr>
      </p:pic>
      <p:pic>
        <p:nvPicPr>
          <p:cNvPr id="5" name="Picture 4" descr="A black text on a white background&#10;&#10;AI-generated content may be incorrect.">
            <a:extLst>
              <a:ext uri="{FF2B5EF4-FFF2-40B4-BE49-F238E27FC236}">
                <a16:creationId xmlns:a16="http://schemas.microsoft.com/office/drawing/2014/main" id="{1677A686-EB50-4DA6-74AF-EA490989D7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9907" y="5542614"/>
            <a:ext cx="1752184" cy="389374"/>
          </a:xfrm>
          <a:prstGeom prst="rect">
            <a:avLst/>
          </a:prstGeom>
        </p:spPr>
      </p:pic>
      <p:sp>
        <p:nvSpPr>
          <p:cNvPr id="38" name="TextBox 37">
            <a:extLst>
              <a:ext uri="{FF2B5EF4-FFF2-40B4-BE49-F238E27FC236}">
                <a16:creationId xmlns:a16="http://schemas.microsoft.com/office/drawing/2014/main" id="{52720325-729C-7363-BDE9-7F455969CDE7}"/>
              </a:ext>
            </a:extLst>
          </p:cNvPr>
          <p:cNvSpPr txBox="1"/>
          <p:nvPr/>
        </p:nvSpPr>
        <p:spPr>
          <a:xfrm>
            <a:off x="6171874" y="1789477"/>
            <a:ext cx="3643081" cy="738664"/>
          </a:xfrm>
          <a:prstGeom prst="rect">
            <a:avLst/>
          </a:prstGeom>
          <a:noFill/>
        </p:spPr>
        <p:txBody>
          <a:bodyPr wrap="square">
            <a:spAutoFit/>
          </a:bodyPr>
          <a:lstStyle/>
          <a:p>
            <a:r>
              <a:rPr lang="en-US" sz="1400" b="1" dirty="0">
                <a:latin typeface="Aptos" panose="020B0004020202020204" pitchFamily="34" charset="0"/>
              </a:rPr>
              <a:t>Define the learning task (regression, classification, etc.); clarify assumptions and constraints</a:t>
            </a:r>
            <a:endParaRPr lang="en-GB" sz="1400" b="1" dirty="0">
              <a:latin typeface="Aptos" panose="020B0004020202020204" pitchFamily="34" charset="0"/>
            </a:endParaRPr>
          </a:p>
        </p:txBody>
      </p:sp>
      <p:cxnSp>
        <p:nvCxnSpPr>
          <p:cNvPr id="46" name="Straight Connector 45">
            <a:extLst>
              <a:ext uri="{FF2B5EF4-FFF2-40B4-BE49-F238E27FC236}">
                <a16:creationId xmlns:a16="http://schemas.microsoft.com/office/drawing/2014/main" id="{2E316634-ED1A-5F6C-EC2F-A853EDA58B45}"/>
              </a:ext>
            </a:extLst>
          </p:cNvPr>
          <p:cNvCxnSpPr>
            <a:cxnSpLocks/>
          </p:cNvCxnSpPr>
          <p:nvPr/>
        </p:nvCxnSpPr>
        <p:spPr>
          <a:xfrm flipV="1">
            <a:off x="6138861" y="1946003"/>
            <a:ext cx="0" cy="775419"/>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DC0B9B01-CF4A-1B13-0710-9C38823E2572}"/>
              </a:ext>
            </a:extLst>
          </p:cNvPr>
          <p:cNvCxnSpPr>
            <a:cxnSpLocks/>
          </p:cNvCxnSpPr>
          <p:nvPr/>
        </p:nvCxnSpPr>
        <p:spPr>
          <a:xfrm flipH="1">
            <a:off x="6135701" y="1946003"/>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77" name="TextBox 76">
            <a:extLst>
              <a:ext uri="{FF2B5EF4-FFF2-40B4-BE49-F238E27FC236}">
                <a16:creationId xmlns:a16="http://schemas.microsoft.com/office/drawing/2014/main" id="{16CF8C06-E6DD-AFF1-2162-544A03A0CEEF}"/>
              </a:ext>
            </a:extLst>
          </p:cNvPr>
          <p:cNvSpPr txBox="1"/>
          <p:nvPr/>
        </p:nvSpPr>
        <p:spPr>
          <a:xfrm>
            <a:off x="9057268" y="3309267"/>
            <a:ext cx="2946395" cy="738664"/>
          </a:xfrm>
          <a:prstGeom prst="rect">
            <a:avLst/>
          </a:prstGeom>
          <a:noFill/>
        </p:spPr>
        <p:txBody>
          <a:bodyPr wrap="square">
            <a:spAutoFit/>
          </a:bodyPr>
          <a:lstStyle/>
          <a:p>
            <a:r>
              <a:rPr lang="en-GB" sz="1400" b="1" dirty="0">
                <a:latin typeface="Aptos" panose="020B0004020202020204" pitchFamily="34" charset="0"/>
              </a:rPr>
              <a:t>Check if features are available, relevant and measurable. Anticipate encoding needs.</a:t>
            </a:r>
          </a:p>
        </p:txBody>
      </p:sp>
      <p:cxnSp>
        <p:nvCxnSpPr>
          <p:cNvPr id="79" name="Straight Connector 78">
            <a:extLst>
              <a:ext uri="{FF2B5EF4-FFF2-40B4-BE49-F238E27FC236}">
                <a16:creationId xmlns:a16="http://schemas.microsoft.com/office/drawing/2014/main" id="{5FFA4AE2-D1E3-EDC0-C26D-36D5E353BD8E}"/>
              </a:ext>
            </a:extLst>
          </p:cNvPr>
          <p:cNvCxnSpPr>
            <a:cxnSpLocks/>
          </p:cNvCxnSpPr>
          <p:nvPr/>
        </p:nvCxnSpPr>
        <p:spPr>
          <a:xfrm flipV="1">
            <a:off x="8477250" y="3469739"/>
            <a:ext cx="548671" cy="475243"/>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56191F63-9A34-E5E9-96E5-6C4E8E256B5B}"/>
              </a:ext>
            </a:extLst>
          </p:cNvPr>
          <p:cNvCxnSpPr>
            <a:cxnSpLocks/>
          </p:cNvCxnSpPr>
          <p:nvPr/>
        </p:nvCxnSpPr>
        <p:spPr>
          <a:xfrm flipH="1">
            <a:off x="9025921" y="3469739"/>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84" name="Oval 83">
            <a:extLst>
              <a:ext uri="{FF2B5EF4-FFF2-40B4-BE49-F238E27FC236}">
                <a16:creationId xmlns:a16="http://schemas.microsoft.com/office/drawing/2014/main" id="{DC44F3D7-F9DF-BCF8-C375-C7FEB1E1D34D}"/>
              </a:ext>
            </a:extLst>
          </p:cNvPr>
          <p:cNvSpPr/>
          <p:nvPr/>
        </p:nvSpPr>
        <p:spPr>
          <a:xfrm flipH="1">
            <a:off x="8222692" y="4082758"/>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79AC8302-B115-2C98-D3FF-032EDEBF10BD}"/>
              </a:ext>
            </a:extLst>
          </p:cNvPr>
          <p:cNvCxnSpPr>
            <a:cxnSpLocks/>
          </p:cNvCxnSpPr>
          <p:nvPr/>
        </p:nvCxnSpPr>
        <p:spPr>
          <a:xfrm flipH="1">
            <a:off x="8287329" y="3946491"/>
            <a:ext cx="189921" cy="162996"/>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88" name="Oval 87">
            <a:extLst>
              <a:ext uri="{FF2B5EF4-FFF2-40B4-BE49-F238E27FC236}">
                <a16:creationId xmlns:a16="http://schemas.microsoft.com/office/drawing/2014/main" id="{E179ED6F-831C-ADB7-B965-664D2BBF0285}"/>
              </a:ext>
            </a:extLst>
          </p:cNvPr>
          <p:cNvSpPr/>
          <p:nvPr/>
        </p:nvSpPr>
        <p:spPr>
          <a:xfrm flipH="1">
            <a:off x="6095998" y="2703002"/>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Connector 91">
            <a:extLst>
              <a:ext uri="{FF2B5EF4-FFF2-40B4-BE49-F238E27FC236}">
                <a16:creationId xmlns:a16="http://schemas.microsoft.com/office/drawing/2014/main" id="{FE7BDD30-0422-4F83-D0FB-324684554B46}"/>
              </a:ext>
            </a:extLst>
          </p:cNvPr>
          <p:cNvCxnSpPr>
            <a:cxnSpLocks/>
          </p:cNvCxnSpPr>
          <p:nvPr/>
        </p:nvCxnSpPr>
        <p:spPr>
          <a:xfrm flipV="1">
            <a:off x="6135701" y="2661814"/>
            <a:ext cx="0" cy="7338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95" name="Oval 94">
            <a:extLst>
              <a:ext uri="{FF2B5EF4-FFF2-40B4-BE49-F238E27FC236}">
                <a16:creationId xmlns:a16="http://schemas.microsoft.com/office/drawing/2014/main" id="{E3C0B395-AC22-5786-BF1A-372A47B6FC4F}"/>
              </a:ext>
            </a:extLst>
          </p:cNvPr>
          <p:cNvSpPr/>
          <p:nvPr/>
        </p:nvSpPr>
        <p:spPr>
          <a:xfrm flipH="1">
            <a:off x="3883584" y="4039895"/>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27544A40-6769-B38C-C7D4-BDD70FE56A10}"/>
              </a:ext>
            </a:extLst>
          </p:cNvPr>
          <p:cNvCxnSpPr>
            <a:cxnSpLocks/>
          </p:cNvCxnSpPr>
          <p:nvPr/>
        </p:nvCxnSpPr>
        <p:spPr>
          <a:xfrm>
            <a:off x="3212013" y="3453769"/>
            <a:ext cx="548671" cy="475243"/>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D3E4E197-6DF0-1E6E-5086-30416B349150}"/>
              </a:ext>
            </a:extLst>
          </p:cNvPr>
          <p:cNvCxnSpPr>
            <a:cxnSpLocks/>
          </p:cNvCxnSpPr>
          <p:nvPr/>
        </p:nvCxnSpPr>
        <p:spPr>
          <a:xfrm flipH="1" flipV="1">
            <a:off x="3732998" y="3905250"/>
            <a:ext cx="122647" cy="105260"/>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cxnSp>
        <p:nvCxnSpPr>
          <p:cNvPr id="101" name="Straight Connector 100">
            <a:extLst>
              <a:ext uri="{FF2B5EF4-FFF2-40B4-BE49-F238E27FC236}">
                <a16:creationId xmlns:a16="http://schemas.microsoft.com/office/drawing/2014/main" id="{02C9EB8C-4EA1-E347-3FE1-89BB0CC6E5C7}"/>
              </a:ext>
            </a:extLst>
          </p:cNvPr>
          <p:cNvCxnSpPr>
            <a:cxnSpLocks/>
          </p:cNvCxnSpPr>
          <p:nvPr/>
        </p:nvCxnSpPr>
        <p:spPr>
          <a:xfrm flipH="1">
            <a:off x="3135555" y="3453769"/>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0A9B8D97-4F8B-F83B-A1D1-E4CC60164F8C}"/>
              </a:ext>
            </a:extLst>
          </p:cNvPr>
          <p:cNvSpPr txBox="1"/>
          <p:nvPr/>
        </p:nvSpPr>
        <p:spPr>
          <a:xfrm>
            <a:off x="205976" y="3309267"/>
            <a:ext cx="2946395" cy="1600438"/>
          </a:xfrm>
          <a:prstGeom prst="rect">
            <a:avLst/>
          </a:prstGeom>
          <a:noFill/>
        </p:spPr>
        <p:txBody>
          <a:bodyPr wrap="square">
            <a:spAutoFit/>
          </a:bodyPr>
          <a:lstStyle/>
          <a:p>
            <a:pPr algn="r"/>
            <a:r>
              <a:rPr lang="en-GB" sz="1400" b="1" dirty="0">
                <a:latin typeface="Aptos" panose="020B0004020202020204" pitchFamily="34" charset="0"/>
              </a:rPr>
              <a:t>Communicate model diagnostics (residuals, feature importance, partial dependence).</a:t>
            </a:r>
          </a:p>
          <a:p>
            <a:pPr algn="r"/>
            <a:endParaRPr lang="en-GB" sz="1400" dirty="0">
              <a:latin typeface="Aptos" panose="020B0004020202020204" pitchFamily="34" charset="0"/>
            </a:endParaRPr>
          </a:p>
          <a:p>
            <a:pPr algn="r"/>
            <a:r>
              <a:rPr lang="en-GB" sz="1400" dirty="0">
                <a:latin typeface="Aptos" panose="020B0004020202020204" pitchFamily="34" charset="0"/>
              </a:rPr>
              <a:t>Visualize feature impact, selection rationale, and model fit to support stakeholder decisions.</a:t>
            </a:r>
          </a:p>
        </p:txBody>
      </p:sp>
    </p:spTree>
    <p:extLst>
      <p:ext uri="{BB962C8B-B14F-4D97-AF65-F5344CB8AC3E}">
        <p14:creationId xmlns:p14="http://schemas.microsoft.com/office/powerpoint/2010/main" val="159799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540A3-822F-ADC3-1A75-72EA0D4C11B3}"/>
            </a:ext>
          </a:extLst>
        </p:cNvPr>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503A0CCD-7839-2DA0-8FE6-8F8D4D5801F7}"/>
              </a:ext>
            </a:extLst>
          </p:cNvPr>
          <p:cNvPicPr>
            <a:picLocks noChangeAspect="1"/>
          </p:cNvPicPr>
          <p:nvPr/>
        </p:nvPicPr>
        <p:blipFill>
          <a:blip r:embed="rId2">
            <a:extLst>
              <a:ext uri="{28A0092B-C50C-407E-A947-70E740481C1C}">
                <a14:useLocalDpi xmlns:a14="http://schemas.microsoft.com/office/drawing/2010/main" val="0"/>
              </a:ext>
            </a:extLst>
          </a:blip>
          <a:srcRect t="50597"/>
          <a:stretch>
            <a:fillRect/>
          </a:stretch>
        </p:blipFill>
        <p:spPr>
          <a:xfrm>
            <a:off x="3207902" y="944379"/>
            <a:ext cx="5776195" cy="2865675"/>
          </a:xfrm>
          <a:prstGeom prst="rect">
            <a:avLst/>
          </a:prstGeom>
        </p:spPr>
      </p:pic>
      <p:grpSp>
        <p:nvGrpSpPr>
          <p:cNvPr id="15" name="Group 14">
            <a:extLst>
              <a:ext uri="{FF2B5EF4-FFF2-40B4-BE49-F238E27FC236}">
                <a16:creationId xmlns:a16="http://schemas.microsoft.com/office/drawing/2014/main" id="{8F7933F2-94AA-1482-5C25-EC5AFBCB3247}"/>
              </a:ext>
            </a:extLst>
          </p:cNvPr>
          <p:cNvGrpSpPr/>
          <p:nvPr/>
        </p:nvGrpSpPr>
        <p:grpSpPr>
          <a:xfrm>
            <a:off x="898142" y="6203580"/>
            <a:ext cx="1863495" cy="517895"/>
            <a:chOff x="2808222" y="6127115"/>
            <a:chExt cx="1863495" cy="517895"/>
          </a:xfrm>
        </p:grpSpPr>
        <p:pic>
          <p:nvPicPr>
            <p:cNvPr id="16" name="Picture 2">
              <a:extLst>
                <a:ext uri="{FF2B5EF4-FFF2-40B4-BE49-F238E27FC236}">
                  <a16:creationId xmlns:a16="http://schemas.microsoft.com/office/drawing/2014/main" id="{160841B3-18D5-6027-6AD2-C9CEDD1C2D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close up of a logo&#10;&#10;AI-generated content may be incorrect.">
              <a:extLst>
                <a:ext uri="{FF2B5EF4-FFF2-40B4-BE49-F238E27FC236}">
                  <a16:creationId xmlns:a16="http://schemas.microsoft.com/office/drawing/2014/main" id="{9711DDBF-5A31-3009-6ABC-89F860B00E2A}"/>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8" name="Slide Number Placeholder 8">
            <a:extLst>
              <a:ext uri="{FF2B5EF4-FFF2-40B4-BE49-F238E27FC236}">
                <a16:creationId xmlns:a16="http://schemas.microsoft.com/office/drawing/2014/main" id="{2A50BC53-8E80-4D0B-9255-C7DE8D82F748}"/>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24</a:t>
            </a:fld>
            <a:endParaRPr lang="en-US" noProof="0" dirty="0"/>
          </a:p>
        </p:txBody>
      </p:sp>
      <p:pic>
        <p:nvPicPr>
          <p:cNvPr id="22" name="Picture 21" descr="A black letter on a white background&#10;&#10;AI-generated content may be incorrect.">
            <a:extLst>
              <a:ext uri="{FF2B5EF4-FFF2-40B4-BE49-F238E27FC236}">
                <a16:creationId xmlns:a16="http://schemas.microsoft.com/office/drawing/2014/main" id="{D7F06584-E938-FA08-CF79-36BA21F673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37124" y="543361"/>
            <a:ext cx="2317750" cy="401018"/>
          </a:xfrm>
          <a:prstGeom prst="rect">
            <a:avLst/>
          </a:prstGeom>
        </p:spPr>
      </p:pic>
      <p:sp>
        <p:nvSpPr>
          <p:cNvPr id="25" name="TextBox 24">
            <a:extLst>
              <a:ext uri="{FF2B5EF4-FFF2-40B4-BE49-F238E27FC236}">
                <a16:creationId xmlns:a16="http://schemas.microsoft.com/office/drawing/2014/main" id="{5ADC930F-263C-CC13-D092-F577C02A5726}"/>
              </a:ext>
            </a:extLst>
          </p:cNvPr>
          <p:cNvSpPr txBox="1"/>
          <p:nvPr/>
        </p:nvSpPr>
        <p:spPr>
          <a:xfrm>
            <a:off x="8918369" y="2861398"/>
            <a:ext cx="2946395" cy="1600438"/>
          </a:xfrm>
          <a:prstGeom prst="rect">
            <a:avLst/>
          </a:prstGeom>
          <a:noFill/>
        </p:spPr>
        <p:txBody>
          <a:bodyPr wrap="square">
            <a:spAutoFit/>
          </a:bodyPr>
          <a:lstStyle/>
          <a:p>
            <a:r>
              <a:rPr lang="en-GB" sz="1400" b="1" dirty="0">
                <a:latin typeface="Aptos" panose="020B0004020202020204" pitchFamily="34" charset="0"/>
              </a:rPr>
              <a:t>Assess feature stability, impute or drop based on impact; enforce tidy structure.</a:t>
            </a:r>
          </a:p>
          <a:p>
            <a:endParaRPr lang="en-GB" sz="1400" b="1" i="1" dirty="0">
              <a:latin typeface="Aptos" panose="020B0004020202020204" pitchFamily="34" charset="0"/>
            </a:endParaRPr>
          </a:p>
          <a:p>
            <a:r>
              <a:rPr lang="en-GB" sz="1400" dirty="0">
                <a:latin typeface="Aptos" panose="020B0004020202020204" pitchFamily="34" charset="0"/>
              </a:rPr>
              <a:t>Prepare data for modelling: handle missing values, outliers, and inconsistencies</a:t>
            </a:r>
            <a:r>
              <a:rPr lang="en-GB" sz="1400" b="1" i="1" dirty="0">
                <a:latin typeface="Aptos" panose="020B0004020202020204" pitchFamily="34" charset="0"/>
              </a:rPr>
              <a:t>.</a:t>
            </a:r>
            <a:endParaRPr lang="en-GB" sz="1400" dirty="0">
              <a:latin typeface="Aptos" panose="020B0004020202020204" pitchFamily="34" charset="0"/>
            </a:endParaRPr>
          </a:p>
        </p:txBody>
      </p:sp>
      <p:sp>
        <p:nvSpPr>
          <p:cNvPr id="26" name="Oval 25">
            <a:extLst>
              <a:ext uri="{FF2B5EF4-FFF2-40B4-BE49-F238E27FC236}">
                <a16:creationId xmlns:a16="http://schemas.microsoft.com/office/drawing/2014/main" id="{F43703F6-77AC-9C31-182D-FB7C3E60189F}"/>
              </a:ext>
            </a:extLst>
          </p:cNvPr>
          <p:cNvSpPr/>
          <p:nvPr/>
        </p:nvSpPr>
        <p:spPr>
          <a:xfrm>
            <a:off x="8100742" y="2334353"/>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6DD4D974-D50B-5781-8DCC-A1B94030A702}"/>
              </a:ext>
            </a:extLst>
          </p:cNvPr>
          <p:cNvCxnSpPr>
            <a:cxnSpLocks/>
          </p:cNvCxnSpPr>
          <p:nvPr/>
        </p:nvCxnSpPr>
        <p:spPr>
          <a:xfrm>
            <a:off x="8186467" y="2420078"/>
            <a:ext cx="695729" cy="596884"/>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D91E2B2-DD89-7A77-1C38-1125EA6B6724}"/>
              </a:ext>
            </a:extLst>
          </p:cNvPr>
          <p:cNvCxnSpPr>
            <a:cxnSpLocks/>
          </p:cNvCxnSpPr>
          <p:nvPr/>
        </p:nvCxnSpPr>
        <p:spPr>
          <a:xfrm flipH="1">
            <a:off x="8882196" y="3016962"/>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014FF4B1-A224-E76A-507A-395022656154}"/>
              </a:ext>
            </a:extLst>
          </p:cNvPr>
          <p:cNvCxnSpPr>
            <a:cxnSpLocks/>
          </p:cNvCxnSpPr>
          <p:nvPr/>
        </p:nvCxnSpPr>
        <p:spPr>
          <a:xfrm>
            <a:off x="8165036" y="2398647"/>
            <a:ext cx="264589" cy="227078"/>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sp>
        <p:nvSpPr>
          <p:cNvPr id="34" name="Oval 33">
            <a:extLst>
              <a:ext uri="{FF2B5EF4-FFF2-40B4-BE49-F238E27FC236}">
                <a16:creationId xmlns:a16="http://schemas.microsoft.com/office/drawing/2014/main" id="{8C54C1A7-F599-CA70-78F0-51AFC10F2CB4}"/>
              </a:ext>
            </a:extLst>
          </p:cNvPr>
          <p:cNvSpPr/>
          <p:nvPr/>
        </p:nvSpPr>
        <p:spPr>
          <a:xfrm>
            <a:off x="6800519" y="3514337"/>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C6C3783-2DEB-373A-C026-1260EED605A5}"/>
              </a:ext>
            </a:extLst>
          </p:cNvPr>
          <p:cNvSpPr/>
          <p:nvPr/>
        </p:nvSpPr>
        <p:spPr>
          <a:xfrm>
            <a:off x="5698731" y="3514337"/>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2ABCFF3E-75CD-FF93-C5DB-4A7C40AB96E9}"/>
              </a:ext>
            </a:extLst>
          </p:cNvPr>
          <p:cNvCxnSpPr>
            <a:cxnSpLocks/>
          </p:cNvCxnSpPr>
          <p:nvPr/>
        </p:nvCxnSpPr>
        <p:spPr>
          <a:xfrm>
            <a:off x="5791849" y="3557199"/>
            <a:ext cx="1008670" cy="0"/>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BD08B970-4332-BFF1-5AB8-41CE11D1E38E}"/>
              </a:ext>
            </a:extLst>
          </p:cNvPr>
          <p:cNvCxnSpPr>
            <a:cxnSpLocks/>
          </p:cNvCxnSpPr>
          <p:nvPr/>
        </p:nvCxnSpPr>
        <p:spPr>
          <a:xfrm flipH="1">
            <a:off x="6050095" y="3557199"/>
            <a:ext cx="99880"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A87DADB-599E-FDBF-DDDE-3FEA35952FF5}"/>
              </a:ext>
            </a:extLst>
          </p:cNvPr>
          <p:cNvCxnSpPr>
            <a:cxnSpLocks/>
          </p:cNvCxnSpPr>
          <p:nvPr/>
        </p:nvCxnSpPr>
        <p:spPr>
          <a:xfrm flipV="1">
            <a:off x="6095999" y="3557199"/>
            <a:ext cx="0" cy="697301"/>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AC61602A-36B7-D661-2D99-727168D1BD38}"/>
              </a:ext>
            </a:extLst>
          </p:cNvPr>
          <p:cNvSpPr txBox="1"/>
          <p:nvPr/>
        </p:nvSpPr>
        <p:spPr>
          <a:xfrm>
            <a:off x="4622801" y="4313183"/>
            <a:ext cx="2946395" cy="1384995"/>
          </a:xfrm>
          <a:prstGeom prst="rect">
            <a:avLst/>
          </a:prstGeom>
          <a:noFill/>
        </p:spPr>
        <p:txBody>
          <a:bodyPr wrap="square">
            <a:spAutoFit/>
          </a:bodyPr>
          <a:lstStyle/>
          <a:p>
            <a:pPr algn="ctr"/>
            <a:r>
              <a:rPr lang="en-GB" sz="1400" b="1" dirty="0">
                <a:latin typeface="Aptos" panose="020B0004020202020204" pitchFamily="34" charset="0"/>
              </a:rPr>
              <a:t>Select features based on your needs and data.</a:t>
            </a:r>
          </a:p>
          <a:p>
            <a:pPr algn="ctr"/>
            <a:endParaRPr lang="en-GB" sz="1400" b="1" i="1" dirty="0">
              <a:latin typeface="Aptos" panose="020B0004020202020204" pitchFamily="34" charset="0"/>
            </a:endParaRPr>
          </a:p>
          <a:p>
            <a:pPr algn="ctr"/>
            <a:r>
              <a:rPr lang="en-GB" sz="1400" dirty="0">
                <a:latin typeface="Aptos" panose="020B0004020202020204" pitchFamily="34" charset="0"/>
              </a:rPr>
              <a:t>Select informative features using domain knowledge, correlation, and algorithmic means, etc.</a:t>
            </a:r>
          </a:p>
        </p:txBody>
      </p:sp>
      <p:sp>
        <p:nvSpPr>
          <p:cNvPr id="47" name="Oval 46">
            <a:extLst>
              <a:ext uri="{FF2B5EF4-FFF2-40B4-BE49-F238E27FC236}">
                <a16:creationId xmlns:a16="http://schemas.microsoft.com/office/drawing/2014/main" id="{5D62F907-A8B1-9292-D27D-03BF9C5E15A4}"/>
              </a:ext>
            </a:extLst>
          </p:cNvPr>
          <p:cNvSpPr/>
          <p:nvPr/>
        </p:nvSpPr>
        <p:spPr>
          <a:xfrm>
            <a:off x="3984102" y="2625725"/>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837AA7A-2A89-7E34-5CDB-122B0B4F7ACC}"/>
              </a:ext>
            </a:extLst>
          </p:cNvPr>
          <p:cNvSpPr/>
          <p:nvPr/>
        </p:nvSpPr>
        <p:spPr>
          <a:xfrm>
            <a:off x="4285856" y="2931237"/>
            <a:ext cx="85725" cy="857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1D3F9554-F575-0FC5-D8EE-BA22D91AC9FA}"/>
              </a:ext>
            </a:extLst>
          </p:cNvPr>
          <p:cNvCxnSpPr>
            <a:cxnSpLocks/>
            <a:stCxn id="47" idx="5"/>
            <a:endCxn id="48" idx="1"/>
          </p:cNvCxnSpPr>
          <p:nvPr/>
        </p:nvCxnSpPr>
        <p:spPr>
          <a:xfrm>
            <a:off x="4057273" y="2698896"/>
            <a:ext cx="241137" cy="244895"/>
          </a:xfrm>
          <a:prstGeom prst="line">
            <a:avLst/>
          </a:prstGeom>
          <a:ln w="9525">
            <a:solidFill>
              <a:schemeClr val="bg1"/>
            </a:solidFill>
            <a:headEnd type="none"/>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5C05401-6A28-AD65-AD0A-ADB5F45C40AA}"/>
              </a:ext>
            </a:extLst>
          </p:cNvPr>
          <p:cNvCxnSpPr>
            <a:cxnSpLocks/>
          </p:cNvCxnSpPr>
          <p:nvPr/>
        </p:nvCxnSpPr>
        <p:spPr>
          <a:xfrm flipV="1">
            <a:off x="3581400" y="2824524"/>
            <a:ext cx="596441" cy="604476"/>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F1535F79-06CE-3140-899F-CAA88CBC1108}"/>
              </a:ext>
            </a:extLst>
          </p:cNvPr>
          <p:cNvCxnSpPr>
            <a:cxnSpLocks/>
          </p:cNvCxnSpPr>
          <p:nvPr/>
        </p:nvCxnSpPr>
        <p:spPr>
          <a:xfrm flipH="1">
            <a:off x="3509053" y="3429000"/>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5CBDDEEA-65B0-53AF-B021-F20A8F678AB2}"/>
              </a:ext>
            </a:extLst>
          </p:cNvPr>
          <p:cNvCxnSpPr>
            <a:cxnSpLocks/>
          </p:cNvCxnSpPr>
          <p:nvPr/>
        </p:nvCxnSpPr>
        <p:spPr>
          <a:xfrm>
            <a:off x="4147004" y="2787650"/>
            <a:ext cx="72616" cy="73748"/>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378AC19A-919C-807C-018F-9B974E7A1ED2}"/>
              </a:ext>
            </a:extLst>
          </p:cNvPr>
          <p:cNvSpPr txBox="1"/>
          <p:nvPr/>
        </p:nvSpPr>
        <p:spPr>
          <a:xfrm>
            <a:off x="562658" y="3260445"/>
            <a:ext cx="2946395" cy="1815882"/>
          </a:xfrm>
          <a:prstGeom prst="rect">
            <a:avLst/>
          </a:prstGeom>
          <a:noFill/>
        </p:spPr>
        <p:txBody>
          <a:bodyPr wrap="square">
            <a:spAutoFit/>
          </a:bodyPr>
          <a:lstStyle/>
          <a:p>
            <a:pPr algn="r"/>
            <a:r>
              <a:rPr lang="en-GB" sz="1400" b="1" dirty="0">
                <a:latin typeface="Aptos" panose="020B0004020202020204" pitchFamily="34" charset="0"/>
              </a:rPr>
              <a:t>Choose a machine learning model after feature selection guided by EDA.</a:t>
            </a:r>
          </a:p>
          <a:p>
            <a:pPr algn="r"/>
            <a:endParaRPr lang="en-GB" sz="1400" i="1" dirty="0">
              <a:latin typeface="Aptos" panose="020B0004020202020204" pitchFamily="34" charset="0"/>
            </a:endParaRPr>
          </a:p>
          <a:p>
            <a:pPr algn="r"/>
            <a:r>
              <a:rPr lang="en-GB" sz="1400" dirty="0">
                <a:latin typeface="Aptos" panose="020B0004020202020204" pitchFamily="34" charset="0"/>
              </a:rPr>
              <a:t>If needed, apply regularization, dimensionality reduction (PCA), or embedded feature selection (e.g., LASSO).</a:t>
            </a:r>
          </a:p>
        </p:txBody>
      </p:sp>
    </p:spTree>
    <p:extLst>
      <p:ext uri="{BB962C8B-B14F-4D97-AF65-F5344CB8AC3E}">
        <p14:creationId xmlns:p14="http://schemas.microsoft.com/office/powerpoint/2010/main" val="3169453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7995D-6F27-ECD7-2CBA-B92CA0B50B40}"/>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755EABF4-4A1E-20C3-D96F-D75C079B6935}"/>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25</a:t>
            </a:fld>
            <a:endParaRPr lang="en-US" noProof="0" dirty="0"/>
          </a:p>
        </p:txBody>
      </p:sp>
      <p:grpSp>
        <p:nvGrpSpPr>
          <p:cNvPr id="34" name="Group 33">
            <a:extLst>
              <a:ext uri="{FF2B5EF4-FFF2-40B4-BE49-F238E27FC236}">
                <a16:creationId xmlns:a16="http://schemas.microsoft.com/office/drawing/2014/main" id="{6E5D902E-7E67-C59C-5585-BAA090A50FBA}"/>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19D9D8D4-CF24-0DFB-D7CE-10AB4373051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C178D394-4CBF-3C0C-5AAC-74F870FA82E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aphicFrame>
        <p:nvGraphicFramePr>
          <p:cNvPr id="2" name="Table 1">
            <a:extLst>
              <a:ext uri="{FF2B5EF4-FFF2-40B4-BE49-F238E27FC236}">
                <a16:creationId xmlns:a16="http://schemas.microsoft.com/office/drawing/2014/main" id="{0724FC7F-A694-D359-E942-47E01E0005C5}"/>
              </a:ext>
            </a:extLst>
          </p:cNvPr>
          <p:cNvGraphicFramePr>
            <a:graphicFrameLocks noGrp="1"/>
          </p:cNvGraphicFramePr>
          <p:nvPr>
            <p:extLst>
              <p:ext uri="{D42A27DB-BD31-4B8C-83A1-F6EECF244321}">
                <p14:modId xmlns:p14="http://schemas.microsoft.com/office/powerpoint/2010/main" val="174424707"/>
              </p:ext>
            </p:extLst>
          </p:nvPr>
        </p:nvGraphicFramePr>
        <p:xfrm>
          <a:off x="1528250" y="775231"/>
          <a:ext cx="9072441" cy="4480560"/>
        </p:xfrm>
        <a:graphic>
          <a:graphicData uri="http://schemas.openxmlformats.org/drawingml/2006/table">
            <a:tbl>
              <a:tblPr firstRow="1" bandRow="1">
                <a:tableStyleId>{5C22544A-7EE6-4342-B048-85BDC9FD1C3A}</a:tableStyleId>
              </a:tblPr>
              <a:tblGrid>
                <a:gridCol w="1504317">
                  <a:extLst>
                    <a:ext uri="{9D8B030D-6E8A-4147-A177-3AD203B41FA5}">
                      <a16:colId xmlns:a16="http://schemas.microsoft.com/office/drawing/2014/main" val="1058555330"/>
                    </a:ext>
                  </a:extLst>
                </a:gridCol>
                <a:gridCol w="3784062">
                  <a:extLst>
                    <a:ext uri="{9D8B030D-6E8A-4147-A177-3AD203B41FA5}">
                      <a16:colId xmlns:a16="http://schemas.microsoft.com/office/drawing/2014/main" val="660335785"/>
                    </a:ext>
                  </a:extLst>
                </a:gridCol>
                <a:gridCol w="3784062">
                  <a:extLst>
                    <a:ext uri="{9D8B030D-6E8A-4147-A177-3AD203B41FA5}">
                      <a16:colId xmlns:a16="http://schemas.microsoft.com/office/drawing/2014/main" val="3802168303"/>
                    </a:ext>
                  </a:extLst>
                </a:gridCol>
              </a:tblGrid>
              <a:tr h="370840">
                <a:tc>
                  <a:txBody>
                    <a:bodyPr/>
                    <a:lstStyle/>
                    <a:p>
                      <a:endParaRPr lang="en-US" sz="2000" b="1"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Statistical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noProof="0" dirty="0">
                          <a:solidFill>
                            <a:schemeClr val="accent1">
                              <a:lumMod val="75000"/>
                            </a:schemeClr>
                          </a:solidFill>
                          <a:latin typeface="Aptos" panose="020B0004020202020204" pitchFamily="34" charset="0"/>
                        </a:rPr>
                        <a:t>Machine Learning</a:t>
                      </a:r>
                    </a:p>
                    <a:p>
                      <a:endParaRPr lang="en-US" sz="800" b="0" noProof="0" dirty="0">
                        <a:solidFill>
                          <a:schemeClr val="accent1">
                            <a:lumMod val="7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8034327"/>
                  </a:ext>
                </a:extLst>
              </a:tr>
              <a:tr h="370840">
                <a:tc>
                  <a:txBody>
                    <a:bodyPr/>
                    <a:lstStyle/>
                    <a:p>
                      <a:endParaRPr lang="en-US" sz="800" b="1" i="1" noProof="0" dirty="0">
                        <a:solidFill>
                          <a:schemeClr val="bg2">
                            <a:lumMod val="25000"/>
                          </a:schemeClr>
                        </a:solidFill>
                        <a:latin typeface="Aptos" panose="020B0004020202020204" pitchFamily="34" charset="0"/>
                        <a:cs typeface="Times New Roman" panose="02020603050405020304" pitchFamily="18" charset="0"/>
                      </a:endParaRPr>
                    </a:p>
                    <a:p>
                      <a:r>
                        <a:rPr lang="en-US" sz="1400" b="1" i="0" noProof="0" dirty="0">
                          <a:solidFill>
                            <a:schemeClr val="bg2">
                              <a:lumMod val="25000"/>
                            </a:schemeClr>
                          </a:solidFill>
                          <a:latin typeface="Aptos" panose="020B0004020202020204" pitchFamily="34" charset="0"/>
                          <a:cs typeface="Times New Roman" panose="02020603050405020304" pitchFamily="18" charset="0"/>
                        </a:rPr>
                        <a:t>Data Quality Assessment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Ensures assumptions (e.g. independence, normality) are not violated</a:t>
                      </a:r>
                      <a:endParaRPr lang="en-US" sz="14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noProof="0" dirty="0">
                        <a:solidFill>
                          <a:schemeClr val="bg2">
                            <a:lumMod val="25000"/>
                          </a:schemeClr>
                        </a:solidFill>
                        <a:latin typeface="Aptos" panose="020B0004020202020204" pitchFamily="34" charset="0"/>
                      </a:endParaRPr>
                    </a:p>
                    <a:p>
                      <a:r>
                        <a:rPr lang="en-US" sz="1400" dirty="0">
                          <a:solidFill>
                            <a:schemeClr val="bg2">
                              <a:lumMod val="25000"/>
                            </a:schemeClr>
                          </a:solidFill>
                          <a:latin typeface="Aptos" panose="020B0004020202020204" pitchFamily="34" charset="0"/>
                        </a:rPr>
                        <a:t>Variables may be spread across multiple columns, combined, or nested; observations may be split or aggregated</a:t>
                      </a:r>
                      <a:endParaRPr lang="en-US" sz="14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3964239"/>
                  </a:ext>
                </a:extLst>
              </a:tr>
              <a:tr h="370840">
                <a:tc>
                  <a:txBody>
                    <a:bodyPr/>
                    <a:lstStyle/>
                    <a:p>
                      <a:r>
                        <a:rPr lang="en-US" sz="1400" b="1" i="0" noProof="0" dirty="0">
                          <a:solidFill>
                            <a:schemeClr val="bg2">
                              <a:lumMod val="25000"/>
                            </a:schemeClr>
                          </a:solidFill>
                          <a:latin typeface="Aptos" panose="020B0004020202020204" pitchFamily="34" charset="0"/>
                          <a:cs typeface="Times New Roman" panose="02020603050405020304" pitchFamily="18" charset="0"/>
                        </a:rPr>
                        <a:t>Variable Understanding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Assess distributions, transformation (e.g. log), and linearity for parametric models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Guides encoding, scaling and feature selection for non-parametric models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6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Target Variable Profiling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Validates outcome types (continuous, binary, count) for model choices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Informs loss function and architecture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03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Feature Relevance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Supports manual selection based on domain knowledge and correlation analysis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Enables automatic selection via importance scores, mutual information or embeddings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9868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Assumption Checking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Tests linearity, homoscedasticity, independence and </a:t>
                      </a:r>
                      <a:r>
                        <a:rPr lang="en-US" sz="1400" noProof="0" dirty="0" err="1">
                          <a:solidFill>
                            <a:schemeClr val="bg2">
                              <a:lumMod val="25000"/>
                            </a:schemeClr>
                          </a:solidFill>
                          <a:latin typeface="Aptos" panose="020B0004020202020204" pitchFamily="34" charset="0"/>
                        </a:rPr>
                        <a:t>multicolinearity</a:t>
                      </a:r>
                      <a:endParaRPr lang="en-US" sz="1400" noProof="0" dirty="0">
                        <a:solidFill>
                          <a:schemeClr val="bg2">
                            <a:lumMod val="25000"/>
                          </a:schemeClr>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2">
                              <a:lumMod val="25000"/>
                            </a:schemeClr>
                          </a:solidFill>
                          <a:latin typeface="Aptos" panose="020B0004020202020204" pitchFamily="34" charset="0"/>
                        </a:rPr>
                        <a:t>Focuses on overfitting, bias-variance trade-off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54257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Selection Guidance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Suggests interpretable models (e.g. GLM, Cox models) based on data structure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Suggests flexible models (e.g. trees, ensembles, neural nets) based on complexity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3782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noProof="0" dirty="0">
                          <a:solidFill>
                            <a:schemeClr val="bg2">
                              <a:lumMod val="25000"/>
                            </a:schemeClr>
                          </a:solidFill>
                          <a:latin typeface="Aptos" panose="020B0004020202020204" pitchFamily="34" charset="0"/>
                          <a:cs typeface="Times New Roman" panose="02020603050405020304" pitchFamily="18" charset="0"/>
                        </a:rPr>
                        <a:t>Visualization for Stakeholders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Communicate statistical relationships and diagnostics (e.g. residual plots)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solidFill>
                            <a:schemeClr val="bg2">
                              <a:lumMod val="25000"/>
                            </a:schemeClr>
                          </a:solidFill>
                          <a:latin typeface="Aptos" panose="020B0004020202020204" pitchFamily="34" charset="0"/>
                        </a:rPr>
                        <a:t>Communicate feature impact and prediction behavior (e.g. SHAP, partial dependence)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066194"/>
                  </a:ext>
                </a:extLst>
              </a:tr>
            </a:tbl>
          </a:graphicData>
        </a:graphic>
      </p:graphicFrame>
    </p:spTree>
    <p:extLst>
      <p:ext uri="{BB962C8B-B14F-4D97-AF65-F5344CB8AC3E}">
        <p14:creationId xmlns:p14="http://schemas.microsoft.com/office/powerpoint/2010/main" val="2589551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77BE9-0E66-3BA1-1CF5-5FFA89AB9998}"/>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169F64C5-FE37-7938-61B1-FE96EA54052B}"/>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26</a:t>
            </a:fld>
            <a:endParaRPr lang="en-US" noProof="0" dirty="0"/>
          </a:p>
        </p:txBody>
      </p:sp>
      <p:grpSp>
        <p:nvGrpSpPr>
          <p:cNvPr id="34" name="Group 33">
            <a:extLst>
              <a:ext uri="{FF2B5EF4-FFF2-40B4-BE49-F238E27FC236}">
                <a16:creationId xmlns:a16="http://schemas.microsoft.com/office/drawing/2014/main" id="{65CEA2C5-9835-5C2B-7CA9-198F56890648}"/>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A555AF6F-8EBE-C6BB-C08F-654B58BB26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5DFB50C2-D910-15FA-70F4-BD794A3B64C7}"/>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pSp>
        <p:nvGrpSpPr>
          <p:cNvPr id="7" name="Group 6">
            <a:extLst>
              <a:ext uri="{FF2B5EF4-FFF2-40B4-BE49-F238E27FC236}">
                <a16:creationId xmlns:a16="http://schemas.microsoft.com/office/drawing/2014/main" id="{BEE08B1D-3235-F321-882B-5037AFC0F380}"/>
              </a:ext>
            </a:extLst>
          </p:cNvPr>
          <p:cNvGrpSpPr/>
          <p:nvPr/>
        </p:nvGrpSpPr>
        <p:grpSpPr>
          <a:xfrm>
            <a:off x="1524000" y="1466587"/>
            <a:ext cx="9144000" cy="3924827"/>
            <a:chOff x="1524000" y="2106808"/>
            <a:chExt cx="9144000" cy="3924827"/>
          </a:xfrm>
        </p:grpSpPr>
        <p:sp>
          <p:nvSpPr>
            <p:cNvPr id="8" name="Title 1">
              <a:extLst>
                <a:ext uri="{FF2B5EF4-FFF2-40B4-BE49-F238E27FC236}">
                  <a16:creationId xmlns:a16="http://schemas.microsoft.com/office/drawing/2014/main" id="{749597A2-227B-66CC-D79F-2B0D80A1C52C}"/>
                </a:ext>
              </a:extLst>
            </p:cNvPr>
            <p:cNvSpPr txBox="1">
              <a:spLocks/>
            </p:cNvSpPr>
            <p:nvPr/>
          </p:nvSpPr>
          <p:spPr>
            <a:xfrm>
              <a:off x="1524000" y="2106808"/>
              <a:ext cx="9144000" cy="46545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noProof="0" dirty="0">
                  <a:solidFill>
                    <a:schemeClr val="accent1">
                      <a:lumMod val="75000"/>
                    </a:schemeClr>
                  </a:solidFill>
                  <a:latin typeface="Aptos" panose="020B0004020202020204" pitchFamily="34" charset="0"/>
                </a:rPr>
                <a:t>EDA for model agnostic methods…</a:t>
              </a:r>
            </a:p>
          </p:txBody>
        </p:sp>
        <p:sp>
          <p:nvSpPr>
            <p:cNvPr id="9" name="Subtitle 2">
              <a:extLst>
                <a:ext uri="{FF2B5EF4-FFF2-40B4-BE49-F238E27FC236}">
                  <a16:creationId xmlns:a16="http://schemas.microsoft.com/office/drawing/2014/main" id="{28797659-39F8-00AD-1FAB-1001FEFA754F}"/>
                </a:ext>
              </a:extLst>
            </p:cNvPr>
            <p:cNvSpPr txBox="1">
              <a:spLocks/>
            </p:cNvSpPr>
            <p:nvPr/>
          </p:nvSpPr>
          <p:spPr>
            <a:xfrm>
              <a:off x="1524000" y="2788243"/>
              <a:ext cx="9144000" cy="32433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noProof="0" dirty="0">
                  <a:solidFill>
                    <a:schemeClr val="bg2">
                      <a:lumMod val="25000"/>
                    </a:schemeClr>
                  </a:solidFill>
                  <a:latin typeface="Aptos" panose="020B0004020202020204" pitchFamily="34" charset="0"/>
                </a:rPr>
                <a:t>means examining the dataset in a way that does not depend on any specific predictive model. Instead of fitting a classifier or regressor first, you explore the raw variables and their relationships to the target to decide which features may be useful.</a:t>
              </a:r>
              <a:endParaRPr lang="en-US" sz="1800" dirty="0">
                <a:solidFill>
                  <a:schemeClr val="bg2">
                    <a:lumMod val="25000"/>
                  </a:schemeClr>
                </a:solidFill>
                <a:latin typeface="Aptos" panose="020B0004020202020204" pitchFamily="34" charset="0"/>
              </a:endParaRPr>
            </a:p>
            <a:p>
              <a:pPr marL="0" indent="0">
                <a:lnSpc>
                  <a:spcPct val="100000"/>
                </a:lnSpc>
                <a:buNone/>
              </a:pPr>
              <a:r>
                <a:rPr lang="en-US" sz="1800" noProof="0" dirty="0">
                  <a:solidFill>
                    <a:schemeClr val="bg2">
                      <a:lumMod val="25000"/>
                    </a:schemeClr>
                  </a:solidFill>
                  <a:latin typeface="Aptos" panose="020B0004020202020204" pitchFamily="34" charset="0"/>
                </a:rPr>
                <a:t>In practice, this involves </a:t>
              </a:r>
              <a:r>
                <a:rPr lang="en-US" sz="1800" b="1" noProof="0" dirty="0">
                  <a:solidFill>
                    <a:schemeClr val="bg2">
                      <a:lumMod val="25000"/>
                    </a:schemeClr>
                  </a:solidFill>
                  <a:latin typeface="Aptos" panose="020B0004020202020204" pitchFamily="34" charset="0"/>
                </a:rPr>
                <a:t>visualizing distributions</a:t>
              </a:r>
              <a:r>
                <a:rPr lang="en-US" sz="1800" noProof="0" dirty="0">
                  <a:solidFill>
                    <a:schemeClr val="bg2">
                      <a:lumMod val="25000"/>
                    </a:schemeClr>
                  </a:solidFill>
                  <a:latin typeface="Aptos" panose="020B0004020202020204" pitchFamily="34" charset="0"/>
                </a:rPr>
                <a:t>, </a:t>
              </a:r>
              <a:r>
                <a:rPr lang="en-US" sz="1800" b="1" noProof="0" dirty="0">
                  <a:solidFill>
                    <a:schemeClr val="bg2">
                      <a:lumMod val="25000"/>
                    </a:schemeClr>
                  </a:solidFill>
                  <a:latin typeface="Aptos" panose="020B0004020202020204" pitchFamily="34" charset="0"/>
                </a:rPr>
                <a:t>checking correlations</a:t>
              </a:r>
              <a:r>
                <a:rPr lang="en-US" sz="1800" noProof="0" dirty="0">
                  <a:solidFill>
                    <a:schemeClr val="bg2">
                      <a:lumMod val="25000"/>
                    </a:schemeClr>
                  </a:solidFill>
                  <a:latin typeface="Aptos" panose="020B0004020202020204" pitchFamily="34" charset="0"/>
                </a:rPr>
                <a:t>, and </a:t>
              </a:r>
              <a:r>
                <a:rPr lang="en-US" sz="1800" b="1" noProof="0" dirty="0">
                  <a:solidFill>
                    <a:schemeClr val="bg2">
                      <a:lumMod val="25000"/>
                    </a:schemeClr>
                  </a:solidFill>
                  <a:latin typeface="Aptos" panose="020B0004020202020204" pitchFamily="34" charset="0"/>
                </a:rPr>
                <a:t>computing statistical scores </a:t>
              </a:r>
              <a:r>
                <a:rPr lang="en-US" sz="1800" noProof="0" dirty="0">
                  <a:solidFill>
                    <a:schemeClr val="bg2">
                      <a:lumMod val="25000"/>
                    </a:schemeClr>
                  </a:solidFill>
                  <a:latin typeface="Aptos" panose="020B0004020202020204" pitchFamily="34" charset="0"/>
                </a:rPr>
                <a:t>such as mutual information, chi-squared tests, or ANOVA. These steps help you understand which variables carry signal versus noise. </a:t>
              </a:r>
            </a:p>
            <a:p>
              <a:pPr marL="0" indent="0">
                <a:lnSpc>
                  <a:spcPct val="100000"/>
                </a:lnSpc>
                <a:buNone/>
              </a:pPr>
              <a:r>
                <a:rPr lang="en-US" sz="1800" noProof="0" dirty="0">
                  <a:solidFill>
                    <a:schemeClr val="bg2">
                      <a:lumMod val="25000"/>
                    </a:schemeClr>
                  </a:solidFill>
                  <a:latin typeface="Aptos" panose="020B0004020202020204" pitchFamily="34" charset="0"/>
                </a:rPr>
                <a:t>It is important because model-agnostic EDA provides a neutral foundation for feature selection: you can identify redundant, irrelevant, or highly informative features before committing to a particular algorithm.</a:t>
              </a:r>
            </a:p>
          </p:txBody>
        </p:sp>
      </p:grpSp>
    </p:spTree>
    <p:extLst>
      <p:ext uri="{BB962C8B-B14F-4D97-AF65-F5344CB8AC3E}">
        <p14:creationId xmlns:p14="http://schemas.microsoft.com/office/powerpoint/2010/main" val="492991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44294-69B3-702E-7483-83129979F847}"/>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AE0BBE62-7C71-C84A-43D6-E0234C626DBA}"/>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27</a:t>
            </a:fld>
            <a:endParaRPr lang="en-US" noProof="0" dirty="0"/>
          </a:p>
        </p:txBody>
      </p:sp>
      <p:grpSp>
        <p:nvGrpSpPr>
          <p:cNvPr id="34" name="Group 33">
            <a:extLst>
              <a:ext uri="{FF2B5EF4-FFF2-40B4-BE49-F238E27FC236}">
                <a16:creationId xmlns:a16="http://schemas.microsoft.com/office/drawing/2014/main" id="{0443F641-678B-3882-40C2-34AA15E15DB5}"/>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CA3876A5-4314-B818-AFA5-D7AD31450A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5C0FBAF2-6C32-0D94-2B3E-2B70DD238F2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pSp>
        <p:nvGrpSpPr>
          <p:cNvPr id="2" name="Google Shape;172;p6">
            <a:extLst>
              <a:ext uri="{FF2B5EF4-FFF2-40B4-BE49-F238E27FC236}">
                <a16:creationId xmlns:a16="http://schemas.microsoft.com/office/drawing/2014/main" id="{32C73542-FD39-C264-8F13-BD8A21859704}"/>
              </a:ext>
            </a:extLst>
          </p:cNvPr>
          <p:cNvGrpSpPr/>
          <p:nvPr/>
        </p:nvGrpSpPr>
        <p:grpSpPr>
          <a:xfrm>
            <a:off x="1934020" y="1217803"/>
            <a:ext cx="8323960" cy="3873191"/>
            <a:chOff x="3276238" y="1394410"/>
            <a:chExt cx="6743159" cy="3873191"/>
          </a:xfrm>
        </p:grpSpPr>
        <p:sp>
          <p:nvSpPr>
            <p:cNvPr id="3" name="Google Shape;173;p6">
              <a:extLst>
                <a:ext uri="{FF2B5EF4-FFF2-40B4-BE49-F238E27FC236}">
                  <a16:creationId xmlns:a16="http://schemas.microsoft.com/office/drawing/2014/main" id="{E27FD6A0-B7A4-2E4A-E995-D7EDD592AA1B}"/>
                </a:ext>
              </a:extLst>
            </p:cNvPr>
            <p:cNvSpPr txBox="1"/>
            <p:nvPr/>
          </p:nvSpPr>
          <p:spPr>
            <a:xfrm>
              <a:off x="3276238" y="1394410"/>
              <a:ext cx="6743158"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2F5496"/>
                </a:buClr>
                <a:buSzPts val="2800"/>
                <a:buFont typeface="Corbel"/>
                <a:buNone/>
              </a:pPr>
              <a:r>
                <a:rPr lang="en-US" sz="4400" dirty="0">
                  <a:solidFill>
                    <a:srgbClr val="2F5496"/>
                  </a:solidFill>
                  <a:latin typeface="Aptos" panose="020B0004020202020204" pitchFamily="34" charset="0"/>
                  <a:ea typeface="Corbel"/>
                  <a:cs typeface="Corbel"/>
                  <a:sym typeface="Corbel"/>
                </a:rPr>
                <a:t>A Grammar of Data Manipulation</a:t>
              </a:r>
              <a:endParaRPr sz="4400" dirty="0">
                <a:solidFill>
                  <a:srgbClr val="2F5496"/>
                </a:solidFill>
                <a:latin typeface="Aptos" panose="020B0004020202020204" pitchFamily="34" charset="0"/>
                <a:ea typeface="Corbel"/>
                <a:cs typeface="Corbel"/>
                <a:sym typeface="Corbel"/>
              </a:endParaRPr>
            </a:p>
          </p:txBody>
        </p:sp>
        <p:sp>
          <p:nvSpPr>
            <p:cNvPr id="4" name="Google Shape;176;p6">
              <a:extLst>
                <a:ext uri="{FF2B5EF4-FFF2-40B4-BE49-F238E27FC236}">
                  <a16:creationId xmlns:a16="http://schemas.microsoft.com/office/drawing/2014/main" id="{82200D1F-A658-30A6-5513-92110928A8FC}"/>
                </a:ext>
              </a:extLst>
            </p:cNvPr>
            <p:cNvSpPr txBox="1"/>
            <p:nvPr/>
          </p:nvSpPr>
          <p:spPr>
            <a:xfrm>
              <a:off x="3276238" y="2405319"/>
              <a:ext cx="6743159" cy="2862282"/>
            </a:xfrm>
            <a:prstGeom prst="rect">
              <a:avLst/>
            </a:prstGeom>
            <a:noFill/>
            <a:ln>
              <a:noFill/>
            </a:ln>
          </p:spPr>
          <p:txBody>
            <a:bodyPr spcFirstLastPara="1" wrap="square" lIns="91425" tIns="45700" rIns="91425" bIns="45700" anchor="t" anchorCtr="0">
              <a:spAutoFit/>
            </a:bodyPr>
            <a:lstStyle/>
            <a:p>
              <a:r>
                <a:rPr lang="en-GB" b="0" i="0" dirty="0">
                  <a:solidFill>
                    <a:srgbClr val="000000"/>
                  </a:solidFill>
                  <a:effectLst/>
                  <a:latin typeface="Aptos" panose="020B0004020202020204" pitchFamily="34" charset="0"/>
                </a:rPr>
                <a:t>The grammar of data manipulation is the idea that working with data follows a consistent set of rules, much like language. </a:t>
              </a:r>
            </a:p>
            <a:p>
              <a:endParaRPr lang="en-GB" dirty="0">
                <a:solidFill>
                  <a:srgbClr val="000000"/>
                </a:solidFill>
                <a:latin typeface="Aptos" panose="020B0004020202020204" pitchFamily="34" charset="0"/>
              </a:endParaRPr>
            </a:p>
            <a:p>
              <a:endParaRPr lang="en-GB" b="0" i="0" dirty="0">
                <a:solidFill>
                  <a:srgbClr val="000000"/>
                </a:solidFill>
                <a:effectLst/>
                <a:latin typeface="Aptos" panose="020B0004020202020204" pitchFamily="34" charset="0"/>
              </a:endParaRPr>
            </a:p>
            <a:p>
              <a:endParaRPr lang="en-GB" dirty="0">
                <a:solidFill>
                  <a:srgbClr val="000000"/>
                </a:solidFill>
                <a:latin typeface="Aptos" panose="020B0004020202020204" pitchFamily="34" charset="0"/>
              </a:endParaRPr>
            </a:p>
            <a:p>
              <a:endParaRPr lang="en-GB" b="0" i="0" dirty="0">
                <a:solidFill>
                  <a:srgbClr val="000000"/>
                </a:solidFill>
                <a:effectLst/>
                <a:latin typeface="Aptos" panose="020B0004020202020204" pitchFamily="34" charset="0"/>
              </a:endParaRPr>
            </a:p>
            <a:p>
              <a:endParaRPr lang="en-GB" dirty="0">
                <a:solidFill>
                  <a:srgbClr val="000000"/>
                </a:solidFill>
                <a:latin typeface="Aptos" panose="020B0004020202020204" pitchFamily="34" charset="0"/>
              </a:endParaRPr>
            </a:p>
            <a:p>
              <a:r>
                <a:rPr lang="en-GB" dirty="0">
                  <a:solidFill>
                    <a:srgbClr val="000000"/>
                  </a:solidFill>
                  <a:latin typeface="Aptos" panose="020B0004020202020204" pitchFamily="34" charset="0"/>
                </a:rPr>
                <a:t>This makes data workflows in statistical learning predictable and expressive: you can “write” pipelines that read like sentences, where each verb transforms the dataset in a clear and reproducible way.</a:t>
              </a:r>
              <a:r>
                <a:rPr lang="en-GB" b="0" i="0" dirty="0">
                  <a:solidFill>
                    <a:srgbClr val="000000"/>
                  </a:solidFill>
                  <a:effectLst/>
                  <a:latin typeface="Aptos" panose="020B0004020202020204" pitchFamily="34" charset="0"/>
                </a:rPr>
                <a:t> </a:t>
              </a:r>
            </a:p>
          </p:txBody>
        </p:sp>
      </p:grpSp>
      <p:graphicFrame>
        <p:nvGraphicFramePr>
          <p:cNvPr id="5" name="Table 4">
            <a:extLst>
              <a:ext uri="{FF2B5EF4-FFF2-40B4-BE49-F238E27FC236}">
                <a16:creationId xmlns:a16="http://schemas.microsoft.com/office/drawing/2014/main" id="{C5A9C4A6-4577-8A5E-A9F0-F5673A31D323}"/>
              </a:ext>
            </a:extLst>
          </p:cNvPr>
          <p:cNvGraphicFramePr>
            <a:graphicFrameLocks noGrp="1"/>
          </p:cNvGraphicFramePr>
          <p:nvPr>
            <p:extLst>
              <p:ext uri="{D42A27DB-BD31-4B8C-83A1-F6EECF244321}">
                <p14:modId xmlns:p14="http://schemas.microsoft.com/office/powerpoint/2010/main" val="3611010966"/>
              </p:ext>
            </p:extLst>
          </p:nvPr>
        </p:nvGraphicFramePr>
        <p:xfrm>
          <a:off x="751114" y="3180099"/>
          <a:ext cx="9618980" cy="731520"/>
        </p:xfrm>
        <a:graphic>
          <a:graphicData uri="http://schemas.openxmlformats.org/drawingml/2006/table">
            <a:tbl>
              <a:tblPr firstRow="1" bandRow="1"/>
              <a:tblGrid>
                <a:gridCol w="2133600">
                  <a:extLst>
                    <a:ext uri="{9D8B030D-6E8A-4147-A177-3AD203B41FA5}">
                      <a16:colId xmlns:a16="http://schemas.microsoft.com/office/drawing/2014/main" val="185700772"/>
                    </a:ext>
                  </a:extLst>
                </a:gridCol>
                <a:gridCol w="7485380">
                  <a:extLst>
                    <a:ext uri="{9D8B030D-6E8A-4147-A177-3AD203B41FA5}">
                      <a16:colId xmlns:a16="http://schemas.microsoft.com/office/drawing/2014/main" val="3533502275"/>
                    </a:ext>
                  </a:extLst>
                </a:gridCol>
              </a:tblGrid>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dirty="0">
                          <a:solidFill>
                            <a:schemeClr val="accent1">
                              <a:lumMod val="75000"/>
                            </a:schemeClr>
                          </a:solidFill>
                          <a:latin typeface="Aptos" panose="020B0004020202020204" pitchFamily="34" charset="0"/>
                        </a:rPr>
                        <a:t>Tutorials: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indent="0">
                        <a:buNone/>
                      </a:pPr>
                      <a:r>
                        <a:rPr lang="en-US" sz="1400" dirty="0">
                          <a:solidFill>
                            <a:schemeClr val="bg2">
                              <a:lumMod val="25000"/>
                            </a:schemeClr>
                          </a:solidFill>
                          <a:latin typeface="Aptos" panose="020B0004020202020204" pitchFamily="34" charset="0"/>
                        </a:rPr>
                        <a:t>3.3 A Grammar of Data Manipulation</a:t>
                      </a:r>
                    </a:p>
                    <a:p>
                      <a:pPr marL="0" indent="0">
                        <a:buNone/>
                      </a:pPr>
                      <a:r>
                        <a:rPr lang="en-US" sz="1400" dirty="0">
                          <a:solidFill>
                            <a:schemeClr val="bg2">
                              <a:lumMod val="25000"/>
                            </a:schemeClr>
                          </a:solidFill>
                          <a:latin typeface="Aptos" panose="020B0004020202020204" pitchFamily="34" charset="0"/>
                        </a:rPr>
                        <a:t>3.4 Summarizing Data</a:t>
                      </a:r>
                    </a:p>
                    <a:p>
                      <a:pPr marL="0" indent="0">
                        <a:buNone/>
                      </a:pPr>
                      <a:r>
                        <a:rPr lang="en-US" sz="1400" dirty="0">
                          <a:solidFill>
                            <a:schemeClr val="bg2">
                              <a:lumMod val="25000"/>
                            </a:schemeClr>
                          </a:solidFill>
                          <a:latin typeface="Aptos" panose="020B0004020202020204" pitchFamily="34" charset="0"/>
                        </a:rPr>
                        <a:t>3.5 Data Tidying (Intermediate)</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01542969"/>
                  </a:ext>
                </a:extLst>
              </a:tr>
            </a:tbl>
          </a:graphicData>
        </a:graphic>
      </p:graphicFrame>
      <p:grpSp>
        <p:nvGrpSpPr>
          <p:cNvPr id="9" name="Group 8">
            <a:extLst>
              <a:ext uri="{FF2B5EF4-FFF2-40B4-BE49-F238E27FC236}">
                <a16:creationId xmlns:a16="http://schemas.microsoft.com/office/drawing/2014/main" id="{F91F6631-A468-44AB-D208-0388F880F53B}"/>
              </a:ext>
            </a:extLst>
          </p:cNvPr>
          <p:cNvGrpSpPr/>
          <p:nvPr/>
        </p:nvGrpSpPr>
        <p:grpSpPr>
          <a:xfrm>
            <a:off x="0" y="3151442"/>
            <a:ext cx="1502229" cy="769441"/>
            <a:chOff x="0" y="3924331"/>
            <a:chExt cx="1502229" cy="769441"/>
          </a:xfrm>
        </p:grpSpPr>
        <p:sp>
          <p:nvSpPr>
            <p:cNvPr id="6" name="Rectangle 5">
              <a:extLst>
                <a:ext uri="{FF2B5EF4-FFF2-40B4-BE49-F238E27FC236}">
                  <a16:creationId xmlns:a16="http://schemas.microsoft.com/office/drawing/2014/main" id="{246A1F28-3050-FDAF-0F76-8B951516E761}"/>
                </a:ext>
              </a:extLst>
            </p:cNvPr>
            <p:cNvSpPr/>
            <p:nvPr/>
          </p:nvSpPr>
          <p:spPr>
            <a:xfrm>
              <a:off x="0" y="3990500"/>
              <a:ext cx="1502229" cy="656496"/>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8DE2C2E-05B6-46EA-5D65-C3A0852F048C}"/>
                </a:ext>
              </a:extLst>
            </p:cNvPr>
            <p:cNvSpPr txBox="1"/>
            <p:nvPr/>
          </p:nvSpPr>
          <p:spPr>
            <a:xfrm>
              <a:off x="996116" y="3924331"/>
              <a:ext cx="478971" cy="769441"/>
            </a:xfrm>
            <a:prstGeom prst="rect">
              <a:avLst/>
            </a:prstGeom>
            <a:noFill/>
          </p:spPr>
          <p:txBody>
            <a:bodyPr wrap="square">
              <a:spAutoFit/>
            </a:bodyPr>
            <a:lstStyle/>
            <a:p>
              <a:pPr algn="ctr"/>
              <a:r>
                <a:rPr lang="en-US" sz="4400" b="1" dirty="0">
                  <a:solidFill>
                    <a:schemeClr val="bg1"/>
                  </a:solidFill>
                  <a:latin typeface="Aptos" panose="020B0004020202020204" pitchFamily="34" charset="0"/>
                  <a:ea typeface="Corbel"/>
                  <a:cs typeface="Corbel"/>
                  <a:sym typeface="Corbel"/>
                </a:rPr>
                <a:t>T</a:t>
              </a:r>
              <a:endParaRPr lang="en-US" sz="4400" b="1" dirty="0">
                <a:solidFill>
                  <a:schemeClr val="bg1"/>
                </a:solidFill>
              </a:endParaRPr>
            </a:p>
          </p:txBody>
        </p:sp>
      </p:grpSp>
    </p:spTree>
    <p:extLst>
      <p:ext uri="{BB962C8B-B14F-4D97-AF65-F5344CB8AC3E}">
        <p14:creationId xmlns:p14="http://schemas.microsoft.com/office/powerpoint/2010/main" val="3626229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05BEC-51AE-8C88-808E-98598ADEDEE5}"/>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C955BCBF-74F3-6C4A-4A50-B493B00D12AF}"/>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28</a:t>
            </a:fld>
            <a:endParaRPr lang="en-US" noProof="0" dirty="0"/>
          </a:p>
        </p:txBody>
      </p:sp>
      <p:grpSp>
        <p:nvGrpSpPr>
          <p:cNvPr id="34" name="Group 33">
            <a:extLst>
              <a:ext uri="{FF2B5EF4-FFF2-40B4-BE49-F238E27FC236}">
                <a16:creationId xmlns:a16="http://schemas.microsoft.com/office/drawing/2014/main" id="{A215F8DA-67E8-3893-80E6-3E3898B0A70B}"/>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14B55C6B-1CBA-215C-53A0-A1F41C97BC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5DB38B67-1F22-05E8-F2A9-68CBAB983F6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aphicFrame>
        <p:nvGraphicFramePr>
          <p:cNvPr id="5" name="Table 4">
            <a:extLst>
              <a:ext uri="{FF2B5EF4-FFF2-40B4-BE49-F238E27FC236}">
                <a16:creationId xmlns:a16="http://schemas.microsoft.com/office/drawing/2014/main" id="{9AD7C83F-9D4B-2FA5-4840-A992AC4998CD}"/>
              </a:ext>
            </a:extLst>
          </p:cNvPr>
          <p:cNvGraphicFramePr>
            <a:graphicFrameLocks noGrp="1"/>
          </p:cNvGraphicFramePr>
          <p:nvPr>
            <p:extLst>
              <p:ext uri="{D42A27DB-BD31-4B8C-83A1-F6EECF244321}">
                <p14:modId xmlns:p14="http://schemas.microsoft.com/office/powerpoint/2010/main" val="2974913061"/>
              </p:ext>
            </p:extLst>
          </p:nvPr>
        </p:nvGraphicFramePr>
        <p:xfrm>
          <a:off x="751114" y="3267185"/>
          <a:ext cx="9618980" cy="518160"/>
        </p:xfrm>
        <a:graphic>
          <a:graphicData uri="http://schemas.openxmlformats.org/drawingml/2006/table">
            <a:tbl>
              <a:tblPr firstRow="1" bandRow="1"/>
              <a:tblGrid>
                <a:gridCol w="2133600">
                  <a:extLst>
                    <a:ext uri="{9D8B030D-6E8A-4147-A177-3AD203B41FA5}">
                      <a16:colId xmlns:a16="http://schemas.microsoft.com/office/drawing/2014/main" val="185700772"/>
                    </a:ext>
                  </a:extLst>
                </a:gridCol>
                <a:gridCol w="7485380">
                  <a:extLst>
                    <a:ext uri="{9D8B030D-6E8A-4147-A177-3AD203B41FA5}">
                      <a16:colId xmlns:a16="http://schemas.microsoft.com/office/drawing/2014/main" val="3533502275"/>
                    </a:ext>
                  </a:extLst>
                </a:gridCol>
              </a:tblGrid>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dirty="0">
                          <a:solidFill>
                            <a:schemeClr val="accent1">
                              <a:lumMod val="75000"/>
                            </a:schemeClr>
                          </a:solidFill>
                          <a:latin typeface="Aptos" panose="020B0004020202020204" pitchFamily="34" charset="0"/>
                        </a:rPr>
                        <a:t>Tutorials: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indent="0">
                        <a:buNone/>
                      </a:pPr>
                      <a:r>
                        <a:rPr lang="en-US" sz="1400" dirty="0">
                          <a:solidFill>
                            <a:schemeClr val="bg2">
                              <a:lumMod val="25000"/>
                            </a:schemeClr>
                          </a:solidFill>
                          <a:latin typeface="Aptos" panose="020B0004020202020204" pitchFamily="34" charset="0"/>
                        </a:rPr>
                        <a:t>5.1 A Layered Grammar of Graphics</a:t>
                      </a:r>
                    </a:p>
                    <a:p>
                      <a:pPr marL="0" indent="0">
                        <a:buNone/>
                      </a:pPr>
                      <a:r>
                        <a:rPr lang="en-US" sz="1400" dirty="0">
                          <a:solidFill>
                            <a:schemeClr val="bg2">
                              <a:lumMod val="25000"/>
                            </a:schemeClr>
                          </a:solidFill>
                          <a:latin typeface="Aptos" panose="020B0004020202020204" pitchFamily="34" charset="0"/>
                        </a:rPr>
                        <a:t>5.2 Visualizing Distributions and Relations</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01542969"/>
                  </a:ext>
                </a:extLst>
              </a:tr>
            </a:tbl>
          </a:graphicData>
        </a:graphic>
      </p:graphicFrame>
      <p:grpSp>
        <p:nvGrpSpPr>
          <p:cNvPr id="7" name="Group 6">
            <a:extLst>
              <a:ext uri="{FF2B5EF4-FFF2-40B4-BE49-F238E27FC236}">
                <a16:creationId xmlns:a16="http://schemas.microsoft.com/office/drawing/2014/main" id="{A6222F68-17A2-08F2-13DF-1B1994421337}"/>
              </a:ext>
            </a:extLst>
          </p:cNvPr>
          <p:cNvGrpSpPr/>
          <p:nvPr/>
        </p:nvGrpSpPr>
        <p:grpSpPr>
          <a:xfrm>
            <a:off x="0" y="1217803"/>
            <a:ext cx="10257980" cy="3873191"/>
            <a:chOff x="0" y="1217803"/>
            <a:chExt cx="10257980" cy="3873191"/>
          </a:xfrm>
        </p:grpSpPr>
        <p:grpSp>
          <p:nvGrpSpPr>
            <p:cNvPr id="2" name="Google Shape;172;p6">
              <a:extLst>
                <a:ext uri="{FF2B5EF4-FFF2-40B4-BE49-F238E27FC236}">
                  <a16:creationId xmlns:a16="http://schemas.microsoft.com/office/drawing/2014/main" id="{6298466B-0172-C6ED-0EAE-DA2589332093}"/>
                </a:ext>
              </a:extLst>
            </p:cNvPr>
            <p:cNvGrpSpPr/>
            <p:nvPr/>
          </p:nvGrpSpPr>
          <p:grpSpPr>
            <a:xfrm>
              <a:off x="1934020" y="1217803"/>
              <a:ext cx="8323960" cy="3873191"/>
              <a:chOff x="3276238" y="1394410"/>
              <a:chExt cx="6743159" cy="3873191"/>
            </a:xfrm>
          </p:grpSpPr>
          <p:sp>
            <p:nvSpPr>
              <p:cNvPr id="3" name="Google Shape;173;p6">
                <a:extLst>
                  <a:ext uri="{FF2B5EF4-FFF2-40B4-BE49-F238E27FC236}">
                    <a16:creationId xmlns:a16="http://schemas.microsoft.com/office/drawing/2014/main" id="{2193B07E-8D17-91E3-D0C4-C6AF882C2C50}"/>
                  </a:ext>
                </a:extLst>
              </p:cNvPr>
              <p:cNvSpPr txBox="1"/>
              <p:nvPr/>
            </p:nvSpPr>
            <p:spPr>
              <a:xfrm>
                <a:off x="3276238" y="1394410"/>
                <a:ext cx="6743158"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2F5496"/>
                  </a:buClr>
                  <a:buSzPts val="2800"/>
                  <a:buFont typeface="Corbel"/>
                  <a:buNone/>
                </a:pPr>
                <a:r>
                  <a:rPr lang="en-US" sz="4400" dirty="0">
                    <a:solidFill>
                      <a:srgbClr val="2F5496"/>
                    </a:solidFill>
                    <a:latin typeface="Aptos" panose="020B0004020202020204" pitchFamily="34" charset="0"/>
                    <a:ea typeface="Corbel"/>
                    <a:cs typeface="Corbel"/>
                    <a:sym typeface="Corbel"/>
                  </a:rPr>
                  <a:t>A Grammar of Graphics</a:t>
                </a:r>
                <a:endParaRPr sz="4400" dirty="0">
                  <a:solidFill>
                    <a:srgbClr val="2F5496"/>
                  </a:solidFill>
                  <a:latin typeface="Aptos" panose="020B0004020202020204" pitchFamily="34" charset="0"/>
                  <a:ea typeface="Corbel"/>
                  <a:cs typeface="Corbel"/>
                  <a:sym typeface="Corbel"/>
                </a:endParaRPr>
              </a:p>
            </p:txBody>
          </p:sp>
          <p:sp>
            <p:nvSpPr>
              <p:cNvPr id="4" name="Google Shape;176;p6">
                <a:extLst>
                  <a:ext uri="{FF2B5EF4-FFF2-40B4-BE49-F238E27FC236}">
                    <a16:creationId xmlns:a16="http://schemas.microsoft.com/office/drawing/2014/main" id="{EA3964C1-ED2B-0F11-6C2C-7D5DA3CDDE3C}"/>
                  </a:ext>
                </a:extLst>
              </p:cNvPr>
              <p:cNvSpPr txBox="1"/>
              <p:nvPr/>
            </p:nvSpPr>
            <p:spPr>
              <a:xfrm>
                <a:off x="3276238" y="2405319"/>
                <a:ext cx="6743159" cy="2862282"/>
              </a:xfrm>
              <a:prstGeom prst="rect">
                <a:avLst/>
              </a:prstGeom>
              <a:noFill/>
              <a:ln>
                <a:noFill/>
              </a:ln>
            </p:spPr>
            <p:txBody>
              <a:bodyPr spcFirstLastPara="1" wrap="square" lIns="91425" tIns="45700" rIns="91425" bIns="45700" anchor="t" anchorCtr="0">
                <a:spAutoFit/>
              </a:bodyPr>
              <a:lstStyle/>
              <a:p>
                <a:r>
                  <a:rPr lang="en-GB" b="0" i="0" dirty="0">
                    <a:solidFill>
                      <a:srgbClr val="000000"/>
                    </a:solidFill>
                    <a:effectLst/>
                    <a:latin typeface="Aptos" panose="020B0004020202020204" pitchFamily="34" charset="0"/>
                  </a:rPr>
                  <a:t>The Grammar of Graphics is a language for visualization during EDA, giving us rules and components to construct any chart, rather than relying on predefined plot types.</a:t>
                </a:r>
                <a:endParaRPr lang="en-GB" dirty="0">
                  <a:solidFill>
                    <a:srgbClr val="000000"/>
                  </a:solidFill>
                  <a:latin typeface="Aptos" panose="020B0004020202020204" pitchFamily="34" charset="0"/>
                </a:endParaRPr>
              </a:p>
              <a:p>
                <a:endParaRPr lang="en-GB" b="0" i="0" dirty="0">
                  <a:solidFill>
                    <a:srgbClr val="000000"/>
                  </a:solidFill>
                  <a:effectLst/>
                  <a:latin typeface="Aptos" panose="020B0004020202020204" pitchFamily="34" charset="0"/>
                </a:endParaRPr>
              </a:p>
              <a:p>
                <a:endParaRPr lang="en-GB" dirty="0">
                  <a:solidFill>
                    <a:srgbClr val="000000"/>
                  </a:solidFill>
                  <a:latin typeface="Aptos" panose="020B0004020202020204" pitchFamily="34" charset="0"/>
                </a:endParaRPr>
              </a:p>
              <a:p>
                <a:endParaRPr lang="en-GB" b="0" i="0" dirty="0">
                  <a:solidFill>
                    <a:srgbClr val="000000"/>
                  </a:solidFill>
                  <a:effectLst/>
                  <a:latin typeface="Aptos" panose="020B0004020202020204" pitchFamily="34" charset="0"/>
                </a:endParaRPr>
              </a:p>
              <a:p>
                <a:endParaRPr lang="en-GB" dirty="0">
                  <a:solidFill>
                    <a:srgbClr val="000000"/>
                  </a:solidFill>
                  <a:latin typeface="Aptos" panose="020B0004020202020204" pitchFamily="34" charset="0"/>
                </a:endParaRPr>
              </a:p>
              <a:p>
                <a:endParaRPr lang="en-GB" dirty="0">
                  <a:solidFill>
                    <a:srgbClr val="000000"/>
                  </a:solidFill>
                  <a:latin typeface="Aptos" panose="020B0004020202020204" pitchFamily="34" charset="0"/>
                </a:endParaRPr>
              </a:p>
              <a:p>
                <a:r>
                  <a:rPr lang="en-GB" dirty="0">
                    <a:solidFill>
                      <a:srgbClr val="000000"/>
                    </a:solidFill>
                    <a:latin typeface="Aptos" panose="020B0004020202020204" pitchFamily="34" charset="0"/>
                  </a:rPr>
                  <a:t>Instead of simply instructing “make a scatterplot” or “make a bar chart,” the Grammar of Graphics breaks visualizations into fundamental building blocks.</a:t>
                </a:r>
                <a:endParaRPr lang="en-GB" b="0" i="0" dirty="0">
                  <a:solidFill>
                    <a:srgbClr val="000000"/>
                  </a:solidFill>
                  <a:effectLst/>
                  <a:latin typeface="Aptos" panose="020B0004020202020204" pitchFamily="34" charset="0"/>
                </a:endParaRPr>
              </a:p>
            </p:txBody>
          </p:sp>
        </p:grpSp>
        <p:grpSp>
          <p:nvGrpSpPr>
            <p:cNvPr id="9" name="Group 8">
              <a:extLst>
                <a:ext uri="{FF2B5EF4-FFF2-40B4-BE49-F238E27FC236}">
                  <a16:creationId xmlns:a16="http://schemas.microsoft.com/office/drawing/2014/main" id="{A78AB4F4-EA80-9D1C-B71B-64D549A22490}"/>
                </a:ext>
              </a:extLst>
            </p:cNvPr>
            <p:cNvGrpSpPr/>
            <p:nvPr/>
          </p:nvGrpSpPr>
          <p:grpSpPr>
            <a:xfrm>
              <a:off x="0" y="3141544"/>
              <a:ext cx="1502229" cy="769441"/>
              <a:chOff x="0" y="3924331"/>
              <a:chExt cx="1502229" cy="769441"/>
            </a:xfrm>
          </p:grpSpPr>
          <p:sp>
            <p:nvSpPr>
              <p:cNvPr id="6" name="Rectangle 5">
                <a:extLst>
                  <a:ext uri="{FF2B5EF4-FFF2-40B4-BE49-F238E27FC236}">
                    <a16:creationId xmlns:a16="http://schemas.microsoft.com/office/drawing/2014/main" id="{75913198-8DF5-EA79-9A54-794A9D74A2F3}"/>
                  </a:ext>
                </a:extLst>
              </p:cNvPr>
              <p:cNvSpPr/>
              <p:nvPr/>
            </p:nvSpPr>
            <p:spPr>
              <a:xfrm>
                <a:off x="0" y="3990500"/>
                <a:ext cx="1502229" cy="656496"/>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DD631F2-2B13-AE0E-36B6-9B1E8AEA3401}"/>
                  </a:ext>
                </a:extLst>
              </p:cNvPr>
              <p:cNvSpPr txBox="1"/>
              <p:nvPr/>
            </p:nvSpPr>
            <p:spPr>
              <a:xfrm>
                <a:off x="996116" y="3924331"/>
                <a:ext cx="478971" cy="769441"/>
              </a:xfrm>
              <a:prstGeom prst="rect">
                <a:avLst/>
              </a:prstGeom>
              <a:noFill/>
            </p:spPr>
            <p:txBody>
              <a:bodyPr wrap="square">
                <a:spAutoFit/>
              </a:bodyPr>
              <a:lstStyle/>
              <a:p>
                <a:pPr algn="ctr"/>
                <a:r>
                  <a:rPr lang="en-US" sz="4400" b="1" dirty="0">
                    <a:solidFill>
                      <a:schemeClr val="bg1"/>
                    </a:solidFill>
                    <a:latin typeface="Aptos" panose="020B0004020202020204" pitchFamily="34" charset="0"/>
                    <a:ea typeface="Corbel"/>
                    <a:cs typeface="Corbel"/>
                    <a:sym typeface="Corbel"/>
                  </a:rPr>
                  <a:t>T</a:t>
                </a:r>
                <a:endParaRPr lang="en-US" sz="4400" b="1" dirty="0">
                  <a:solidFill>
                    <a:schemeClr val="bg1"/>
                  </a:solidFill>
                </a:endParaRPr>
              </a:p>
            </p:txBody>
          </p:sp>
        </p:grpSp>
      </p:grpSp>
    </p:spTree>
    <p:extLst>
      <p:ext uri="{BB962C8B-B14F-4D97-AF65-F5344CB8AC3E}">
        <p14:creationId xmlns:p14="http://schemas.microsoft.com/office/powerpoint/2010/main" val="4040894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8794-D7C1-0DFD-E8A4-195C74181FE9}"/>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C0639552-38E2-9437-6F96-0BC2EDCD3CE1}"/>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29</a:t>
            </a:fld>
            <a:endParaRPr lang="en-US" noProof="0" dirty="0"/>
          </a:p>
        </p:txBody>
      </p:sp>
      <p:grpSp>
        <p:nvGrpSpPr>
          <p:cNvPr id="34" name="Group 33">
            <a:extLst>
              <a:ext uri="{FF2B5EF4-FFF2-40B4-BE49-F238E27FC236}">
                <a16:creationId xmlns:a16="http://schemas.microsoft.com/office/drawing/2014/main" id="{19477B9C-B870-B787-9CE0-C0EC768A5DDF}"/>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CB118297-125D-6644-308B-5AE7D09ADF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13B1073A-743B-A086-B156-839492FFEFE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grpSp>
        <p:nvGrpSpPr>
          <p:cNvPr id="18" name="Group 17">
            <a:extLst>
              <a:ext uri="{FF2B5EF4-FFF2-40B4-BE49-F238E27FC236}">
                <a16:creationId xmlns:a16="http://schemas.microsoft.com/office/drawing/2014/main" id="{D223B4D7-BA3B-F888-9716-4694ED4FFCEE}"/>
              </a:ext>
            </a:extLst>
          </p:cNvPr>
          <p:cNvGrpSpPr/>
          <p:nvPr/>
        </p:nvGrpSpPr>
        <p:grpSpPr>
          <a:xfrm>
            <a:off x="1551285" y="1403137"/>
            <a:ext cx="9513972" cy="4028258"/>
            <a:chOff x="898142" y="1008345"/>
            <a:chExt cx="9513972" cy="4028258"/>
          </a:xfrm>
        </p:grpSpPr>
        <p:pic>
          <p:nvPicPr>
            <p:cNvPr id="5" name="Picture 4" descr="A graph of different colored lines&#10;&#10;AI-generated content may be incorrect.">
              <a:extLst>
                <a:ext uri="{FF2B5EF4-FFF2-40B4-BE49-F238E27FC236}">
                  <a16:creationId xmlns:a16="http://schemas.microsoft.com/office/drawing/2014/main" id="{04C81001-EAE4-948B-0DB9-856CAE3445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8469" y="3136161"/>
              <a:ext cx="2024445" cy="1881356"/>
            </a:xfrm>
            <a:prstGeom prst="rect">
              <a:avLst/>
            </a:prstGeom>
          </p:spPr>
        </p:pic>
        <p:pic>
          <p:nvPicPr>
            <p:cNvPr id="7" name="Picture 6" descr="A white rectangular object with a black border&#10;&#10;AI-generated content may be incorrect.">
              <a:extLst>
                <a:ext uri="{FF2B5EF4-FFF2-40B4-BE49-F238E27FC236}">
                  <a16:creationId xmlns:a16="http://schemas.microsoft.com/office/drawing/2014/main" id="{4AF16408-C8D1-1235-135B-6E771C0585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142" y="1008345"/>
              <a:ext cx="2100943" cy="1553822"/>
            </a:xfrm>
            <a:prstGeom prst="rect">
              <a:avLst/>
            </a:prstGeom>
          </p:spPr>
        </p:pic>
        <p:pic>
          <p:nvPicPr>
            <p:cNvPr id="9" name="Picture 8" descr="A graph with numbers and lines&#10;&#10;AI-generated content may be incorrect.">
              <a:extLst>
                <a:ext uri="{FF2B5EF4-FFF2-40B4-BE49-F238E27FC236}">
                  <a16:creationId xmlns:a16="http://schemas.microsoft.com/office/drawing/2014/main" id="{EEC57139-3C7A-B4B9-4802-08CFA7639E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2361" y="1008346"/>
              <a:ext cx="2438400" cy="1772816"/>
            </a:xfrm>
            <a:prstGeom prst="rect">
              <a:avLst/>
            </a:prstGeom>
          </p:spPr>
        </p:pic>
        <p:pic>
          <p:nvPicPr>
            <p:cNvPr id="11" name="Picture 10" descr="A graph of a graph showing a number of dots&#10;&#10;AI-generated content may be incorrect.">
              <a:extLst>
                <a:ext uri="{FF2B5EF4-FFF2-40B4-BE49-F238E27FC236}">
                  <a16:creationId xmlns:a16="http://schemas.microsoft.com/office/drawing/2014/main" id="{37DC388C-B685-B621-9E1F-2774DD65EC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24037" y="1008345"/>
              <a:ext cx="2406400" cy="1772816"/>
            </a:xfrm>
            <a:prstGeom prst="rect">
              <a:avLst/>
            </a:prstGeom>
          </p:spPr>
        </p:pic>
        <p:pic>
          <p:nvPicPr>
            <p:cNvPr id="13" name="Picture 12" descr="A graph of a skill&#10;&#10;AI-generated content may be incorrect.">
              <a:extLst>
                <a:ext uri="{FF2B5EF4-FFF2-40B4-BE49-F238E27FC236}">
                  <a16:creationId xmlns:a16="http://schemas.microsoft.com/office/drawing/2014/main" id="{673A0141-42A1-0555-1A68-C3DFF87663B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73714" y="1008345"/>
              <a:ext cx="2438400" cy="1802296"/>
            </a:xfrm>
            <a:prstGeom prst="rect">
              <a:avLst/>
            </a:prstGeom>
          </p:spPr>
        </p:pic>
        <p:pic>
          <p:nvPicPr>
            <p:cNvPr id="15" name="Picture 14" descr="A graph of a skill dribbling&#10;&#10;AI-generated content may be incorrect.">
              <a:extLst>
                <a:ext uri="{FF2B5EF4-FFF2-40B4-BE49-F238E27FC236}">
                  <a16:creationId xmlns:a16="http://schemas.microsoft.com/office/drawing/2014/main" id="{2C06605F-9165-961B-B99C-74632E97229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98142" y="3390526"/>
              <a:ext cx="2767642" cy="1646077"/>
            </a:xfrm>
            <a:prstGeom prst="rect">
              <a:avLst/>
            </a:prstGeom>
          </p:spPr>
        </p:pic>
        <p:pic>
          <p:nvPicPr>
            <p:cNvPr id="17" name="Picture 16" descr="A graph of a graph of skill&#10;&#10;AI-generated content may be incorrect.">
              <a:extLst>
                <a:ext uri="{FF2B5EF4-FFF2-40B4-BE49-F238E27FC236}">
                  <a16:creationId xmlns:a16="http://schemas.microsoft.com/office/drawing/2014/main" id="{176FC836-F6A8-E777-677A-DD7A97F5FB0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009762" y="3457902"/>
              <a:ext cx="2860252" cy="1559615"/>
            </a:xfrm>
            <a:prstGeom prst="rect">
              <a:avLst/>
            </a:prstGeom>
          </p:spPr>
        </p:pic>
      </p:grpSp>
      <p:sp>
        <p:nvSpPr>
          <p:cNvPr id="25" name="TextBox 24">
            <a:extLst>
              <a:ext uri="{FF2B5EF4-FFF2-40B4-BE49-F238E27FC236}">
                <a16:creationId xmlns:a16="http://schemas.microsoft.com/office/drawing/2014/main" id="{4C35EBA8-6570-DF39-675B-7C69ED4E5F37}"/>
              </a:ext>
            </a:extLst>
          </p:cNvPr>
          <p:cNvSpPr txBox="1"/>
          <p:nvPr/>
        </p:nvSpPr>
        <p:spPr>
          <a:xfrm>
            <a:off x="1551285" y="1903049"/>
            <a:ext cx="2058456" cy="553998"/>
          </a:xfrm>
          <a:prstGeom prst="rect">
            <a:avLst/>
          </a:prstGeom>
          <a:noFill/>
        </p:spPr>
        <p:txBody>
          <a:bodyPr wrap="square">
            <a:spAutoFit/>
          </a:bodyPr>
          <a:lstStyle/>
          <a:p>
            <a:pPr algn="ctr"/>
            <a:r>
              <a:rPr lang="en-US" sz="1000" noProof="0" dirty="0">
                <a:latin typeface="Aptos" panose="020B0004020202020204" pitchFamily="34" charset="0"/>
              </a:rPr>
              <a:t>Empty canvas:</a:t>
            </a:r>
            <a:br>
              <a:rPr lang="en-US" sz="1000" noProof="0" dirty="0">
                <a:latin typeface="Aptos" panose="020B0004020202020204" pitchFamily="34" charset="0"/>
              </a:rPr>
            </a:br>
            <a:r>
              <a:rPr lang="en-US" sz="1000" noProof="0" dirty="0">
                <a:latin typeface="Aptos" panose="020B0004020202020204" pitchFamily="34" charset="0"/>
              </a:rPr>
              <a:t>Space for dataset which is not yet defined</a:t>
            </a:r>
          </a:p>
        </p:txBody>
      </p:sp>
      <p:sp>
        <p:nvSpPr>
          <p:cNvPr id="27" name="TextBox 26">
            <a:extLst>
              <a:ext uri="{FF2B5EF4-FFF2-40B4-BE49-F238E27FC236}">
                <a16:creationId xmlns:a16="http://schemas.microsoft.com/office/drawing/2014/main" id="{A22D1CEE-1599-6354-7DD9-706F24E09495}"/>
              </a:ext>
            </a:extLst>
          </p:cNvPr>
          <p:cNvSpPr txBox="1"/>
          <p:nvPr/>
        </p:nvSpPr>
        <p:spPr>
          <a:xfrm>
            <a:off x="4019713" y="1903049"/>
            <a:ext cx="2042963" cy="553998"/>
          </a:xfrm>
          <a:prstGeom prst="rect">
            <a:avLst/>
          </a:prstGeom>
          <a:noFill/>
        </p:spPr>
        <p:txBody>
          <a:bodyPr wrap="square">
            <a:spAutoFit/>
          </a:bodyPr>
          <a:lstStyle/>
          <a:p>
            <a:pPr algn="ctr"/>
            <a:r>
              <a:rPr lang="en-US" sz="1000" noProof="0" dirty="0">
                <a:latin typeface="Aptos" panose="020B0004020202020204" pitchFamily="34" charset="0"/>
              </a:rPr>
              <a:t>Variables:</a:t>
            </a:r>
            <a:br>
              <a:rPr lang="en-US" sz="1000" noProof="0" dirty="0">
                <a:latin typeface="Aptos" panose="020B0004020202020204" pitchFamily="34" charset="0"/>
              </a:rPr>
            </a:br>
            <a:r>
              <a:rPr lang="en-US" sz="1000" noProof="0" dirty="0">
                <a:latin typeface="Aptos" panose="020B0004020202020204" pitchFamily="34" charset="0"/>
              </a:rPr>
              <a:t>Mappings of data to visual dimensions</a:t>
            </a:r>
          </a:p>
        </p:txBody>
      </p:sp>
      <p:grpSp>
        <p:nvGrpSpPr>
          <p:cNvPr id="28" name="Group 27">
            <a:extLst>
              <a:ext uri="{FF2B5EF4-FFF2-40B4-BE49-F238E27FC236}">
                <a16:creationId xmlns:a16="http://schemas.microsoft.com/office/drawing/2014/main" id="{8A7C3A8B-7EFF-6FBA-16C2-70CB6B096A7F}"/>
              </a:ext>
            </a:extLst>
          </p:cNvPr>
          <p:cNvGrpSpPr/>
          <p:nvPr/>
        </p:nvGrpSpPr>
        <p:grpSpPr>
          <a:xfrm>
            <a:off x="6515195" y="1360824"/>
            <a:ext cx="212980" cy="232330"/>
            <a:chOff x="4282131" y="3308062"/>
            <a:chExt cx="212980" cy="232330"/>
          </a:xfrm>
        </p:grpSpPr>
        <p:cxnSp>
          <p:nvCxnSpPr>
            <p:cNvPr id="29" name="Straight Connector 28">
              <a:extLst>
                <a:ext uri="{FF2B5EF4-FFF2-40B4-BE49-F238E27FC236}">
                  <a16:creationId xmlns:a16="http://schemas.microsoft.com/office/drawing/2014/main" id="{48CDB5B8-EBDB-0D19-4FFC-56F642BA4ABB}"/>
                </a:ext>
              </a:extLst>
            </p:cNvPr>
            <p:cNvCxnSpPr>
              <a:cxnSpLocks/>
            </p:cNvCxnSpPr>
            <p:nvPr/>
          </p:nvCxnSpPr>
          <p:spPr>
            <a:xfrm flipH="1" flipV="1">
              <a:off x="4354434" y="3308062"/>
              <a:ext cx="140677" cy="232330"/>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21AAF332-9A38-0347-0A7F-F7D54BE3EB54}"/>
                </a:ext>
              </a:extLst>
            </p:cNvPr>
            <p:cNvCxnSpPr>
              <a:cxnSpLocks/>
            </p:cNvCxnSpPr>
            <p:nvPr/>
          </p:nvCxnSpPr>
          <p:spPr>
            <a:xfrm flipV="1">
              <a:off x="4282131" y="3309304"/>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
        <p:nvSpPr>
          <p:cNvPr id="31" name="TextBox 30">
            <a:extLst>
              <a:ext uri="{FF2B5EF4-FFF2-40B4-BE49-F238E27FC236}">
                <a16:creationId xmlns:a16="http://schemas.microsoft.com/office/drawing/2014/main" id="{803B990A-1C06-74EC-6B31-6D1EC847FC95}"/>
              </a:ext>
            </a:extLst>
          </p:cNvPr>
          <p:cNvSpPr txBox="1"/>
          <p:nvPr/>
        </p:nvSpPr>
        <p:spPr>
          <a:xfrm>
            <a:off x="5797804" y="1230768"/>
            <a:ext cx="780140" cy="246221"/>
          </a:xfrm>
          <a:prstGeom prst="rect">
            <a:avLst/>
          </a:prstGeom>
          <a:noFill/>
        </p:spPr>
        <p:txBody>
          <a:bodyPr wrap="square">
            <a:spAutoFit/>
          </a:bodyPr>
          <a:lstStyle/>
          <a:p>
            <a:pPr algn="r"/>
            <a:r>
              <a:rPr lang="en-US" sz="1000" noProof="0" dirty="0">
                <a:solidFill>
                  <a:schemeClr val="bg2">
                    <a:lumMod val="25000"/>
                  </a:schemeClr>
                </a:solidFill>
                <a:latin typeface="Aptos" panose="020B0004020202020204" pitchFamily="34" charset="0"/>
              </a:rPr>
              <a:t>Geoms</a:t>
            </a:r>
          </a:p>
        </p:txBody>
      </p:sp>
      <p:sp>
        <p:nvSpPr>
          <p:cNvPr id="32" name="TextBox 31">
            <a:extLst>
              <a:ext uri="{FF2B5EF4-FFF2-40B4-BE49-F238E27FC236}">
                <a16:creationId xmlns:a16="http://schemas.microsoft.com/office/drawing/2014/main" id="{7EFB4A61-5409-2EF3-D0AB-119B6EF379FA}"/>
              </a:ext>
            </a:extLst>
          </p:cNvPr>
          <p:cNvSpPr txBox="1"/>
          <p:nvPr/>
        </p:nvSpPr>
        <p:spPr>
          <a:xfrm>
            <a:off x="4984716" y="994010"/>
            <a:ext cx="1593228" cy="338554"/>
          </a:xfrm>
          <a:prstGeom prst="rect">
            <a:avLst/>
          </a:prstGeom>
          <a:noFill/>
        </p:spPr>
        <p:txBody>
          <a:bodyPr wrap="square">
            <a:spAutoFit/>
          </a:bodyPr>
          <a:lstStyle/>
          <a:p>
            <a:pPr algn="r"/>
            <a:r>
              <a:rPr lang="en-US" sz="800" noProof="0" dirty="0">
                <a:solidFill>
                  <a:schemeClr val="bg2">
                    <a:lumMod val="25000"/>
                  </a:schemeClr>
                </a:solidFill>
                <a:latin typeface="Aptos" panose="020B0004020202020204" pitchFamily="34" charset="0"/>
              </a:rPr>
              <a:t>The shape used </a:t>
            </a:r>
            <a:br>
              <a:rPr lang="en-US" sz="800" noProof="0" dirty="0">
                <a:solidFill>
                  <a:schemeClr val="bg2">
                    <a:lumMod val="25000"/>
                  </a:schemeClr>
                </a:solidFill>
                <a:latin typeface="Aptos" panose="020B0004020202020204" pitchFamily="34" charset="0"/>
              </a:rPr>
            </a:br>
            <a:r>
              <a:rPr lang="en-US" sz="800" noProof="0" dirty="0">
                <a:solidFill>
                  <a:schemeClr val="bg2">
                    <a:lumMod val="25000"/>
                  </a:schemeClr>
                </a:solidFill>
                <a:latin typeface="Aptos" panose="020B0004020202020204" pitchFamily="34" charset="0"/>
              </a:rPr>
              <a:t>(points, lines, bars…)</a:t>
            </a:r>
          </a:p>
        </p:txBody>
      </p:sp>
      <p:grpSp>
        <p:nvGrpSpPr>
          <p:cNvPr id="37" name="Group 36">
            <a:extLst>
              <a:ext uri="{FF2B5EF4-FFF2-40B4-BE49-F238E27FC236}">
                <a16:creationId xmlns:a16="http://schemas.microsoft.com/office/drawing/2014/main" id="{EE9C05DE-E0DC-99D0-F49E-A02FBF33E359}"/>
              </a:ext>
            </a:extLst>
          </p:cNvPr>
          <p:cNvGrpSpPr/>
          <p:nvPr/>
        </p:nvGrpSpPr>
        <p:grpSpPr>
          <a:xfrm rot="10800000" flipV="1">
            <a:off x="3551085" y="3674500"/>
            <a:ext cx="212980" cy="232330"/>
            <a:chOff x="4282131" y="3308062"/>
            <a:chExt cx="212980" cy="232330"/>
          </a:xfrm>
        </p:grpSpPr>
        <p:cxnSp>
          <p:nvCxnSpPr>
            <p:cNvPr id="38" name="Straight Connector 37">
              <a:extLst>
                <a:ext uri="{FF2B5EF4-FFF2-40B4-BE49-F238E27FC236}">
                  <a16:creationId xmlns:a16="http://schemas.microsoft.com/office/drawing/2014/main" id="{DC0E4C19-9CB2-3884-B68A-A1ADA8EBA704}"/>
                </a:ext>
              </a:extLst>
            </p:cNvPr>
            <p:cNvCxnSpPr>
              <a:cxnSpLocks/>
            </p:cNvCxnSpPr>
            <p:nvPr/>
          </p:nvCxnSpPr>
          <p:spPr>
            <a:xfrm flipH="1" flipV="1">
              <a:off x="4354434" y="3308062"/>
              <a:ext cx="140677" cy="232330"/>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EAB9D336-B4F5-0B32-FF4E-A3300847EFEC}"/>
                </a:ext>
              </a:extLst>
            </p:cNvPr>
            <p:cNvCxnSpPr>
              <a:cxnSpLocks/>
            </p:cNvCxnSpPr>
            <p:nvPr/>
          </p:nvCxnSpPr>
          <p:spPr>
            <a:xfrm flipV="1">
              <a:off x="4282131" y="3309304"/>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
        <p:nvSpPr>
          <p:cNvPr id="40" name="TextBox 39">
            <a:extLst>
              <a:ext uri="{FF2B5EF4-FFF2-40B4-BE49-F238E27FC236}">
                <a16:creationId xmlns:a16="http://schemas.microsoft.com/office/drawing/2014/main" id="{05B477DB-47B4-01B8-36D3-6917B131B7C0}"/>
              </a:ext>
            </a:extLst>
          </p:cNvPr>
          <p:cNvSpPr txBox="1"/>
          <p:nvPr/>
        </p:nvSpPr>
        <p:spPr>
          <a:xfrm>
            <a:off x="3698747" y="3546042"/>
            <a:ext cx="964158" cy="246221"/>
          </a:xfrm>
          <a:prstGeom prst="rect">
            <a:avLst/>
          </a:prstGeom>
          <a:noFill/>
        </p:spPr>
        <p:txBody>
          <a:bodyPr wrap="square">
            <a:spAutoFit/>
          </a:bodyPr>
          <a:lstStyle/>
          <a:p>
            <a:r>
              <a:rPr lang="en-US" sz="1000" noProof="0" dirty="0">
                <a:solidFill>
                  <a:schemeClr val="bg2">
                    <a:lumMod val="25000"/>
                  </a:schemeClr>
                </a:solidFill>
                <a:latin typeface="Aptos" panose="020B0004020202020204" pitchFamily="34" charset="0"/>
              </a:rPr>
              <a:t>Aesthetics</a:t>
            </a:r>
          </a:p>
        </p:txBody>
      </p:sp>
      <p:sp>
        <p:nvSpPr>
          <p:cNvPr id="41" name="TextBox 40">
            <a:extLst>
              <a:ext uri="{FF2B5EF4-FFF2-40B4-BE49-F238E27FC236}">
                <a16:creationId xmlns:a16="http://schemas.microsoft.com/office/drawing/2014/main" id="{A3AE0C96-A059-8624-A822-2C886F743F6F}"/>
              </a:ext>
            </a:extLst>
          </p:cNvPr>
          <p:cNvSpPr txBox="1"/>
          <p:nvPr/>
        </p:nvSpPr>
        <p:spPr>
          <a:xfrm>
            <a:off x="3698747" y="3723281"/>
            <a:ext cx="1593228" cy="338554"/>
          </a:xfrm>
          <a:prstGeom prst="rect">
            <a:avLst/>
          </a:prstGeom>
          <a:noFill/>
        </p:spPr>
        <p:txBody>
          <a:bodyPr wrap="square">
            <a:spAutoFit/>
          </a:bodyPr>
          <a:lstStyle/>
          <a:p>
            <a:r>
              <a:rPr lang="en-US" sz="800" noProof="0" dirty="0">
                <a:solidFill>
                  <a:schemeClr val="bg2">
                    <a:lumMod val="25000"/>
                  </a:schemeClr>
                </a:solidFill>
                <a:latin typeface="Aptos" panose="020B0004020202020204" pitchFamily="34" charset="0"/>
              </a:rPr>
              <a:t>Visual attributes</a:t>
            </a:r>
            <a:br>
              <a:rPr lang="en-US" sz="800" noProof="0" dirty="0">
                <a:solidFill>
                  <a:schemeClr val="bg2">
                    <a:lumMod val="25000"/>
                  </a:schemeClr>
                </a:solidFill>
                <a:latin typeface="Aptos" panose="020B0004020202020204" pitchFamily="34" charset="0"/>
              </a:rPr>
            </a:br>
            <a:r>
              <a:rPr lang="en-US" sz="800" noProof="0" dirty="0">
                <a:solidFill>
                  <a:schemeClr val="bg2">
                    <a:lumMod val="25000"/>
                  </a:schemeClr>
                </a:solidFill>
                <a:latin typeface="Aptos" panose="020B0004020202020204" pitchFamily="34" charset="0"/>
              </a:rPr>
              <a:t>(color, size, shape…)</a:t>
            </a:r>
          </a:p>
        </p:txBody>
      </p:sp>
      <p:grpSp>
        <p:nvGrpSpPr>
          <p:cNvPr id="42" name="Group 41">
            <a:extLst>
              <a:ext uri="{FF2B5EF4-FFF2-40B4-BE49-F238E27FC236}">
                <a16:creationId xmlns:a16="http://schemas.microsoft.com/office/drawing/2014/main" id="{48B084DA-EDCE-8ACC-FAC6-31964352529D}"/>
              </a:ext>
            </a:extLst>
          </p:cNvPr>
          <p:cNvGrpSpPr/>
          <p:nvPr/>
        </p:nvGrpSpPr>
        <p:grpSpPr>
          <a:xfrm rot="10800000" flipV="1">
            <a:off x="9633077" y="3956364"/>
            <a:ext cx="212980" cy="232330"/>
            <a:chOff x="4282131" y="3308062"/>
            <a:chExt cx="212980" cy="232330"/>
          </a:xfrm>
        </p:grpSpPr>
        <p:cxnSp>
          <p:nvCxnSpPr>
            <p:cNvPr id="43" name="Straight Connector 42">
              <a:extLst>
                <a:ext uri="{FF2B5EF4-FFF2-40B4-BE49-F238E27FC236}">
                  <a16:creationId xmlns:a16="http://schemas.microsoft.com/office/drawing/2014/main" id="{5560C3EB-C1AB-24D3-3DC3-A577E8201C31}"/>
                </a:ext>
              </a:extLst>
            </p:cNvPr>
            <p:cNvCxnSpPr>
              <a:cxnSpLocks/>
            </p:cNvCxnSpPr>
            <p:nvPr/>
          </p:nvCxnSpPr>
          <p:spPr>
            <a:xfrm flipH="1" flipV="1">
              <a:off x="4354434" y="3308062"/>
              <a:ext cx="140677" cy="232330"/>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F165ED4-75A5-8B4E-4DD2-019E02EFC610}"/>
                </a:ext>
              </a:extLst>
            </p:cNvPr>
            <p:cNvCxnSpPr>
              <a:cxnSpLocks/>
            </p:cNvCxnSpPr>
            <p:nvPr/>
          </p:nvCxnSpPr>
          <p:spPr>
            <a:xfrm flipV="1">
              <a:off x="4282131" y="3309304"/>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
        <p:nvSpPr>
          <p:cNvPr id="45" name="TextBox 44">
            <a:extLst>
              <a:ext uri="{FF2B5EF4-FFF2-40B4-BE49-F238E27FC236}">
                <a16:creationId xmlns:a16="http://schemas.microsoft.com/office/drawing/2014/main" id="{F67280FA-DD6B-8FAF-8C7F-F175472BFF8C}"/>
              </a:ext>
            </a:extLst>
          </p:cNvPr>
          <p:cNvSpPr txBox="1"/>
          <p:nvPr/>
        </p:nvSpPr>
        <p:spPr>
          <a:xfrm>
            <a:off x="9780739" y="3827906"/>
            <a:ext cx="964158" cy="246221"/>
          </a:xfrm>
          <a:prstGeom prst="rect">
            <a:avLst/>
          </a:prstGeom>
          <a:noFill/>
        </p:spPr>
        <p:txBody>
          <a:bodyPr wrap="square">
            <a:spAutoFit/>
          </a:bodyPr>
          <a:lstStyle/>
          <a:p>
            <a:r>
              <a:rPr lang="en-US" sz="1000" noProof="0" dirty="0">
                <a:solidFill>
                  <a:schemeClr val="bg2">
                    <a:lumMod val="25000"/>
                  </a:schemeClr>
                </a:solidFill>
                <a:latin typeface="Aptos" panose="020B0004020202020204" pitchFamily="34" charset="0"/>
              </a:rPr>
              <a:t>Stats</a:t>
            </a:r>
          </a:p>
        </p:txBody>
      </p:sp>
      <p:sp>
        <p:nvSpPr>
          <p:cNvPr id="46" name="TextBox 45">
            <a:extLst>
              <a:ext uri="{FF2B5EF4-FFF2-40B4-BE49-F238E27FC236}">
                <a16:creationId xmlns:a16="http://schemas.microsoft.com/office/drawing/2014/main" id="{8A4B8243-8759-A76D-5D95-B4C404E14D5B}"/>
              </a:ext>
            </a:extLst>
          </p:cNvPr>
          <p:cNvSpPr txBox="1"/>
          <p:nvPr/>
        </p:nvSpPr>
        <p:spPr>
          <a:xfrm>
            <a:off x="9780739" y="4005145"/>
            <a:ext cx="1593228" cy="338554"/>
          </a:xfrm>
          <a:prstGeom prst="rect">
            <a:avLst/>
          </a:prstGeom>
          <a:noFill/>
        </p:spPr>
        <p:txBody>
          <a:bodyPr wrap="square">
            <a:spAutoFit/>
          </a:bodyPr>
          <a:lstStyle/>
          <a:p>
            <a:r>
              <a:rPr lang="en-US" sz="800" noProof="0" dirty="0">
                <a:solidFill>
                  <a:schemeClr val="bg2">
                    <a:lumMod val="25000"/>
                  </a:schemeClr>
                </a:solidFill>
                <a:latin typeface="Aptos" panose="020B0004020202020204" pitchFamily="34" charset="0"/>
              </a:rPr>
              <a:t>Transformations or summaries</a:t>
            </a:r>
            <a:br>
              <a:rPr lang="en-US" sz="800" noProof="0" dirty="0">
                <a:solidFill>
                  <a:schemeClr val="bg2">
                    <a:lumMod val="25000"/>
                  </a:schemeClr>
                </a:solidFill>
                <a:latin typeface="Aptos" panose="020B0004020202020204" pitchFamily="34" charset="0"/>
              </a:rPr>
            </a:br>
            <a:r>
              <a:rPr lang="en-US" sz="800" noProof="0" dirty="0">
                <a:solidFill>
                  <a:schemeClr val="bg2">
                    <a:lumMod val="25000"/>
                  </a:schemeClr>
                </a:solidFill>
                <a:latin typeface="Aptos" panose="020B0004020202020204" pitchFamily="34" charset="0"/>
              </a:rPr>
              <a:t>(counts, function, smoothers…)</a:t>
            </a:r>
          </a:p>
        </p:txBody>
      </p:sp>
      <p:grpSp>
        <p:nvGrpSpPr>
          <p:cNvPr id="47" name="Group 46">
            <a:extLst>
              <a:ext uri="{FF2B5EF4-FFF2-40B4-BE49-F238E27FC236}">
                <a16:creationId xmlns:a16="http://schemas.microsoft.com/office/drawing/2014/main" id="{63A098D7-D2BB-FC8E-C535-7580B77721ED}"/>
              </a:ext>
            </a:extLst>
          </p:cNvPr>
          <p:cNvGrpSpPr/>
          <p:nvPr/>
        </p:nvGrpSpPr>
        <p:grpSpPr>
          <a:xfrm flipH="1" flipV="1">
            <a:off x="6853911" y="5251104"/>
            <a:ext cx="212980" cy="232330"/>
            <a:chOff x="4282131" y="3308062"/>
            <a:chExt cx="212980" cy="232330"/>
          </a:xfrm>
        </p:grpSpPr>
        <p:cxnSp>
          <p:nvCxnSpPr>
            <p:cNvPr id="48" name="Straight Connector 47">
              <a:extLst>
                <a:ext uri="{FF2B5EF4-FFF2-40B4-BE49-F238E27FC236}">
                  <a16:creationId xmlns:a16="http://schemas.microsoft.com/office/drawing/2014/main" id="{31CDCC99-D8FE-7AF4-CB73-298F9E345397}"/>
                </a:ext>
              </a:extLst>
            </p:cNvPr>
            <p:cNvCxnSpPr>
              <a:cxnSpLocks/>
            </p:cNvCxnSpPr>
            <p:nvPr/>
          </p:nvCxnSpPr>
          <p:spPr>
            <a:xfrm flipH="1" flipV="1">
              <a:off x="4354434" y="3308062"/>
              <a:ext cx="140677" cy="232330"/>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50AFABC0-3576-2D24-0043-13A57435EE9C}"/>
                </a:ext>
              </a:extLst>
            </p:cNvPr>
            <p:cNvCxnSpPr>
              <a:cxnSpLocks/>
            </p:cNvCxnSpPr>
            <p:nvPr/>
          </p:nvCxnSpPr>
          <p:spPr>
            <a:xfrm flipV="1">
              <a:off x="4282131" y="3309304"/>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
        <p:nvSpPr>
          <p:cNvPr id="50" name="TextBox 49">
            <a:extLst>
              <a:ext uri="{FF2B5EF4-FFF2-40B4-BE49-F238E27FC236}">
                <a16:creationId xmlns:a16="http://schemas.microsoft.com/office/drawing/2014/main" id="{2D295415-2E60-213B-EA0C-AD202CFC26CA}"/>
              </a:ext>
            </a:extLst>
          </p:cNvPr>
          <p:cNvSpPr txBox="1"/>
          <p:nvPr/>
        </p:nvSpPr>
        <p:spPr>
          <a:xfrm>
            <a:off x="7012682" y="5361922"/>
            <a:ext cx="965591" cy="246221"/>
          </a:xfrm>
          <a:prstGeom prst="rect">
            <a:avLst/>
          </a:prstGeom>
          <a:noFill/>
        </p:spPr>
        <p:txBody>
          <a:bodyPr wrap="square">
            <a:spAutoFit/>
          </a:bodyPr>
          <a:lstStyle/>
          <a:p>
            <a:r>
              <a:rPr lang="en-US" sz="1000" noProof="0" dirty="0">
                <a:solidFill>
                  <a:schemeClr val="bg2">
                    <a:lumMod val="25000"/>
                  </a:schemeClr>
                </a:solidFill>
                <a:latin typeface="Aptos" panose="020B0004020202020204" pitchFamily="34" charset="0"/>
              </a:rPr>
              <a:t>Coordinates</a:t>
            </a:r>
          </a:p>
        </p:txBody>
      </p:sp>
      <p:sp>
        <p:nvSpPr>
          <p:cNvPr id="51" name="TextBox 50">
            <a:extLst>
              <a:ext uri="{FF2B5EF4-FFF2-40B4-BE49-F238E27FC236}">
                <a16:creationId xmlns:a16="http://schemas.microsoft.com/office/drawing/2014/main" id="{73DD30F6-775B-2D73-E769-568F341F8908}"/>
              </a:ext>
            </a:extLst>
          </p:cNvPr>
          <p:cNvSpPr txBox="1"/>
          <p:nvPr/>
        </p:nvSpPr>
        <p:spPr>
          <a:xfrm>
            <a:off x="6990352" y="5526152"/>
            <a:ext cx="1593228" cy="338554"/>
          </a:xfrm>
          <a:prstGeom prst="rect">
            <a:avLst/>
          </a:prstGeom>
          <a:noFill/>
        </p:spPr>
        <p:txBody>
          <a:bodyPr wrap="square">
            <a:spAutoFit/>
          </a:bodyPr>
          <a:lstStyle/>
          <a:p>
            <a:r>
              <a:rPr lang="en-US" sz="800" noProof="0" dirty="0">
                <a:solidFill>
                  <a:schemeClr val="bg2">
                    <a:lumMod val="25000"/>
                  </a:schemeClr>
                </a:solidFill>
                <a:latin typeface="Aptos" panose="020B0004020202020204" pitchFamily="34" charset="0"/>
              </a:rPr>
              <a:t>The space used</a:t>
            </a:r>
          </a:p>
          <a:p>
            <a:r>
              <a:rPr lang="en-US" sz="800" dirty="0">
                <a:solidFill>
                  <a:schemeClr val="bg2">
                    <a:lumMod val="25000"/>
                  </a:schemeClr>
                </a:solidFill>
                <a:latin typeface="Aptos" panose="020B0004020202020204" pitchFamily="34" charset="0"/>
              </a:rPr>
              <a:t>(Cartesian, polar)</a:t>
            </a:r>
            <a:endParaRPr lang="en-US" sz="800" noProof="0" dirty="0">
              <a:solidFill>
                <a:schemeClr val="bg2">
                  <a:lumMod val="25000"/>
                </a:schemeClr>
              </a:solidFill>
              <a:latin typeface="Aptos" panose="020B0004020202020204" pitchFamily="34" charset="0"/>
            </a:endParaRPr>
          </a:p>
        </p:txBody>
      </p:sp>
      <p:grpSp>
        <p:nvGrpSpPr>
          <p:cNvPr id="52" name="Group 51">
            <a:extLst>
              <a:ext uri="{FF2B5EF4-FFF2-40B4-BE49-F238E27FC236}">
                <a16:creationId xmlns:a16="http://schemas.microsoft.com/office/drawing/2014/main" id="{433F54D6-98E2-D9B7-27D1-DD03D037C1FB}"/>
              </a:ext>
            </a:extLst>
          </p:cNvPr>
          <p:cNvGrpSpPr/>
          <p:nvPr/>
        </p:nvGrpSpPr>
        <p:grpSpPr>
          <a:xfrm>
            <a:off x="6296262" y="3653542"/>
            <a:ext cx="212980" cy="232330"/>
            <a:chOff x="4282131" y="3308062"/>
            <a:chExt cx="212980" cy="232330"/>
          </a:xfrm>
        </p:grpSpPr>
        <p:cxnSp>
          <p:nvCxnSpPr>
            <p:cNvPr id="53" name="Straight Connector 52">
              <a:extLst>
                <a:ext uri="{FF2B5EF4-FFF2-40B4-BE49-F238E27FC236}">
                  <a16:creationId xmlns:a16="http://schemas.microsoft.com/office/drawing/2014/main" id="{211A87CC-AE3B-CA70-280D-DD71FDC2ACAC}"/>
                </a:ext>
              </a:extLst>
            </p:cNvPr>
            <p:cNvCxnSpPr>
              <a:cxnSpLocks/>
            </p:cNvCxnSpPr>
            <p:nvPr/>
          </p:nvCxnSpPr>
          <p:spPr>
            <a:xfrm flipH="1" flipV="1">
              <a:off x="4354434" y="3308062"/>
              <a:ext cx="140677" cy="232330"/>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56C122A2-3463-39E2-457C-35578DA9A30F}"/>
                </a:ext>
              </a:extLst>
            </p:cNvPr>
            <p:cNvCxnSpPr>
              <a:cxnSpLocks/>
            </p:cNvCxnSpPr>
            <p:nvPr/>
          </p:nvCxnSpPr>
          <p:spPr>
            <a:xfrm flipV="1">
              <a:off x="4282131" y="3309304"/>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
        <p:nvSpPr>
          <p:cNvPr id="55" name="TextBox 54">
            <a:extLst>
              <a:ext uri="{FF2B5EF4-FFF2-40B4-BE49-F238E27FC236}">
                <a16:creationId xmlns:a16="http://schemas.microsoft.com/office/drawing/2014/main" id="{01427CA8-80F4-60E6-A748-4C49D4447AFC}"/>
              </a:ext>
            </a:extLst>
          </p:cNvPr>
          <p:cNvSpPr txBox="1"/>
          <p:nvPr/>
        </p:nvSpPr>
        <p:spPr>
          <a:xfrm>
            <a:off x="5590430" y="3530001"/>
            <a:ext cx="780140" cy="246221"/>
          </a:xfrm>
          <a:prstGeom prst="rect">
            <a:avLst/>
          </a:prstGeom>
          <a:noFill/>
        </p:spPr>
        <p:txBody>
          <a:bodyPr wrap="square">
            <a:spAutoFit/>
          </a:bodyPr>
          <a:lstStyle/>
          <a:p>
            <a:pPr algn="r"/>
            <a:r>
              <a:rPr lang="en-US" sz="1000" noProof="0" dirty="0">
                <a:solidFill>
                  <a:schemeClr val="bg2">
                    <a:lumMod val="25000"/>
                  </a:schemeClr>
                </a:solidFill>
                <a:latin typeface="Aptos" panose="020B0004020202020204" pitchFamily="34" charset="0"/>
              </a:rPr>
              <a:t>Scales</a:t>
            </a:r>
          </a:p>
        </p:txBody>
      </p:sp>
      <p:sp>
        <p:nvSpPr>
          <p:cNvPr id="56" name="TextBox 55">
            <a:extLst>
              <a:ext uri="{FF2B5EF4-FFF2-40B4-BE49-F238E27FC236}">
                <a16:creationId xmlns:a16="http://schemas.microsoft.com/office/drawing/2014/main" id="{1F18B053-2AFC-8E00-C9BD-D928ECACB8A9}"/>
              </a:ext>
            </a:extLst>
          </p:cNvPr>
          <p:cNvSpPr txBox="1"/>
          <p:nvPr/>
        </p:nvSpPr>
        <p:spPr>
          <a:xfrm>
            <a:off x="4793816" y="3286867"/>
            <a:ext cx="1593228" cy="338554"/>
          </a:xfrm>
          <a:prstGeom prst="rect">
            <a:avLst/>
          </a:prstGeom>
          <a:noFill/>
        </p:spPr>
        <p:txBody>
          <a:bodyPr wrap="square">
            <a:spAutoFit/>
          </a:bodyPr>
          <a:lstStyle/>
          <a:p>
            <a:pPr algn="r"/>
            <a:r>
              <a:rPr lang="en-US" sz="800" noProof="0" dirty="0">
                <a:solidFill>
                  <a:schemeClr val="bg2">
                    <a:lumMod val="25000"/>
                  </a:schemeClr>
                </a:solidFill>
                <a:latin typeface="Aptos" panose="020B0004020202020204" pitchFamily="34" charset="0"/>
              </a:rPr>
              <a:t>How values map to aesthetics</a:t>
            </a:r>
            <a:br>
              <a:rPr lang="en-US" sz="800" noProof="0" dirty="0">
                <a:solidFill>
                  <a:schemeClr val="bg2">
                    <a:lumMod val="25000"/>
                  </a:schemeClr>
                </a:solidFill>
                <a:latin typeface="Aptos" panose="020B0004020202020204" pitchFamily="34" charset="0"/>
              </a:rPr>
            </a:br>
            <a:r>
              <a:rPr lang="en-US" sz="800" noProof="0" dirty="0">
                <a:solidFill>
                  <a:schemeClr val="bg2">
                    <a:lumMod val="25000"/>
                  </a:schemeClr>
                </a:solidFill>
                <a:latin typeface="Aptos" panose="020B0004020202020204" pitchFamily="34" charset="0"/>
              </a:rPr>
              <a:t>(linear, log, categorical…)</a:t>
            </a:r>
          </a:p>
        </p:txBody>
      </p:sp>
      <p:sp>
        <p:nvSpPr>
          <p:cNvPr id="57" name="Rectangle 56">
            <a:extLst>
              <a:ext uri="{FF2B5EF4-FFF2-40B4-BE49-F238E27FC236}">
                <a16:creationId xmlns:a16="http://schemas.microsoft.com/office/drawing/2014/main" id="{30E286CE-0FBC-A38F-41E3-A8F4F211689C}"/>
              </a:ext>
            </a:extLst>
          </p:cNvPr>
          <p:cNvSpPr/>
          <p:nvPr/>
        </p:nvSpPr>
        <p:spPr>
          <a:xfrm>
            <a:off x="0" y="3207713"/>
            <a:ext cx="1502229" cy="656496"/>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01117D13-BDDA-E64F-1350-D98E08B4B10C}"/>
              </a:ext>
            </a:extLst>
          </p:cNvPr>
          <p:cNvSpPr txBox="1"/>
          <p:nvPr/>
        </p:nvSpPr>
        <p:spPr>
          <a:xfrm>
            <a:off x="996116" y="3141544"/>
            <a:ext cx="478971" cy="769441"/>
          </a:xfrm>
          <a:prstGeom prst="rect">
            <a:avLst/>
          </a:prstGeom>
          <a:noFill/>
        </p:spPr>
        <p:txBody>
          <a:bodyPr wrap="square">
            <a:spAutoFit/>
          </a:bodyPr>
          <a:lstStyle/>
          <a:p>
            <a:pPr algn="ctr"/>
            <a:r>
              <a:rPr lang="en-US" sz="4400" b="1" dirty="0">
                <a:solidFill>
                  <a:schemeClr val="bg1"/>
                </a:solidFill>
                <a:latin typeface="Aptos" panose="020B0004020202020204" pitchFamily="34" charset="0"/>
                <a:ea typeface="Corbel"/>
                <a:cs typeface="Corbel"/>
                <a:sym typeface="Corbel"/>
              </a:rPr>
              <a:t>T</a:t>
            </a:r>
            <a:endParaRPr lang="en-US" sz="4400" b="1" dirty="0">
              <a:solidFill>
                <a:schemeClr val="bg1"/>
              </a:solidFill>
            </a:endParaRPr>
          </a:p>
        </p:txBody>
      </p:sp>
    </p:spTree>
    <p:extLst>
      <p:ext uri="{BB962C8B-B14F-4D97-AF65-F5344CB8AC3E}">
        <p14:creationId xmlns:p14="http://schemas.microsoft.com/office/powerpoint/2010/main" val="2997267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E5D34-1E25-CAED-2CB3-A234CBFDC461}"/>
            </a:ext>
          </a:extLst>
        </p:cNvPr>
        <p:cNvGrpSpPr/>
        <p:nvPr/>
      </p:nvGrpSpPr>
      <p:grpSpPr>
        <a:xfrm>
          <a:off x="0" y="0"/>
          <a:ext cx="0" cy="0"/>
          <a:chOff x="0" y="0"/>
          <a:chExt cx="0" cy="0"/>
        </a:xfrm>
      </p:grpSpPr>
      <p:sp>
        <p:nvSpPr>
          <p:cNvPr id="33" name="Slide Number Placeholder 8">
            <a:extLst>
              <a:ext uri="{FF2B5EF4-FFF2-40B4-BE49-F238E27FC236}">
                <a16:creationId xmlns:a16="http://schemas.microsoft.com/office/drawing/2014/main" id="{8CF14D4D-320E-D6E9-62D9-43428746FABB}"/>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30</a:t>
            </a:fld>
            <a:endParaRPr lang="en-US" noProof="0" dirty="0"/>
          </a:p>
        </p:txBody>
      </p:sp>
      <p:grpSp>
        <p:nvGrpSpPr>
          <p:cNvPr id="34" name="Group 33">
            <a:extLst>
              <a:ext uri="{FF2B5EF4-FFF2-40B4-BE49-F238E27FC236}">
                <a16:creationId xmlns:a16="http://schemas.microsoft.com/office/drawing/2014/main" id="{CAAE53D3-63DC-6597-C33E-AA9D9E80461F}"/>
              </a:ext>
            </a:extLst>
          </p:cNvPr>
          <p:cNvGrpSpPr/>
          <p:nvPr/>
        </p:nvGrpSpPr>
        <p:grpSpPr>
          <a:xfrm>
            <a:off x="898142" y="6203580"/>
            <a:ext cx="1863495" cy="517895"/>
            <a:chOff x="2808222" y="6127115"/>
            <a:chExt cx="1863495" cy="517895"/>
          </a:xfrm>
        </p:grpSpPr>
        <p:pic>
          <p:nvPicPr>
            <p:cNvPr id="35" name="Picture 2">
              <a:extLst>
                <a:ext uri="{FF2B5EF4-FFF2-40B4-BE49-F238E27FC236}">
                  <a16:creationId xmlns:a16="http://schemas.microsoft.com/office/drawing/2014/main" id="{03C9AC77-0A44-8152-365E-8C1C38DBF6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AI-generated content may be incorrect.">
              <a:extLst>
                <a:ext uri="{FF2B5EF4-FFF2-40B4-BE49-F238E27FC236}">
                  <a16:creationId xmlns:a16="http://schemas.microsoft.com/office/drawing/2014/main" id="{0967961A-6879-FD29-6D85-F631F4E46769}"/>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pic>
        <p:nvPicPr>
          <p:cNvPr id="3" name="Picture 2" descr="A group of colored graphs&#10;&#10;AI-generated content may be incorrect.">
            <a:extLst>
              <a:ext uri="{FF2B5EF4-FFF2-40B4-BE49-F238E27FC236}">
                <a16:creationId xmlns:a16="http://schemas.microsoft.com/office/drawing/2014/main" id="{EC15EBA9-3D45-3798-8E72-4B176FFB62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9800" y="675090"/>
            <a:ext cx="7772400" cy="5507820"/>
          </a:xfrm>
          <a:prstGeom prst="rect">
            <a:avLst/>
          </a:prstGeom>
        </p:spPr>
      </p:pic>
      <p:grpSp>
        <p:nvGrpSpPr>
          <p:cNvPr id="4" name="Group 3">
            <a:extLst>
              <a:ext uri="{FF2B5EF4-FFF2-40B4-BE49-F238E27FC236}">
                <a16:creationId xmlns:a16="http://schemas.microsoft.com/office/drawing/2014/main" id="{2A97CB87-9955-EC6D-AC9A-615D6174B287}"/>
              </a:ext>
            </a:extLst>
          </p:cNvPr>
          <p:cNvGrpSpPr/>
          <p:nvPr/>
        </p:nvGrpSpPr>
        <p:grpSpPr>
          <a:xfrm rot="10800000" flipV="1">
            <a:off x="9654466" y="2630217"/>
            <a:ext cx="212980" cy="232330"/>
            <a:chOff x="4282131" y="3308062"/>
            <a:chExt cx="212980" cy="232330"/>
          </a:xfrm>
        </p:grpSpPr>
        <p:cxnSp>
          <p:nvCxnSpPr>
            <p:cNvPr id="6" name="Straight Connector 5">
              <a:extLst>
                <a:ext uri="{FF2B5EF4-FFF2-40B4-BE49-F238E27FC236}">
                  <a16:creationId xmlns:a16="http://schemas.microsoft.com/office/drawing/2014/main" id="{D9807C02-F369-DDE0-E183-9502C8ABE23A}"/>
                </a:ext>
              </a:extLst>
            </p:cNvPr>
            <p:cNvCxnSpPr>
              <a:cxnSpLocks/>
            </p:cNvCxnSpPr>
            <p:nvPr/>
          </p:nvCxnSpPr>
          <p:spPr>
            <a:xfrm flipH="1" flipV="1">
              <a:off x="4354434" y="3308062"/>
              <a:ext cx="140677" cy="232330"/>
            </a:xfrm>
            <a:prstGeom prst="line">
              <a:avLst/>
            </a:prstGeom>
            <a:ln w="9525">
              <a:solidFill>
                <a:schemeClr val="tx1"/>
              </a:solidFill>
              <a:headEnd type="none"/>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9480F0F9-686F-07E0-6451-CEDA80B7AA69}"/>
                </a:ext>
              </a:extLst>
            </p:cNvPr>
            <p:cNvCxnSpPr>
              <a:cxnSpLocks/>
            </p:cNvCxnSpPr>
            <p:nvPr/>
          </p:nvCxnSpPr>
          <p:spPr>
            <a:xfrm flipV="1">
              <a:off x="4282131" y="3309304"/>
              <a:ext cx="72347" cy="0"/>
            </a:xfrm>
            <a:prstGeom prst="line">
              <a:avLst/>
            </a:prstGeom>
            <a:ln w="9525">
              <a:solidFill>
                <a:schemeClr val="bg2">
                  <a:lumMod val="25000"/>
                </a:schemeClr>
              </a:solidFill>
            </a:ln>
          </p:spPr>
          <p:style>
            <a:lnRef idx="1">
              <a:schemeClr val="dk1"/>
            </a:lnRef>
            <a:fillRef idx="0">
              <a:schemeClr val="dk1"/>
            </a:fillRef>
            <a:effectRef idx="0">
              <a:schemeClr val="dk1"/>
            </a:effectRef>
            <a:fontRef idx="minor">
              <a:schemeClr val="tx1"/>
            </a:fontRef>
          </p:style>
        </p:cxnSp>
      </p:grpSp>
      <p:sp>
        <p:nvSpPr>
          <p:cNvPr id="10" name="TextBox 9">
            <a:extLst>
              <a:ext uri="{FF2B5EF4-FFF2-40B4-BE49-F238E27FC236}">
                <a16:creationId xmlns:a16="http://schemas.microsoft.com/office/drawing/2014/main" id="{673A5A5F-4E56-CD35-18EF-480F2F3C7266}"/>
              </a:ext>
            </a:extLst>
          </p:cNvPr>
          <p:cNvSpPr txBox="1"/>
          <p:nvPr/>
        </p:nvSpPr>
        <p:spPr>
          <a:xfrm>
            <a:off x="9802128" y="2501759"/>
            <a:ext cx="964158" cy="246221"/>
          </a:xfrm>
          <a:prstGeom prst="rect">
            <a:avLst/>
          </a:prstGeom>
          <a:noFill/>
        </p:spPr>
        <p:txBody>
          <a:bodyPr wrap="square">
            <a:spAutoFit/>
          </a:bodyPr>
          <a:lstStyle/>
          <a:p>
            <a:r>
              <a:rPr lang="en-US" sz="1000" noProof="0" dirty="0">
                <a:solidFill>
                  <a:schemeClr val="bg2">
                    <a:lumMod val="25000"/>
                  </a:schemeClr>
                </a:solidFill>
                <a:latin typeface="Aptos" panose="020B0004020202020204" pitchFamily="34" charset="0"/>
              </a:rPr>
              <a:t>Facets</a:t>
            </a:r>
          </a:p>
        </p:txBody>
      </p:sp>
      <p:sp>
        <p:nvSpPr>
          <p:cNvPr id="12" name="TextBox 11">
            <a:extLst>
              <a:ext uri="{FF2B5EF4-FFF2-40B4-BE49-F238E27FC236}">
                <a16:creationId xmlns:a16="http://schemas.microsoft.com/office/drawing/2014/main" id="{ED90AB05-A715-C929-E6DD-1B8D18F03255}"/>
              </a:ext>
            </a:extLst>
          </p:cNvPr>
          <p:cNvSpPr txBox="1"/>
          <p:nvPr/>
        </p:nvSpPr>
        <p:spPr>
          <a:xfrm>
            <a:off x="9802128" y="2678998"/>
            <a:ext cx="1593228" cy="461665"/>
          </a:xfrm>
          <a:prstGeom prst="rect">
            <a:avLst/>
          </a:prstGeom>
          <a:noFill/>
        </p:spPr>
        <p:txBody>
          <a:bodyPr wrap="square">
            <a:spAutoFit/>
          </a:bodyPr>
          <a:lstStyle/>
          <a:p>
            <a:r>
              <a:rPr lang="en-US" sz="800" noProof="0" dirty="0">
                <a:solidFill>
                  <a:schemeClr val="bg2">
                    <a:lumMod val="25000"/>
                  </a:schemeClr>
                </a:solidFill>
                <a:latin typeface="Aptos" panose="020B0004020202020204" pitchFamily="34" charset="0"/>
              </a:rPr>
              <a:t>Splitting data into subplots</a:t>
            </a:r>
            <a:br>
              <a:rPr lang="en-US" sz="800" noProof="0" dirty="0">
                <a:solidFill>
                  <a:schemeClr val="bg2">
                    <a:lumMod val="25000"/>
                  </a:schemeClr>
                </a:solidFill>
                <a:latin typeface="Aptos" panose="020B0004020202020204" pitchFamily="34" charset="0"/>
              </a:rPr>
            </a:br>
            <a:r>
              <a:rPr lang="en-US" sz="800" noProof="0" dirty="0">
                <a:solidFill>
                  <a:schemeClr val="bg2">
                    <a:lumMod val="25000"/>
                  </a:schemeClr>
                </a:solidFill>
                <a:latin typeface="Aptos" panose="020B0004020202020204" pitchFamily="34" charset="0"/>
              </a:rPr>
              <a:t>Combining visual and table data in one canvas</a:t>
            </a:r>
          </a:p>
        </p:txBody>
      </p:sp>
      <p:sp>
        <p:nvSpPr>
          <p:cNvPr id="14" name="Rectangle 13">
            <a:extLst>
              <a:ext uri="{FF2B5EF4-FFF2-40B4-BE49-F238E27FC236}">
                <a16:creationId xmlns:a16="http://schemas.microsoft.com/office/drawing/2014/main" id="{D623679F-497C-8A83-A05B-C6B8B6D99298}"/>
              </a:ext>
            </a:extLst>
          </p:cNvPr>
          <p:cNvSpPr/>
          <p:nvPr/>
        </p:nvSpPr>
        <p:spPr>
          <a:xfrm>
            <a:off x="0" y="3207713"/>
            <a:ext cx="1502229" cy="656496"/>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EEE93B7-5D4F-018E-4FAF-11EE450084F5}"/>
              </a:ext>
            </a:extLst>
          </p:cNvPr>
          <p:cNvSpPr txBox="1"/>
          <p:nvPr/>
        </p:nvSpPr>
        <p:spPr>
          <a:xfrm>
            <a:off x="996116" y="3141544"/>
            <a:ext cx="478971" cy="769441"/>
          </a:xfrm>
          <a:prstGeom prst="rect">
            <a:avLst/>
          </a:prstGeom>
          <a:noFill/>
        </p:spPr>
        <p:txBody>
          <a:bodyPr wrap="square">
            <a:spAutoFit/>
          </a:bodyPr>
          <a:lstStyle/>
          <a:p>
            <a:pPr algn="ctr"/>
            <a:r>
              <a:rPr lang="en-US" sz="4400" b="1" dirty="0">
                <a:solidFill>
                  <a:schemeClr val="bg1"/>
                </a:solidFill>
                <a:latin typeface="Aptos" panose="020B0004020202020204" pitchFamily="34" charset="0"/>
                <a:ea typeface="Corbel"/>
                <a:cs typeface="Corbel"/>
                <a:sym typeface="Corbel"/>
              </a:rPr>
              <a:t>T</a:t>
            </a:r>
            <a:endParaRPr lang="en-US" sz="4400" b="1" dirty="0">
              <a:solidFill>
                <a:schemeClr val="bg1"/>
              </a:solidFill>
            </a:endParaRPr>
          </a:p>
        </p:txBody>
      </p:sp>
    </p:spTree>
    <p:extLst>
      <p:ext uri="{BB962C8B-B14F-4D97-AF65-F5344CB8AC3E}">
        <p14:creationId xmlns:p14="http://schemas.microsoft.com/office/powerpoint/2010/main" val="3276025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483B1-C748-081C-5554-D1DA1168D190}"/>
            </a:ext>
          </a:extLst>
        </p:cNvPr>
        <p:cNvGrpSpPr/>
        <p:nvPr/>
      </p:nvGrpSpPr>
      <p:grpSpPr>
        <a:xfrm>
          <a:off x="0" y="0"/>
          <a:ext cx="0" cy="0"/>
          <a:chOff x="0" y="0"/>
          <a:chExt cx="0" cy="0"/>
        </a:xfrm>
      </p:grpSpPr>
      <p:pic>
        <p:nvPicPr>
          <p:cNvPr id="8" name="Picture 7" descr="A blue and white logo&#10;&#10;AI-generated content may be incorrect.">
            <a:extLst>
              <a:ext uri="{FF2B5EF4-FFF2-40B4-BE49-F238E27FC236}">
                <a16:creationId xmlns:a16="http://schemas.microsoft.com/office/drawing/2014/main" id="{E60864EC-B592-C449-A5B3-41DF03C1D6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8478" y="552438"/>
            <a:ext cx="1270291" cy="711835"/>
          </a:xfrm>
          <a:prstGeom prst="rect">
            <a:avLst/>
          </a:prstGeom>
        </p:spPr>
      </p:pic>
      <p:graphicFrame>
        <p:nvGraphicFramePr>
          <p:cNvPr id="10" name="Table 9">
            <a:extLst>
              <a:ext uri="{FF2B5EF4-FFF2-40B4-BE49-F238E27FC236}">
                <a16:creationId xmlns:a16="http://schemas.microsoft.com/office/drawing/2014/main" id="{8950150C-EBF0-84B1-FFB7-9CF4F3D831E3}"/>
              </a:ext>
            </a:extLst>
          </p:cNvPr>
          <p:cNvGraphicFramePr>
            <a:graphicFrameLocks noGrp="1"/>
          </p:cNvGraphicFramePr>
          <p:nvPr>
            <p:extLst>
              <p:ext uri="{D42A27DB-BD31-4B8C-83A1-F6EECF244321}">
                <p14:modId xmlns:p14="http://schemas.microsoft.com/office/powerpoint/2010/main" val="4184040006"/>
              </p:ext>
            </p:extLst>
          </p:nvPr>
        </p:nvGraphicFramePr>
        <p:xfrm>
          <a:off x="898142" y="1417151"/>
          <a:ext cx="9618980" cy="4297680"/>
        </p:xfrm>
        <a:graphic>
          <a:graphicData uri="http://schemas.openxmlformats.org/drawingml/2006/table">
            <a:tbl>
              <a:tblPr firstRow="1" bandRow="1"/>
              <a:tblGrid>
                <a:gridCol w="2446828">
                  <a:extLst>
                    <a:ext uri="{9D8B030D-6E8A-4147-A177-3AD203B41FA5}">
                      <a16:colId xmlns:a16="http://schemas.microsoft.com/office/drawing/2014/main" val="4172398280"/>
                    </a:ext>
                  </a:extLst>
                </a:gridCol>
                <a:gridCol w="7172152">
                  <a:extLst>
                    <a:ext uri="{9D8B030D-6E8A-4147-A177-3AD203B41FA5}">
                      <a16:colId xmlns:a16="http://schemas.microsoft.com/office/drawing/2014/main" val="3292533103"/>
                    </a:ext>
                  </a:extLst>
                </a:gridCol>
              </a:tblGrid>
              <a:tr h="293794">
                <a:tc>
                  <a:txBody>
                    <a:bodyPr/>
                    <a:lstStyle/>
                    <a:p>
                      <a:pPr algn="r"/>
                      <a:r>
                        <a:rPr lang="en-US" sz="1400" noProof="0" dirty="0">
                          <a:solidFill>
                            <a:schemeClr val="accent1">
                              <a:lumMod val="75000"/>
                            </a:schemeClr>
                          </a:solidFill>
                          <a:latin typeface="Aptos" panose="020B0004020202020204" pitchFamily="34" charset="0"/>
                        </a:rPr>
                        <a:t>The Principles of Tidy Data: </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400" noProof="0" dirty="0">
                          <a:solidFill>
                            <a:schemeClr val="bg2">
                              <a:lumMod val="25000"/>
                            </a:schemeClr>
                          </a:solidFill>
                          <a:latin typeface="Aptos" panose="020B0004020202020204" pitchFamily="34" charset="0"/>
                        </a:rPr>
                        <a:t>A standardized way of organizing datasets where each variable is a column, each observation is a row, and each type of observation is a table. Ensures consistency, makes preprocessing easier, and allows statistical tools and ML pipelines to work seamlessly.</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66023109"/>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A Grammar of Data Manipulation:</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00" noProof="0" dirty="0">
                          <a:solidFill>
                            <a:schemeClr val="bg2">
                              <a:lumMod val="25000"/>
                            </a:schemeClr>
                          </a:solidFill>
                          <a:effectLst/>
                          <a:latin typeface="Aptos" panose="020B0004020202020204" pitchFamily="34" charset="0"/>
                          <a:ea typeface="Aptos" panose="020B0004020202020204" pitchFamily="34" charset="0"/>
                          <a:cs typeface="Times New Roman" panose="02020603050405020304" pitchFamily="18" charset="0"/>
                        </a:rPr>
                        <a:t>Grammar of data manipulation ensures experimental reproducibility in data science. Think of it as the grammar of cooking: select ingredients, filter what’s fresh, arrange them, transform with heat, summarize into a dish, and sometimes join with side dishes. The rules are consistent, so anyone following them can reproduce the recipe.</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639417425"/>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Feature Selection:</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rPr>
                        <a:t>The process of identifying the most relevant variables for modeling, using methods like filters (correlation, ANOVA), wrappers (RFE), or embedded approaches (LASSO, tree importance). Reduces dimensionality, improves interpretability, prevents overfitting, and speeds up training.</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026122658"/>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Exploratory Data Analysis: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rPr>
                        <a:t>Exploratory Data Analysis (EDA) is the process of examining and summarizing datasets to uncover patterns, spot anomalies, test assumptions, and generate insights before formal modeling.</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46512167"/>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accent1">
                              <a:lumMod val="75000"/>
                            </a:schemeClr>
                          </a:solidFill>
                          <a:latin typeface="Aptos" panose="020B0004020202020204" pitchFamily="34" charset="0"/>
                        </a:rPr>
                        <a:t>A Grammar of Graphics: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rPr>
                        <a:t>The Grammar of Graphics is a conceptual framework for building statistical graphics, introduced by Leland Wilkinson. It treats data visualization like a language, where charts are composed from a set of consistent “grammar rules” rather than predefined templates. This idea underpins modern visualization libraries like ggplot2 in R and </a:t>
                      </a:r>
                      <a:r>
                        <a:rPr lang="en-US" sz="1400" kern="100" noProof="0" dirty="0" err="1">
                          <a:solidFill>
                            <a:schemeClr val="bg2">
                              <a:lumMod val="25000"/>
                            </a:schemeClr>
                          </a:solidFill>
                          <a:effectLst/>
                          <a:latin typeface="Aptos" panose="020B0004020202020204" pitchFamily="34" charset="0"/>
                        </a:rPr>
                        <a:t>plotnine</a:t>
                      </a:r>
                      <a:r>
                        <a:rPr lang="en-US" sz="1400" kern="100" noProof="0" dirty="0">
                          <a:solidFill>
                            <a:schemeClr val="bg2">
                              <a:lumMod val="25000"/>
                            </a:schemeClr>
                          </a:solidFill>
                          <a:effectLst/>
                          <a:latin typeface="Aptos" panose="020B0004020202020204" pitchFamily="34" charset="0"/>
                        </a:rPr>
                        <a:t> in Python.</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758503459"/>
                  </a:ext>
                </a:extLst>
              </a:tr>
            </a:tbl>
          </a:graphicData>
        </a:graphic>
      </p:graphicFrame>
      <p:grpSp>
        <p:nvGrpSpPr>
          <p:cNvPr id="6" name="Group 5">
            <a:extLst>
              <a:ext uri="{FF2B5EF4-FFF2-40B4-BE49-F238E27FC236}">
                <a16:creationId xmlns:a16="http://schemas.microsoft.com/office/drawing/2014/main" id="{75A4DF21-4986-697A-C55C-D2AD86503D0E}"/>
              </a:ext>
            </a:extLst>
          </p:cNvPr>
          <p:cNvGrpSpPr/>
          <p:nvPr/>
        </p:nvGrpSpPr>
        <p:grpSpPr>
          <a:xfrm>
            <a:off x="898142" y="6203580"/>
            <a:ext cx="1863495" cy="517895"/>
            <a:chOff x="2808222" y="6127115"/>
            <a:chExt cx="1863495" cy="517895"/>
          </a:xfrm>
        </p:grpSpPr>
        <p:pic>
          <p:nvPicPr>
            <p:cNvPr id="2" name="Picture 2">
              <a:extLst>
                <a:ext uri="{FF2B5EF4-FFF2-40B4-BE49-F238E27FC236}">
                  <a16:creationId xmlns:a16="http://schemas.microsoft.com/office/drawing/2014/main" id="{17CB08E2-4697-D5C6-7A3E-4101164123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close up of a logo&#10;&#10;AI-generated content may be incorrect.">
              <a:extLst>
                <a:ext uri="{FF2B5EF4-FFF2-40B4-BE49-F238E27FC236}">
                  <a16:creationId xmlns:a16="http://schemas.microsoft.com/office/drawing/2014/main" id="{B3C8C5DE-3842-9C4E-5074-BFB596FE7AB2}"/>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2" name="Slide Number Placeholder 8">
            <a:extLst>
              <a:ext uri="{FF2B5EF4-FFF2-40B4-BE49-F238E27FC236}">
                <a16:creationId xmlns:a16="http://schemas.microsoft.com/office/drawing/2014/main" id="{5A9B11A2-4567-D93A-6FD2-8491C02941E1}"/>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31</a:t>
            </a:fld>
            <a:endParaRPr lang="en-US" noProof="0" dirty="0"/>
          </a:p>
        </p:txBody>
      </p:sp>
      <p:sp>
        <p:nvSpPr>
          <p:cNvPr id="5" name="Google Shape;158;p6">
            <a:extLst>
              <a:ext uri="{FF2B5EF4-FFF2-40B4-BE49-F238E27FC236}">
                <a16:creationId xmlns:a16="http://schemas.microsoft.com/office/drawing/2014/main" id="{A3FFF293-2942-557D-2858-20F5352714DB}"/>
              </a:ext>
            </a:extLst>
          </p:cNvPr>
          <p:cNvSpPr txBox="1"/>
          <p:nvPr/>
        </p:nvSpPr>
        <p:spPr>
          <a:xfrm>
            <a:off x="3478308" y="531213"/>
            <a:ext cx="5844988" cy="769401"/>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4400" dirty="0">
                <a:solidFill>
                  <a:srgbClr val="2F5496"/>
                </a:solidFill>
                <a:latin typeface="Aptos" panose="020B0004020202020204" pitchFamily="34" charset="0"/>
                <a:ea typeface="Calibri"/>
                <a:cs typeface="Calibri"/>
                <a:sym typeface="Calibri"/>
              </a:rPr>
              <a:t>: Take-Home Message</a:t>
            </a:r>
            <a:endParaRPr lang="en-US" sz="4400" noProof="0" dirty="0">
              <a:solidFill>
                <a:srgbClr val="2F5496"/>
              </a:solidFill>
              <a:latin typeface="Aptos" panose="020B0004020202020204" pitchFamily="34" charset="0"/>
              <a:ea typeface="Calibri"/>
              <a:cs typeface="Calibri"/>
              <a:sym typeface="Calibri"/>
            </a:endParaRPr>
          </a:p>
        </p:txBody>
      </p:sp>
    </p:spTree>
    <p:extLst>
      <p:ext uri="{BB962C8B-B14F-4D97-AF65-F5344CB8AC3E}">
        <p14:creationId xmlns:p14="http://schemas.microsoft.com/office/powerpoint/2010/main" val="2258310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DDAF5-BDC7-CA9E-9DDB-2B2E3E798E9B}"/>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787A1033-7F91-2AA8-EDFF-D691A58FC779}"/>
              </a:ext>
            </a:extLst>
          </p:cNvPr>
          <p:cNvGraphicFramePr>
            <a:graphicFrameLocks noGrp="1"/>
          </p:cNvGraphicFramePr>
          <p:nvPr>
            <p:extLst>
              <p:ext uri="{D42A27DB-BD31-4B8C-83A1-F6EECF244321}">
                <p14:modId xmlns:p14="http://schemas.microsoft.com/office/powerpoint/2010/main" val="3757207737"/>
              </p:ext>
            </p:extLst>
          </p:nvPr>
        </p:nvGraphicFramePr>
        <p:xfrm>
          <a:off x="844354" y="1835292"/>
          <a:ext cx="9618980" cy="3413760"/>
        </p:xfrm>
        <a:graphic>
          <a:graphicData uri="http://schemas.openxmlformats.org/drawingml/2006/table">
            <a:tbl>
              <a:tblPr firstRow="1" bandRow="1"/>
              <a:tblGrid>
                <a:gridCol w="2446828">
                  <a:extLst>
                    <a:ext uri="{9D8B030D-6E8A-4147-A177-3AD203B41FA5}">
                      <a16:colId xmlns:a16="http://schemas.microsoft.com/office/drawing/2014/main" val="4172398280"/>
                    </a:ext>
                  </a:extLst>
                </a:gridCol>
                <a:gridCol w="7172152">
                  <a:extLst>
                    <a:ext uri="{9D8B030D-6E8A-4147-A177-3AD203B41FA5}">
                      <a16:colId xmlns:a16="http://schemas.microsoft.com/office/drawing/2014/main" val="3292533103"/>
                    </a:ext>
                  </a:extLst>
                </a:gridCol>
              </a:tblGrid>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dirty="0">
                          <a:solidFill>
                            <a:schemeClr val="accent1">
                              <a:lumMod val="75000"/>
                            </a:schemeClr>
                          </a:solidFill>
                          <a:latin typeface="Aptos" panose="020B0004020202020204" pitchFamily="34" charset="0"/>
                        </a:rPr>
                        <a:t>Instructions: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indent="0">
                        <a:buNone/>
                      </a:pPr>
                      <a:r>
                        <a:rPr lang="en-US" sz="1400" dirty="0">
                          <a:solidFill>
                            <a:schemeClr val="bg2">
                              <a:lumMod val="25000"/>
                            </a:schemeClr>
                          </a:solidFill>
                          <a:latin typeface="Aptos" panose="020B0004020202020204" pitchFamily="34" charset="0"/>
                        </a:rPr>
                        <a:t>All tasks and learning material should be completed before the following week’s practicals. If there are any prerequisites indicated for this module, start with them. Then continue through the book chapters and any additional material marked for further reading. </a:t>
                      </a:r>
                    </a:p>
                    <a:p>
                      <a:pPr marL="0" indent="0">
                        <a:buNone/>
                      </a:pPr>
                      <a:endParaRPr lang="en-US" sz="1400" dirty="0">
                        <a:solidFill>
                          <a:schemeClr val="bg2">
                            <a:lumMod val="25000"/>
                          </a:schemeClr>
                        </a:solidFill>
                        <a:latin typeface="Aptos" panose="020B0004020202020204" pitchFamily="34" charset="0"/>
                      </a:endParaRPr>
                    </a:p>
                    <a:p>
                      <a:pPr marL="0" indent="0">
                        <a:buNone/>
                      </a:pPr>
                      <a:r>
                        <a:rPr lang="en-US" sz="1400" dirty="0">
                          <a:solidFill>
                            <a:schemeClr val="bg2">
                              <a:lumMod val="25000"/>
                            </a:schemeClr>
                          </a:solidFill>
                          <a:latin typeface="Aptos" panose="020B0004020202020204" pitchFamily="34" charset="0"/>
                        </a:rPr>
                        <a:t>Retrace hands-on exercise for better understanding of the learning topics. Check your knowledge by completing the ESL tutorials, all labs and conceptual exercises from the book.</a:t>
                      </a:r>
                      <a:endParaRPr lang="en-GB" sz="1400" dirty="0">
                        <a:solidFill>
                          <a:schemeClr val="bg2">
                            <a:lumMod val="25000"/>
                          </a:schemeClr>
                        </a:solidFill>
                        <a:latin typeface="Aptos" panose="020B0004020202020204" pitchFamily="34" charset="0"/>
                      </a:endParaRP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66023109"/>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noProof="0" dirty="0">
                          <a:solidFill>
                            <a:schemeClr val="accent1">
                              <a:lumMod val="75000"/>
                            </a:schemeClr>
                          </a:solidFill>
                          <a:latin typeface="Aptos" panose="020B0004020202020204" pitchFamily="34" charset="0"/>
                        </a:rPr>
                        <a:t>Tutorials: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kern="100" noProof="0" dirty="0">
                        <a:solidFill>
                          <a:schemeClr val="bg2">
                            <a:lumMod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822821254"/>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noProof="0" dirty="0">
                          <a:solidFill>
                            <a:schemeClr val="accent1">
                              <a:lumMod val="75000"/>
                            </a:schemeClr>
                          </a:solidFill>
                          <a:latin typeface="Aptos" panose="020B0004020202020204" pitchFamily="34" charset="0"/>
                        </a:rPr>
                        <a:t>Hands-On Exercises: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kern="100" noProof="0" dirty="0">
                        <a:solidFill>
                          <a:schemeClr val="bg2">
                            <a:lumMod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765233007"/>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noProof="0" dirty="0">
                          <a:solidFill>
                            <a:schemeClr val="accent1">
                              <a:lumMod val="75000"/>
                            </a:schemeClr>
                          </a:solidFill>
                          <a:latin typeface="Aptos" panose="020B0004020202020204" pitchFamily="34" charset="0"/>
                        </a:rPr>
                        <a:t>Further Reading:</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ea typeface="Aptos" panose="020B0004020202020204" pitchFamily="34" charset="0"/>
                          <a:cs typeface="Times New Roman" panose="02020603050405020304" pitchFamily="18" charset="0"/>
                        </a:rPr>
                        <a:t>None for this module.</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639417425"/>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noProof="0" dirty="0">
                          <a:solidFill>
                            <a:schemeClr val="accent1">
                              <a:lumMod val="75000"/>
                            </a:schemeClr>
                          </a:solidFill>
                          <a:latin typeface="Aptos" panose="020B0004020202020204" pitchFamily="34" charset="0"/>
                        </a:rPr>
                        <a:t>Labs from the Book:</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rPr>
                        <a:t>None for this module.</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026122658"/>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noProof="0" dirty="0">
                          <a:solidFill>
                            <a:schemeClr val="accent1">
                              <a:lumMod val="75000"/>
                            </a:schemeClr>
                          </a:solidFill>
                          <a:latin typeface="Aptos" panose="020B0004020202020204" pitchFamily="34" charset="0"/>
                        </a:rPr>
                        <a:t>Labs:</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kern="100" noProof="0" dirty="0">
                        <a:solidFill>
                          <a:schemeClr val="bg2">
                            <a:lumMod val="25000"/>
                          </a:schemeClr>
                        </a:solidFill>
                        <a:effectLst/>
                        <a:latin typeface="Aptos" panose="020B0004020202020204" pitchFamily="34" charset="0"/>
                      </a:endParaRP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82311865"/>
                  </a:ext>
                </a:extLst>
              </a:tr>
              <a:tr h="293794">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noProof="0" dirty="0">
                          <a:solidFill>
                            <a:schemeClr val="accent1">
                              <a:lumMod val="75000"/>
                            </a:schemeClr>
                          </a:solidFill>
                          <a:latin typeface="Aptos" panose="020B0004020202020204" pitchFamily="34" charset="0"/>
                        </a:rPr>
                        <a:t>Conceptual Exercises :</a:t>
                      </a:r>
                    </a:p>
                  </a:txBody>
                  <a:tcPr>
                    <a:lnL w="12700" cmpd="sng">
                      <a:noFill/>
                      <a:prstDash val="solid"/>
                    </a:lnL>
                    <a:lnR w="9525"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kern="100" noProof="0" dirty="0">
                          <a:solidFill>
                            <a:schemeClr val="bg2">
                              <a:lumMod val="25000"/>
                            </a:schemeClr>
                          </a:solidFill>
                          <a:effectLst/>
                          <a:latin typeface="Aptos" panose="020B0004020202020204" pitchFamily="34" charset="0"/>
                          <a:ea typeface="Aptos" panose="020B0004020202020204" pitchFamily="34" charset="0"/>
                          <a:cs typeface="Times New Roman" panose="02020603050405020304" pitchFamily="18" charset="0"/>
                        </a:rPr>
                        <a:t>None for this module.</a:t>
                      </a:r>
                    </a:p>
                  </a:txBody>
                  <a:tcPr>
                    <a:lnL w="9525"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46512167"/>
                  </a:ext>
                </a:extLst>
              </a:tr>
            </a:tbl>
          </a:graphicData>
        </a:graphic>
      </p:graphicFrame>
      <p:grpSp>
        <p:nvGrpSpPr>
          <p:cNvPr id="6" name="Group 5">
            <a:extLst>
              <a:ext uri="{FF2B5EF4-FFF2-40B4-BE49-F238E27FC236}">
                <a16:creationId xmlns:a16="http://schemas.microsoft.com/office/drawing/2014/main" id="{488E465E-0CAD-A399-AE3F-DE8E4460499D}"/>
              </a:ext>
            </a:extLst>
          </p:cNvPr>
          <p:cNvGrpSpPr/>
          <p:nvPr/>
        </p:nvGrpSpPr>
        <p:grpSpPr>
          <a:xfrm>
            <a:off x="898142" y="6203580"/>
            <a:ext cx="1863495" cy="517895"/>
            <a:chOff x="2808222" y="6127115"/>
            <a:chExt cx="1863495" cy="517895"/>
          </a:xfrm>
        </p:grpSpPr>
        <p:pic>
          <p:nvPicPr>
            <p:cNvPr id="2" name="Picture 2">
              <a:extLst>
                <a:ext uri="{FF2B5EF4-FFF2-40B4-BE49-F238E27FC236}">
                  <a16:creationId xmlns:a16="http://schemas.microsoft.com/office/drawing/2014/main" id="{6F51E75D-4F89-AC4A-8361-91FE3BA7AE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8" t="8908" r="11603" b="8390"/>
            <a:stretch>
              <a:fillRect/>
            </a:stretch>
          </p:blipFill>
          <p:spPr bwMode="auto">
            <a:xfrm>
              <a:off x="3765400" y="6127115"/>
              <a:ext cx="906317" cy="5178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close up of a logo&#10;&#10;AI-generated content may be incorrect.">
              <a:extLst>
                <a:ext uri="{FF2B5EF4-FFF2-40B4-BE49-F238E27FC236}">
                  <a16:creationId xmlns:a16="http://schemas.microsoft.com/office/drawing/2014/main" id="{E5325047-48F6-B99E-7079-CDF310674478}"/>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2808222" y="6266722"/>
              <a:ext cx="900839" cy="378288"/>
            </a:xfrm>
            <a:prstGeom prst="rect">
              <a:avLst/>
            </a:prstGeom>
          </p:spPr>
        </p:pic>
      </p:grpSp>
      <p:sp>
        <p:nvSpPr>
          <p:cNvPr id="12" name="Slide Number Placeholder 8">
            <a:extLst>
              <a:ext uri="{FF2B5EF4-FFF2-40B4-BE49-F238E27FC236}">
                <a16:creationId xmlns:a16="http://schemas.microsoft.com/office/drawing/2014/main" id="{5AFD0D8B-7D84-8749-56A1-2A9384CC3D2C}"/>
              </a:ext>
            </a:extLst>
          </p:cNvPr>
          <p:cNvSpPr>
            <a:spLocks noGrp="1"/>
          </p:cNvSpPr>
          <p:nvPr>
            <p:ph type="sldNum" sz="quarter" idx="12"/>
          </p:nvPr>
        </p:nvSpPr>
        <p:spPr>
          <a:xfrm>
            <a:off x="10600690" y="6326439"/>
            <a:ext cx="753110" cy="365125"/>
          </a:xfrm>
        </p:spPr>
        <p:txBody>
          <a:bodyPr/>
          <a:lstStyle/>
          <a:p>
            <a:r>
              <a:rPr lang="en-US" noProof="0" dirty="0"/>
              <a:t>Slide </a:t>
            </a:r>
            <a:fld id="{78DA67B8-EF86-438E-A4A1-BDB808EF1140}" type="slidenum">
              <a:rPr lang="en-US" noProof="0" smtClean="0"/>
              <a:t>32</a:t>
            </a:fld>
            <a:endParaRPr lang="en-US" noProof="0" dirty="0"/>
          </a:p>
        </p:txBody>
      </p:sp>
      <p:sp>
        <p:nvSpPr>
          <p:cNvPr id="3" name="Google Shape;158;p6">
            <a:extLst>
              <a:ext uri="{FF2B5EF4-FFF2-40B4-BE49-F238E27FC236}">
                <a16:creationId xmlns:a16="http://schemas.microsoft.com/office/drawing/2014/main" id="{EA3189DB-A63D-A5E0-E9D6-D677784CB570}"/>
              </a:ext>
            </a:extLst>
          </p:cNvPr>
          <p:cNvSpPr txBox="1"/>
          <p:nvPr/>
        </p:nvSpPr>
        <p:spPr>
          <a:xfrm>
            <a:off x="3478308" y="886597"/>
            <a:ext cx="5844988" cy="769401"/>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4400" dirty="0">
                <a:solidFill>
                  <a:srgbClr val="2F5496"/>
                </a:solidFill>
                <a:latin typeface="Aptos" panose="020B0004020202020204" pitchFamily="34" charset="0"/>
                <a:ea typeface="Calibri"/>
                <a:cs typeface="Calibri"/>
                <a:sym typeface="Calibri"/>
              </a:rPr>
              <a:t>: Follow-Up</a:t>
            </a:r>
            <a:endParaRPr lang="en-US" sz="4400" noProof="0" dirty="0">
              <a:solidFill>
                <a:srgbClr val="2F5496"/>
              </a:solidFill>
              <a:latin typeface="Aptos" panose="020B0004020202020204" pitchFamily="34" charset="0"/>
              <a:ea typeface="Calibri"/>
              <a:cs typeface="Calibri"/>
              <a:sym typeface="Calibri"/>
            </a:endParaRPr>
          </a:p>
        </p:txBody>
      </p:sp>
      <p:pic>
        <p:nvPicPr>
          <p:cNvPr id="5" name="Picture 4" descr="A blue and white logo&#10;&#10;AI-generated content may be incorrect.">
            <a:extLst>
              <a:ext uri="{FF2B5EF4-FFF2-40B4-BE49-F238E27FC236}">
                <a16:creationId xmlns:a16="http://schemas.microsoft.com/office/drawing/2014/main" id="{71EC9C42-925A-FF07-3E8E-BE4E485548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8478" y="911667"/>
            <a:ext cx="1270291" cy="711835"/>
          </a:xfrm>
          <a:prstGeom prst="rect">
            <a:avLst/>
          </a:prstGeom>
        </p:spPr>
      </p:pic>
    </p:spTree>
    <p:extLst>
      <p:ext uri="{BB962C8B-B14F-4D97-AF65-F5344CB8AC3E}">
        <p14:creationId xmlns:p14="http://schemas.microsoft.com/office/powerpoint/2010/main" val="3119147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34376</TotalTime>
  <Words>2837</Words>
  <Application>Microsoft Macintosh PowerPoint</Application>
  <PresentationFormat>Widescreen</PresentationFormat>
  <Paragraphs>514</Paragraphs>
  <Slides>32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Arial</vt:lpstr>
      <vt:lpstr>Calibri</vt:lpstr>
      <vt:lpstr>Calibri Light</vt:lpstr>
      <vt:lpstr>Cambria Math</vt:lpstr>
      <vt:lpstr>Corbel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Michal Kováč</dc:creator>
  <cp:lastModifiedBy>Michal Kovac</cp:lastModifiedBy>
  <cp:revision>2</cp:revision>
  <cp:lastPrinted>2025-02-20T12:08:20Z</cp:lastPrinted>
  <dcterms:created xsi:type="dcterms:W3CDTF">2022-07-14T13:36:36Z</dcterms:created>
  <dcterms:modified xsi:type="dcterms:W3CDTF">2026-02-24T20:47:31Z</dcterms:modified>
</cp:coreProperties>
</file>